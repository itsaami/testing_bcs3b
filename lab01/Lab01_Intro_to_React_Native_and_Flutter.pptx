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03a91df-cfe1-78a7-5d1e-3d7b3f0368af}">
          <p14:sldIdLst>
            <p14:sldId id="256"/>
          </p14:sldIdLst>
        </p14:section>
        <p14:section name="Theory" id="{061188ed-3f6c-b76b-491d-902023e591ca}">
          <p14:sldIdLst>
            <p14:sldId id="257"/>
            <p14:sldId id="258"/>
            <p14:sldId id="259"/>
            <p14:sldId id="260"/>
            <p14:sldId id="261"/>
            <p14:sldId id="262"/>
            <p14:sldId id="263"/>
            <p14:sldId id="264"/>
            <p14:sldId id="265"/>
          </p14:sldIdLst>
        </p14:section>
        <p14:section name="Installation" id="{f11a6428-a081-9b3c-8260-f1aaede6b4c4}">
          <p14:sldIdLst>
            <p14:sldId id="266"/>
            <p14:sldId id="267"/>
          </p14:sldIdLst>
        </p14:section>
        <p14:section name="Practical" id="{72080097-416d-6af9-79a7-eab0c22d0d35}">
          <p14:sldIdLst>
            <p14:sldId id="268"/>
            <p14:sldId id="269"/>
            <p14:sldId id="270"/>
            <p14:sldId id="271"/>
            <p14:sldId id="272"/>
            <p14:sldId id="273"/>
          </p14:sldIdLst>
        </p14:section>
        <p14:section name="Lab Activities" id="{f5041fee-bb36-2a96-f6bf-33d85e2929b0}">
          <p14:sldIdLst>
            <p14:sldId id="274"/>
            <p14:sldId id="275"/>
          </p14:sldIdLst>
        </p14:section>
        <p14:section name="Wrap-up" id="{30e1613f-ddb3-dbdf-756f-d3d14b7600b4}">
          <p14:sldIdLst>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students to Lab 01. Explain the four parts of today's lab: theory (mobile development, React Native vs Flutter, React Native basics, JavaScript revision), installation (what to install), practical (create and run Hello World), and lab activities (modify the app and answer questions).
Point out the colored tags: every slide shows whether it is theory, installation, practical, or an activity.
Goal for today: by the end of the lab, every student should have Hello World running on a phone (Expo Go) or an Android emulator.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Native development means writing a separate app for each platform: Kotlin or Java for Android (Android Studio), and Swift for iOS (Xcode, which only runs on a Mac). Native apps get direct access to every device feature, but you build and maintain two apps.
Cross-platform development means one codebase that runs on both Android and iOS. It is faster and cheaper, and device features such as the camera or GPS are available through libraries.
The two most popular cross-platform technologies today are React Native and Flutter. Ask: which apps on your phone do you think are native or cross-platform? (Students usually cannot tell, which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table row by row. Key message: both tools solve the same problem (one codebase, two platforms) in different ways.
React Native: made by Meta, uses JavaScript/TypeScript and React. Your components are shown using the phone's real native views. Main tools: Node.js, npm, Expo, VS Code. Fast Refresh shows code changes almost instantly.
Flutter: made by Google, uses the Dart language. Flutter draws every widget itself with its own rendering engine, so apps look the same on every device. Main tools: Flutter SDK with VS Code or Android Studio. Hot reload shows changes quickly.
Avoid saying one is 'better'. Both are used for real production apps. The choice depends on the team's skills and the app's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reasons we use React Native in this course:
1. Students already studied JavaScript, so there is no new language to learn before building apps.
2. React concepts (components, props, state) are also used for web development, so the skills transfer.
3. Expo lets students run apps on their own phones with Expo Go, without installing Android Studio on day one.
4. The official React Native documentation recommends using a framework such as Expo for new apps (see reactnative.dev 'Get Started').
Make it clear that Flutter is also a strong choice, and that the ideas learned here transfer.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Native is an open-source framework created by Meta. You write your app in JavaScript (or TypeScript) using React. When the app runs, React Native shows your components using the platform's real native views.
Show the table: a &lt;View&gt; becomes a ViewGroup on Android and a UIView on iOS; a &lt;Text&gt; becomes a TextView or UITextView. This comes from the official React Native docs page 'Core Components and Native Components'.
Expo is a framework and set of tools built on top of React Native. It gives us create-expo-app to make projects, Expo CLI to run them, and Expo Go to test on a real phone. The React Native docs recommend using a framework such as Expo for new apps.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component is a JavaScript function that returns UI. Component names start with a capital letter (Welcome, not welcome).
JSX looks like HTML but is written inside JavaScript. In React Native we do not use HTML tags like &lt;div&gt; or &lt;p&gt;. We use React Native components: &lt;View&gt; is a container box (like &lt;div&gt;) and &lt;Text&gt; shows text. All text must be inside a &lt;Text&gt; component, otherwise the app shows an error.
Curly braces { } let you put any JavaScript expression inside JSX. Here {2 + 3} displays 5. Ask students: what would {"Hi".toUpperCase()}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Props are values a parent passes into a component, like arguments to a function. The same Greeting component shows different text for name="Ali" and name="Sara". A component should not change its own props.
State is data that a component remembers and can change. useState(0) creates a state variable count that starts at 0, and a function setCount to change it. When setCount runs, React Native re-draws the screen with the new value.
Note for the instructor: in a .tsx file, TypeScript may underline 'props' and ask for a type, for example function Greeting({ name }: { name: string }). This is a TypeScript detail and is not needed for Lab 01. These snippets are for explanation only; students do not type them in today's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React Native we style with JavaScript objects instead of CSS files. StyleSheet.create groups our styles in one place, and we apply them with the style prop.
Style names are camelCase (backgroundColor, fontSize). Sizes are plain numbers without px.
Layout uses Flexbox. In React Native the default direction is column, so items stack from top to bottom. justifyContent works on the main axis (up/down by default) and alignItems works on the cross axis (left/right). Setting both to center puts the item in the middle of the screen, which is exactly what we do in Hello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JavaScript topics were covered in previous classes. Do not re-teach them in detail; do a quick revision and tell students to revise at home when needed (MDN JavaScript Guide: developer.mozilla.org/en-US/docs/Web/JavaScript/Guide).
Quick checks you can ask:
- What is the difference between let and const? (const cannot be reassigned)
- Rewrite function add(a, b) { return a + b; } as an arrow function.
- What does const { name } = user; do? (takes the name property out of the object)
- What does ...user do? (copies all properties of user into a new object)
Link each topic to React Native using the purple card: arrow functions for onPress events, destructuring for props and useState, objects for styles.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revision slide. Again: these were covered in previous classes; revise quickly.
map and filter: map creates a new array by changing every item; filter keeps only the items that pass a test. In React Native, map is used all the time to show lists (for example, a list of products).
import/export: each file is a module. export default exports one main thing; named exports use curly braces when importing. Every React Native file starts with imports.
Promises and async/await: fetch() asks a server for data and returns a Promise. await waits for the result. try/catch handles errors such as no internet. An API is a web address that returns data, usually JSON. Example free test API: https://jsonplaceholder.typicode.com/users
ES6+ syntax: template literals with backticks and ${ }, default parameter values, and the ternary operator (condition ? a : b), which we often use inside JSX.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copy this slide into their notebooks.
Required (recommended beginner setup): a laptop with Windows, macOS, or Linux; Node.js LTS with npm (npm is installed together with Node.js); Visual Studio Code; the Expo tools (create-expo-app and Expo CLI, which run through npx, so there is nothing to install globally; do not install the old global 'expo-cli' package); and an internet connection.
Optional: Expo Go on an Android phone or iPhone, Android Studio with the Android Emulator, and Git + GitHub.
Important: since September 2026, Expo Go on a physical iPhone requires you to be signed in to the same Expo account in both Expo CLI (npx expo login) and the Expo Go app. Android does not require it yet, but Expo recommends signing in. Ask iPhone users to create a free account at expo.dev/signup before the lab.
Every student needs at least one way to run the app: Expo Go on a phone, or the Android Emulator. As a last resort, pressing w in the Expo terminal opens a web preview in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Install Node.js. Go to nodejs.org/en/download and choose the version labeled LTS (Long Term Support). Do not choose the 'Current' version. The Node.js LTS line moves every October, so the exact number may change; any LTS version supported by Expo is fine. npm is installed automatically with Node.js.
Step 2: Install VS Code from code.visualstudio.com/download. Optionally install the 'Expo Tools' extension; VS Code will also suggest it when you open an Expo project.
Verify: open a NEW terminal (old terminals do not see the new installation) and run node -v and npm -v. Any version number means success. The numbers shown on the slide are examples. If you see 'not recognized' (Windows) or 'command not found' (macOS/Linux), reinstall Node.js and reopen the terminal, or restart the laptop.
Tip: ask students to complete these two steps at home before the lab if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open a terminal and run the commands one at a time.
1. cd Desktop (or any folder where they keep projects). Avoid folders with spaces or special characters in the path if possible.
2. npx create-expo-app@latest HelloWorld creates a new Expo project called HelloWorld using the default template. The first time, npx asks 'Ok to proceed? (y)'; type y.
   The current create-expo-app asks 'Select an Expo SDK version'. If the Expo Go app in the stores is behind the newest SDK, it shows an option 'For learning with Expo Go'. Students using Expo Go on a phone should pick it. If that option does not appear, the latest SDK already works with Expo Go, so pick 'Latest'.
   Installing packages takes a few minutes. Warnings about vulnerabilities or deprecated packages are normal.
3. cd HelloWorld moves into the new project.
4. npm run reset-project removes the demo screens and creates a blank src/app/index.tsx and src/app/_layout.tsx. When asked whether to move files to /example, type n to delete the demo (we do not need it). Typing Y keeps the demo in an /example folder, which also works.
Verified against create-expo-app and the default Expo template in October 2026 (templates for SDK 57 and SDK 58).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open the HelloWorld folder in VS Code with File &gt; Open Folder. Then open the built-in terminal with Terminal &gt; New Terminal; it opens inside the project folder, so students can run commands without leaving VS Code. Shortcut: code . opens the current folder (on macOS, enable it first with the command palette: 'Shell Command: Install code command in PATH').
Step 5: explain the important files. Since Expo SDK 55, the default template keeps screens in src/app (older tutorials show an app folder at the root). Expo Router uses file-based routing: each file in src/app is a screen, and index.tsx is the home screen. _layout.tsx wraps all screens; after reset-project it contains a simple Stack.
node_modules holds installed packages; never edit it and never copy it when sharing a project (it is recreated with npm install). .tsx means TypeScript with JSX; for this lab the code is the same as JavaScript. The template also adds AGENTS.md (notes for AI coding tools), which students can ignore.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npx expo start inside the HelloWorld folder. Expo CLI starts the development server (Metro) and prints a QR code.
Option A, physical phone: install Expo Go from Google Play or the App Store. Phone and laptop must be on the same Wi-Fi network. Since September 2026, Expo Go on a physical iPhone requires signing in to the same Expo account in Expo CLI (run npx expo login) and in the Expo Go app (avatar icon). Android does not require it yet, but signing in is recommended and shows your running projects automatically. On Android, open Expo Go and tap 'Scan QR code'. On iPhone, scan the QR code with the Camera app.
Option B, Android Emulator: install Android Studio and create a virtual device in Virtual Device Manager (follow docs.expo.dev/workflow/android-studio-emulator). Start the emulator, then press a in the Expo terminal. Expo CLI installs Expo Go on the emulator and opens the app.
Useful keys in the Expo terminal: a opens Android, w opens a web preview, r reloads the app, m opens the developer menu, j opens the debugger, ? shows all commands, Ctrl+C stops the server.
If the phone cannot connect (campus Wi-Fi often blocks device-to-device traffic), try npx expo start --tunnel. Expo CLI may ask to install a helper package; accept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open src/app/index.tsx, delete the existing code, type this code, and save. With the app open on the phone or emulator, Fast Refresh updates the screen automatically after saving.
Explain line by line:
Line 1: import brings three built-in pieces from React Native: Text (shows text), View (a container box), and StyleSheet (creates styles).
Line 3: export default function Index() defines our screen component. Expo Router uses file-based routing, so the default export of src/app/index.tsx is the home screen.
Lines 4 to 8: return ( ... ) returns the JSX to show on the screen.
Line 5: &lt;View style={styles.container}&gt; is a box that fills the screen. Line 6: &lt;Text style={styles.title}&gt; shows Hello World!
Line 11: StyleSheet.create({ ... }) creates our styles. Lines 13 to 15: flex: 1 makes the container fill the screen; alignItems: 'center' centers horizontally and justifyContent: 'center' centers vertically.
Lines 18 and 19: fontSize: 32 and fontWeight: 'bold' make the text large and bold.
Common typing mistakes: missing closing tags (&lt;/View&gt;), missing quotes, writing 'React-Native' instead of "react-native", and forgetting the commas inside the styles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output: Hello World! in large bold text, centered on the screen. A small header showing 'index' appears at the top; this is normal because the Stack in src/app/_layout.tsx shows the route name as a header. (On iPhone the header title is centered; on Android it is on the left.)
The screenshot was taken from a real test run of this exact code in October 2026, shown at phone size.
Demonstrate Fast Refresh: change the text, save, and watch the phone update without restarting. If nothing changes, make sure the file is saved, then press r in the Expo terminal to reload.
Optional for fast students: hide the header by changing _layout.tsx to &lt;Stack screenOptions={{ headerShown: false }} /&gt;.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most common problems. Encourage students to read the error message before asking for help; it usually names the file and line number.
Windows PowerShell may block npm and npx scripts with 'running scripts is disabled on this system'. Either use Command Prompt, or run Set-ExecutionPolicy -Scope CurrentUser RemoteSigned once in PowerShell.
Network problems are the most common issue in labs: campus Wi-Fi often blocks phone-to-laptop connections. Try a phone hotspot, turn off VPN, or use npx expo start --tunnel.
'Project is incompatible with this version of Expo Go' means the project's Expo SDK and the Expo Go app version do not match. Update Expo Go, or recreate the project and choose 'For learning with Expo Go' at the SDK prompt.
'You need to be signed in to Expo Go and Expo CLI' (iPhone): run npx expo login and sign in to Expo Go with the same account.
If two Expo servers run at once, Expo CLI says the port is in use and asks to use another port. It is better to stop the old one with Ctrl+C.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every student completes Steps 1 to 10 and shows Hello World! running on a phone or emulator. Check it off on your class list.
Activity 2: students change the app to show their own name and university. Solution (src/app/index.tsx):
import { Text, View, StyleSheet } from "react-native";
export default function Index() {
  const studentName = "Your Name";
  const university = "Your University";
  return (
    &lt;View style={styles.container}&gt;
      &lt;Text style={styles.title}&gt;Hello World!&lt;/Text&gt;
      &lt;Text style={styles.info}&gt;Name: {studentName}&lt;/Text&gt;
      &lt;Text style={styles.info}&gt;University: {university}&lt;/Text&gt;
    &lt;/View&gt;
  );
}
const styles = StyleSheet.create({
  container: { flex: 1, alignItems: "center", justifyContent: "center" },
  title: { fontSize: 32, fontWeight: "bold" },
  info: { fontSize: 18, marginTop: 8 },
});
Bonus ideas: backgroundColor on the container, color on the text, or a different fontSize.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tick the checklist and answer the questions in their notebooks.
Answer key:
1. Native: separate code for each platform (Kotlin/Java for Android, Swift for iOS). Cross-platform: one codebase runs on both Android and iOS.
2. React Native uses JavaScript or TypeScript (with React). Flutter uses Dart.
3. Props are data passed into a component from its parent and are read-only for that component. State is data a component keeps and can change; changing state updates the screen.
4. npx expo start
5. src/app/index.tsx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lab: native vs cross-platform, React Native vs Flutter, React Native basics, the JavaScript topics to revise, what to install, and how to run a Hello World app.
Share the official documentation links. Encourage students to use the official React Native and Expo docs instead of old blog posts, because commands and folder structures change between versions (for example, the src/app folder and the Expo Go sign-in requirement are recent changes).
Before the next lab: revise JavaScript (especially arrow functions, destructuring, map, and async/await) and keep the HelloWorld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554480"/>
            <a:ext cx="7589520" cy="18288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640080" y="3474720"/>
            <a:ext cx="7132320" cy="822960"/>
          </a:xfrm>
          <a:prstGeom prst="rect">
            <a:avLst/>
          </a:prstGeom>
          <a:noFill/>
          <a:ln/>
        </p:spPr>
        <p:txBody>
          <a:bodyPr wrap="square" rtlCol="0"/>
          <a:lstStyle>
            <a:lvl1pPr algn="l" indent="0" marL="0">
              <a:buNone/>
              <a:defRPr lang="en-US" sz="2000" dirty="0">
                <a:solidFill>
                  <a:schemeClr val="accent6"/>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49808"/>
            <a:ext cx="11091672" cy="713232"/>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chemeClr val="tx2"/>
                </a:solidFill>
              </a:rPr>
              <a:t>Mobile Application Programming  ·  Lab 01</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49808"/>
            <a:ext cx="11091672" cy="713232"/>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chemeClr val="accent6"/>
                </a:solidFill>
              </a:rPr>
              <a:t>Mobile Application Programming  ·  Lab 01</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nodejs.org/en/download" TargetMode="External"/><Relationship Id="rId2" Type="http://schemas.openxmlformats.org/officeDocument/2006/relationships/hyperlink" Target="https://code.visualstudio.com/download" TargetMode="External"/><Relationship Id="rId3" Type="http://schemas.openxmlformats.org/officeDocument/2006/relationships/hyperlink" Target="https://docs.expo.dev/get-started/create-a-project/" TargetMode="External"/><Relationship Id="rId4" Type="http://schemas.openxmlformats.org/officeDocument/2006/relationships/hyperlink" Target="https://expo.dev/go" TargetMode="External"/><Relationship Id="rId5" Type="http://schemas.openxmlformats.org/officeDocument/2006/relationships/hyperlink" Target="https://expo.dev/signup" TargetMode="External"/><Relationship Id="rId6" Type="http://schemas.openxmlformats.org/officeDocument/2006/relationships/hyperlink" Target="https://developer.android.com/studio" TargetMode="External"/><Relationship Id="rId7" Type="http://schemas.openxmlformats.org/officeDocument/2006/relationships/hyperlink" Target="https://git-scm.com/downloads" TargetMode="External"/><Relationship Id="rId8" Type="http://schemas.openxmlformats.org/officeDocument/2006/relationships/hyperlink" Target="https://github.com" TargetMode="External"/><Relationship Id="rId9" Type="http://schemas.openxmlformats.org/officeDocument/2006/relationships/image" Target="../media/image-11-1.png"/><Relationship Id="rId10" Type="http://schemas.openxmlformats.org/officeDocument/2006/relationships/slideLayout" Target="../slideLayouts/slideLayout3.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nodejs.org/en/download" TargetMode="External"/><Relationship Id="rId2" Type="http://schemas.openxmlformats.org/officeDocument/2006/relationships/hyperlink" Target="https://code.visualstudio.com/download" TargetMode="External"/><Relationship Id="rId3" Type="http://schemas.openxmlformats.org/officeDocument/2006/relationships/image" Target="../media/image-12-1.png"/><Relationship Id="rId4" Type="http://schemas.openxmlformats.org/officeDocument/2006/relationships/image" Target="../media/image-12-2.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4" Type="http://schemas.openxmlformats.org/officeDocument/2006/relationships/hyperlink" Target="https://docs.expo.dev/workflow/android-studio-emulator/" TargetMode="External"/><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3.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3.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6" Type="http://schemas.openxmlformats.org/officeDocument/2006/relationships/hyperlink" Target="https://reactnative.dev/docs/getting-started" TargetMode="External"/><Relationship Id="rId7" Type="http://schemas.openxmlformats.org/officeDocument/2006/relationships/hyperlink" Target="https://docs.expo.dev/get-started/create-a-project/" TargetMode="External"/><Relationship Id="rId8" Type="http://schemas.openxmlformats.org/officeDocument/2006/relationships/hyperlink" Target="https://docs.expo.dev/get-started/set-up-your-environment/" TargetMode="External"/><Relationship Id="rId9" Type="http://schemas.openxmlformats.org/officeDocument/2006/relationships/hyperlink" Target="https://expo.dev/go" TargetMode="External"/><Relationship Id="rId10" Type="http://schemas.openxmlformats.org/officeDocument/2006/relationships/hyperlink" Target="https://nodejs.org/en/download" TargetMode="External"/><Relationship Id="rId11" Type="http://schemas.openxmlformats.org/officeDocument/2006/relationships/hyperlink" Target="https://code.visualstudio.com/" TargetMode="External"/><Relationship Id="rId12" Type="http://schemas.openxmlformats.org/officeDocument/2006/relationships/hyperlink" Target="https://developer.android.com/studio" TargetMode="External"/><Relationship Id="rId13" Type="http://schemas.openxmlformats.org/officeDocument/2006/relationships/hyperlink" Target="https://docs.flutter.dev/" TargetMode="External"/><Relationship Id="rId14" Type="http://schemas.openxmlformats.org/officeDocument/2006/relationships/hyperlink" Target="https://developer.mozilla.org/en-US/docs/Web/JavaScript/Guide" TargetMode="External"/><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15" Type="http://schemas.openxmlformats.org/officeDocument/2006/relationships/slideLayout" Target="../slideLayouts/slideLayout4.xml"/><Relationship Id="rId16"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005840"/>
            <a:ext cx="7589520" cy="365760"/>
          </a:xfrm>
          <a:prstGeom prst="rect">
            <a:avLst/>
          </a:prstGeom>
          <a:noFill/>
          <a:ln/>
        </p:spPr>
        <p:txBody>
          <a:bodyPr wrap="square" lIns="0" tIns="0" rIns="0" bIns="0" rtlCol="0" anchor="ctr"/>
          <a:lstStyle/>
          <a:p>
            <a:pPr indent="0" marL="0">
              <a:buNone/>
            </a:pPr>
            <a:r>
              <a:rPr lang="en-US" sz="1400" b="1" spc="200" kern="0" dirty="0">
                <a:solidFill>
                  <a:schemeClr val="accent6"/>
                </a:solidFill>
              </a:rPr>
              <a:t>MOBILE APPLICATION PROGRAMMING  ·  LAB 01</a:t>
            </a:r>
            <a:endParaRPr lang="en-US" sz="1400" dirty="0"/>
          </a:p>
        </p:txBody>
      </p:sp>
      <p:sp>
        <p:nvSpPr>
          <p:cNvPr id="3" name="Text 0"/>
          <p:cNvSpPr/>
          <p:nvPr>
            <p:ph idx="100" type="title" hasCustomPrompt="1"/>
          </p:nvPr>
        </p:nvSpPr>
        <p:spPr>
          <a:xfrm>
            <a:off x="640080" y="1554480"/>
            <a:ext cx="7589520" cy="1828800"/>
          </a:xfrm>
          <a:prstGeom prst="rect">
            <a:avLst/>
          </a:prstGeom>
          <a:noFill/>
          <a:ln/>
        </p:spPr>
        <p:txBody>
          <a:bodyPr wrap="square" lIns="0" tIns="0" rIns="0" bIns="0" rtlCol="0" anchor="t"/>
          <a:lstStyle/>
          <a:p>
            <a:pPr algn="l" indent="0" marL="0">
              <a:buNone/>
            </a:pPr>
            <a:r>
              <a:rPr lang="en-US" sz="4400" b="1" dirty="0">
                <a:solidFill>
                  <a:schemeClr val="bg1"/>
                </a:solidFill>
              </a:rPr>
              <a:t>Introduction to React Native and Flutter</a:t>
            </a:r>
            <a:endParaRPr lang="en-US" sz="4400" dirty="0"/>
          </a:p>
        </p:txBody>
      </p:sp>
      <p:sp>
        <p:nvSpPr>
          <p:cNvPr id="4" name="Text 0"/>
          <p:cNvSpPr/>
          <p:nvPr>
            <p:ph idx="101" type="body" hasCustomPrompt="1"/>
          </p:nvPr>
        </p:nvSpPr>
        <p:spPr>
          <a:xfrm>
            <a:off x="640080" y="3474720"/>
            <a:ext cx="7132320" cy="822960"/>
          </a:xfrm>
          <a:prstGeom prst="rect">
            <a:avLst/>
          </a:prstGeom>
          <a:noFill/>
          <a:ln/>
        </p:spPr>
        <p:txBody>
          <a:bodyPr wrap="square" lIns="0" tIns="0" rIns="0" bIns="0" rtlCol="0" anchor="t"/>
          <a:lstStyle/>
          <a:p>
            <a:pPr algn="l" indent="0" marL="0">
              <a:buNone/>
            </a:pPr>
            <a:r>
              <a:rPr lang="en-US" sz="2000" dirty="0">
                <a:solidFill>
                  <a:schemeClr val="accent6"/>
                </a:solidFill>
              </a:rPr>
              <a:t>Mobile app basics, the tools you need, and your first Hello World app</a:t>
            </a:r>
            <a:endParaRPr lang="en-US" sz="2000" dirty="0"/>
          </a:p>
        </p:txBody>
      </p:sp>
      <p:sp>
        <p:nvSpPr>
          <p:cNvPr id="5" name="Legend THEORY"/>
          <p:cNvSpPr/>
          <p:nvPr/>
        </p:nvSpPr>
        <p:spPr>
          <a:xfrm>
            <a:off x="640080" y="4800600"/>
            <a:ext cx="987552" cy="384048"/>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spc="150" kern="0" dirty="0">
                <a:solidFill>
                  <a:schemeClr val="bg1"/>
                </a:solidFill>
              </a:rPr>
              <a:t>THEORY</a:t>
            </a:r>
            <a:endParaRPr lang="en-US" sz="1200" dirty="0"/>
          </a:p>
        </p:txBody>
      </p:sp>
      <p:sp>
        <p:nvSpPr>
          <p:cNvPr id="6" name="Legend INSTALLATION"/>
          <p:cNvSpPr/>
          <p:nvPr/>
        </p:nvSpPr>
        <p:spPr>
          <a:xfrm>
            <a:off x="1810512" y="4800600"/>
            <a:ext cx="1563624" cy="384048"/>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spc="150" kern="0" dirty="0">
                <a:solidFill>
                  <a:schemeClr val="bg1"/>
                </a:solidFill>
              </a:rPr>
              <a:t>INSTALLATION</a:t>
            </a:r>
            <a:endParaRPr lang="en-US" sz="1200" dirty="0"/>
          </a:p>
        </p:txBody>
      </p:sp>
      <p:sp>
        <p:nvSpPr>
          <p:cNvPr id="7" name="Legend PRACTICAL"/>
          <p:cNvSpPr/>
          <p:nvPr/>
        </p:nvSpPr>
        <p:spPr>
          <a:xfrm>
            <a:off x="3557016" y="4800600"/>
            <a:ext cx="1275588" cy="384048"/>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spc="150" kern="0" dirty="0">
                <a:solidFill>
                  <a:schemeClr val="bg1"/>
                </a:solidFill>
              </a:rPr>
              <a:t>PRACTICAL</a:t>
            </a:r>
            <a:endParaRPr lang="en-US" sz="1200" dirty="0"/>
          </a:p>
        </p:txBody>
      </p:sp>
      <p:sp>
        <p:nvSpPr>
          <p:cNvPr id="8" name="Legend LAB ACTIVITY"/>
          <p:cNvSpPr/>
          <p:nvPr/>
        </p:nvSpPr>
        <p:spPr>
          <a:xfrm>
            <a:off x="5015484" y="4800600"/>
            <a:ext cx="1563624" cy="384048"/>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spc="150" kern="0" dirty="0">
                <a:solidFill>
                  <a:schemeClr val="bg1"/>
                </a:solidFill>
              </a:rPr>
              <a:t>LAB ACTIVITY</a:t>
            </a:r>
            <a:endParaRPr lang="en-US" sz="1200" dirty="0"/>
          </a:p>
        </p:txBody>
      </p:sp>
      <p:sp>
        <p:nvSpPr>
          <p:cNvPr id="9" name="Text 7"/>
          <p:cNvSpPr txBox="1"/>
          <p:nvPr/>
        </p:nvSpPr>
        <p:spPr>
          <a:xfrm>
            <a:off x="640080" y="5349240"/>
            <a:ext cx="7498080" cy="365760"/>
          </a:xfrm>
          <a:prstGeom prst="rect">
            <a:avLst/>
          </a:prstGeom>
          <a:noFill/>
          <a:ln/>
        </p:spPr>
        <p:txBody>
          <a:bodyPr wrap="square" lIns="0" tIns="0" rIns="0" bIns="0" rtlCol="0" anchor="ctr"/>
          <a:lstStyle/>
          <a:p>
            <a:pPr indent="0" marL="0">
              <a:buNone/>
            </a:pPr>
            <a:r>
              <a:rPr lang="en-US" sz="1300" dirty="0">
                <a:solidFill>
                  <a:schemeClr val="accent6"/>
                </a:solidFill>
              </a:rPr>
              <a:t>These tags show the type of each slide: theory, installation, practical steps, or lab activity.</a:t>
            </a:r>
            <a:endParaRPr lang="en-US" sz="1300" dirty="0"/>
          </a:p>
        </p:txBody>
      </p:sp>
      <p:sp>
        <p:nvSpPr>
          <p:cNvPr id="10" name="Phone frame"/>
          <p:cNvSpPr/>
          <p:nvPr/>
        </p:nvSpPr>
        <p:spPr>
          <a:xfrm>
            <a:off x="9006840" y="868680"/>
            <a:ext cx="2377440" cy="5074920"/>
          </a:xfrm>
          <a:prstGeom prst="roundRect">
            <a:avLst>
              <a:gd name="adj" fmla="val 13846"/>
            </a:avLst>
          </a:prstGeom>
          <a:solidFill>
            <a:schemeClr val="accent1"/>
          </a:solidFill>
          <a:ln/>
        </p:spPr>
      </p:sp>
      <p:sp>
        <p:nvSpPr>
          <p:cNvPr id="11" name="Phone screen"/>
          <p:cNvSpPr/>
          <p:nvPr/>
        </p:nvSpPr>
        <p:spPr>
          <a:xfrm>
            <a:off x="9134856" y="1216152"/>
            <a:ext cx="2121408" cy="4379976"/>
          </a:xfrm>
          <a:prstGeom prst="roundRect">
            <a:avLst>
              <a:gd name="adj" fmla="val 5172"/>
            </a:avLst>
          </a:prstGeom>
          <a:solidFill>
            <a:schemeClr val="bg1"/>
          </a:solidFill>
          <a:ln/>
        </p:spPr>
      </p:sp>
      <p:sp>
        <p:nvSpPr>
          <p:cNvPr id="12" name="Phone speaker"/>
          <p:cNvSpPr/>
          <p:nvPr/>
        </p:nvSpPr>
        <p:spPr>
          <a:xfrm>
            <a:off x="9875520" y="1005840"/>
            <a:ext cx="640080" cy="91440"/>
          </a:xfrm>
          <a:prstGeom prst="roundRect">
            <a:avLst>
              <a:gd name="adj" fmla="val 50000"/>
            </a:avLst>
          </a:prstGeom>
          <a:solidFill>
            <a:schemeClr val="tx1"/>
          </a:solidFill>
          <a:ln/>
        </p:spPr>
      </p:sp>
      <p:sp>
        <p:nvSpPr>
          <p:cNvPr id="13" name="Text 11"/>
          <p:cNvSpPr txBox="1"/>
          <p:nvPr/>
        </p:nvSpPr>
        <p:spPr>
          <a:xfrm>
            <a:off x="9326880" y="1325880"/>
            <a:ext cx="1371600" cy="274320"/>
          </a:xfrm>
          <a:prstGeom prst="rect">
            <a:avLst/>
          </a:prstGeom>
          <a:noFill/>
          <a:ln/>
        </p:spPr>
        <p:txBody>
          <a:bodyPr wrap="square" lIns="0" tIns="0" rIns="0" bIns="0" rtlCol="0" anchor="ctr"/>
          <a:lstStyle/>
          <a:p>
            <a:pPr indent="0" marL="0">
              <a:buNone/>
            </a:pPr>
            <a:r>
              <a:rPr lang="en-US" sz="1200" dirty="0">
                <a:solidFill>
                  <a:schemeClr val="tx2"/>
                </a:solidFill>
              </a:rPr>
              <a:t>index</a:t>
            </a:r>
            <a:endParaRPr lang="en-US" sz="1200" dirty="0"/>
          </a:p>
        </p:txBody>
      </p:sp>
      <p:pic>
        <p:nvPicPr>
          <p:cNvPr id="14" name="React logo" descr="React logo">    </p:cNvPr>
          <p:cNvPicPr>
            <a:picLocks noChangeAspect="1"/>
          </p:cNvPicPr>
          <p:nvPr/>
        </p:nvPicPr>
        <p:blipFill>
          <a:blip r:embed="rId1"/>
          <a:stretch>
            <a:fillRect/>
          </a:stretch>
        </p:blipFill>
        <p:spPr>
          <a:xfrm>
            <a:off x="9829800" y="2697480"/>
            <a:ext cx="731520" cy="731520"/>
          </a:xfrm>
          <a:prstGeom prst="rect">
            <a:avLst/>
          </a:prstGeom>
        </p:spPr>
      </p:pic>
      <p:sp>
        <p:nvSpPr>
          <p:cNvPr id="15" name="Text 12"/>
          <p:cNvSpPr txBox="1"/>
          <p:nvPr/>
        </p:nvSpPr>
        <p:spPr>
          <a:xfrm>
            <a:off x="9134856" y="3566160"/>
            <a:ext cx="2121408" cy="457200"/>
          </a:xfrm>
          <a:prstGeom prst="rect">
            <a:avLst/>
          </a:prstGeom>
          <a:noFill/>
          <a:ln/>
        </p:spPr>
        <p:txBody>
          <a:bodyPr wrap="square" lIns="0" tIns="0" rIns="0" bIns="0" rtlCol="0" anchor="ctr"/>
          <a:lstStyle/>
          <a:p>
            <a:pPr algn="ctr" indent="0" marL="0">
              <a:buNone/>
            </a:pPr>
            <a:r>
              <a:rPr lang="en-US" sz="2200" b="1" dirty="0">
                <a:solidFill>
                  <a:schemeClr val="tx1"/>
                </a:solidFill>
              </a:rPr>
              <a:t>Hello World!</a:t>
            </a:r>
            <a:endParaRPr lang="en-US" sz="2200" dirty="0"/>
          </a:p>
        </p:txBody>
      </p:sp>
      <p:sp>
        <p:nvSpPr>
          <p:cNvPr id="16" name="Text 13"/>
          <p:cNvSpPr txBox="1"/>
          <p:nvPr/>
        </p:nvSpPr>
        <p:spPr>
          <a:xfrm>
            <a:off x="9134856" y="4023360"/>
            <a:ext cx="2121408" cy="320040"/>
          </a:xfrm>
          <a:prstGeom prst="rect">
            <a:avLst/>
          </a:prstGeom>
          <a:noFill/>
          <a:ln/>
        </p:spPr>
        <p:txBody>
          <a:bodyPr wrap="square" lIns="0" tIns="0" rIns="0" bIns="0" rtlCol="0" anchor="ctr"/>
          <a:lstStyle/>
          <a:p>
            <a:pPr algn="ctr" indent="0" marL="0">
              <a:buNone/>
            </a:pPr>
            <a:r>
              <a:rPr lang="en-US" sz="1300" dirty="0">
                <a:solidFill>
                  <a:schemeClr val="tx2"/>
                </a:solidFill>
              </a:rPr>
              <a:t>Your first app</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ection tag"/>
          <p:cNvSpPr/>
          <p:nvPr/>
        </p:nvSpPr>
        <p:spPr>
          <a:xfrm>
            <a:off x="548640" y="365760"/>
            <a:ext cx="850392" cy="310896"/>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spc="150" kern="0" dirty="0">
                <a:solidFill>
                  <a:schemeClr val="bg1"/>
                </a:solidFill>
              </a:rPr>
              <a:t>THEORY</a:t>
            </a:r>
            <a:endParaRPr lang="en-US" sz="1100" dirty="0"/>
          </a:p>
        </p:txBody>
      </p:sp>
      <p:sp>
        <p:nvSpPr>
          <p:cNvPr id="3" name="Tag context"/>
          <p:cNvSpPr txBox="1"/>
          <p:nvPr/>
        </p:nvSpPr>
        <p:spPr>
          <a:xfrm>
            <a:off x="1581912" y="365760"/>
            <a:ext cx="10058400" cy="310896"/>
          </a:xfrm>
          <a:prstGeom prst="rect">
            <a:avLst/>
          </a:prstGeom>
          <a:noFill/>
          <a:ln/>
        </p:spPr>
        <p:txBody>
          <a:bodyPr wrap="square" lIns="0" tIns="0" rIns="0" bIns="0" rtlCol="0" anchor="ctr"/>
          <a:lstStyle/>
          <a:p>
            <a:pPr indent="0" marL="0">
              <a:buNone/>
            </a:pPr>
            <a:r>
              <a:rPr lang="en-US" sz="1300" dirty="0">
                <a:solidFill>
                  <a:schemeClr val="tx2"/>
                </a:solidFill>
              </a:rPr>
              <a:t>Part 1: Introduction to mobile app development</a:t>
            </a:r>
            <a:endParaRPr lang="en-US" sz="1300" dirty="0"/>
          </a:p>
        </p:txBody>
      </p:sp>
      <p:sp>
        <p:nvSpPr>
          <p:cNvPr id="4" name="Text 0"/>
          <p:cNvSpPr/>
          <p:nvPr>
            <p:ph idx="100" type="title" hasCustomPrompt="1"/>
          </p:nvPr>
        </p:nvSpPr>
        <p:spPr>
          <a:xfrm>
            <a:off x="548640" y="749808"/>
            <a:ext cx="11091672" cy="713232"/>
          </a:xfrm>
          <a:prstGeom prst="rect">
            <a:avLst/>
          </a:prstGeom>
          <a:noFill/>
          <a:ln/>
        </p:spPr>
        <p:txBody>
          <a:bodyPr wrap="square" lIns="0" tIns="0" rIns="0" bIns="0" rtlCol="0" anchor="ctr"/>
          <a:lstStyle/>
          <a:p>
            <a:pPr algn="l" indent="0" marL="0">
              <a:buNone/>
            </a:pPr>
            <a:r>
              <a:rPr lang="en-US" sz="3600" b="1" dirty="0">
                <a:solidFill>
                  <a:schemeClr val="tx1"/>
                </a:solidFill>
              </a:rPr>
              <a:t>Native vs Cross-Platform Development</a:t>
            </a:r>
            <a:endParaRPr lang="en-US" sz="3600" dirty="0"/>
          </a:p>
        </p:txBody>
      </p:sp>
      <p:sp>
        <p:nvSpPr>
          <p:cNvPr id="5" name="Card"/>
          <p:cNvSpPr/>
          <p:nvPr/>
        </p:nvSpPr>
        <p:spPr>
          <a:xfrm>
            <a:off x="548640" y="1691640"/>
            <a:ext cx="5394960" cy="4434840"/>
          </a:xfrm>
          <a:prstGeom prst="roundRect">
            <a:avLst>
              <a:gd name="adj" fmla="val 2474"/>
            </a:avLst>
          </a:prstGeom>
          <a:solidFill>
            <a:schemeClr val="bg2"/>
          </a:solidFill>
          <a:ln/>
        </p:spPr>
      </p:sp>
      <p:sp>
        <p:nvSpPr>
          <p:cNvPr id="6" name="Icon circle"/>
          <p:cNvSpPr/>
          <p:nvPr/>
        </p:nvSpPr>
        <p:spPr>
          <a:xfrm>
            <a:off x="822960" y="1920240"/>
            <a:ext cx="502920" cy="502920"/>
          </a:xfrm>
          <a:prstGeom prst="ellipse">
            <a:avLst/>
          </a:prstGeom>
          <a:solidFill>
            <a:schemeClr val="accent1"/>
          </a:solidFill>
          <a:ln/>
        </p:spPr>
      </p:sp>
      <p:pic>
        <p:nvPicPr>
          <p:cNvPr id="7" name="Icon" descr="Icon">    </p:cNvPr>
          <p:cNvPicPr>
            <a:picLocks noChangeAspect="1"/>
          </p:cNvPicPr>
          <p:nvPr/>
        </p:nvPicPr>
        <p:blipFill>
          <a:blip r:embed="rId1"/>
          <a:stretch>
            <a:fillRect/>
          </a:stretch>
        </p:blipFill>
        <p:spPr>
          <a:xfrm>
            <a:off x="943661" y="2040941"/>
            <a:ext cx="261518" cy="261518"/>
          </a:xfrm>
          <a:prstGeom prst="rect">
            <a:avLst/>
          </a:prstGeom>
        </p:spPr>
      </p:pic>
      <p:sp>
        <p:nvSpPr>
          <p:cNvPr id="8" name="Text 5"/>
          <p:cNvSpPr txBox="1"/>
          <p:nvPr/>
        </p:nvSpPr>
        <p:spPr>
          <a:xfrm>
            <a:off x="1463040" y="1920240"/>
            <a:ext cx="4297680" cy="502920"/>
          </a:xfrm>
          <a:prstGeom prst="rect">
            <a:avLst/>
          </a:prstGeom>
          <a:noFill/>
          <a:ln/>
        </p:spPr>
        <p:txBody>
          <a:bodyPr wrap="square" lIns="0" tIns="0" rIns="0" bIns="0" rtlCol="0" anchor="ctr"/>
          <a:lstStyle/>
          <a:p>
            <a:pPr indent="0" marL="0">
              <a:buNone/>
            </a:pPr>
            <a:r>
              <a:rPr lang="en-US" sz="2000" b="1" dirty="0">
                <a:solidFill>
                  <a:schemeClr val="tx1"/>
                </a:solidFill>
              </a:rPr>
              <a:t>Native development</a:t>
            </a:r>
            <a:endParaRPr lang="en-US" sz="2000" dirty="0"/>
          </a:p>
        </p:txBody>
      </p:sp>
      <p:sp>
        <p:nvSpPr>
          <p:cNvPr id="9" name="Card"/>
          <p:cNvSpPr/>
          <p:nvPr/>
        </p:nvSpPr>
        <p:spPr>
          <a:xfrm>
            <a:off x="6245352" y="1691640"/>
            <a:ext cx="5394960" cy="4434840"/>
          </a:xfrm>
          <a:prstGeom prst="roundRect">
            <a:avLst>
              <a:gd name="adj" fmla="val 2474"/>
            </a:avLst>
          </a:prstGeom>
          <a:solidFill>
            <a:schemeClr val="bg2"/>
          </a:solidFill>
          <a:ln/>
        </p:spPr>
      </p:sp>
      <p:sp>
        <p:nvSpPr>
          <p:cNvPr id="10" name="Icon circle"/>
          <p:cNvSpPr/>
          <p:nvPr/>
        </p:nvSpPr>
        <p:spPr>
          <a:xfrm>
            <a:off x="6519672" y="1920240"/>
            <a:ext cx="502920" cy="502920"/>
          </a:xfrm>
          <a:prstGeom prst="ellipse">
            <a:avLst/>
          </a:prstGeom>
          <a:solidFill>
            <a:schemeClr val="accent1"/>
          </a:solidFill>
          <a:ln/>
        </p:spPr>
      </p:sp>
      <p:pic>
        <p:nvPicPr>
          <p:cNvPr id="11" name="Icon" descr="Icon">    </p:cNvPr>
          <p:cNvPicPr>
            <a:picLocks noChangeAspect="1"/>
          </p:cNvPicPr>
          <p:nvPr/>
        </p:nvPicPr>
        <p:blipFill>
          <a:blip r:embed="rId2"/>
          <a:stretch>
            <a:fillRect/>
          </a:stretch>
        </p:blipFill>
        <p:spPr>
          <a:xfrm>
            <a:off x="6640373" y="2040941"/>
            <a:ext cx="261518" cy="261518"/>
          </a:xfrm>
          <a:prstGeom prst="rect">
            <a:avLst/>
          </a:prstGeom>
        </p:spPr>
      </p:pic>
      <p:sp>
        <p:nvSpPr>
          <p:cNvPr id="12" name="Text 8"/>
          <p:cNvSpPr txBox="1"/>
          <p:nvPr/>
        </p:nvSpPr>
        <p:spPr>
          <a:xfrm>
            <a:off x="7159752" y="1920240"/>
            <a:ext cx="4297680" cy="502920"/>
          </a:xfrm>
          <a:prstGeom prst="rect">
            <a:avLst/>
          </a:prstGeom>
          <a:noFill/>
          <a:ln/>
        </p:spPr>
        <p:txBody>
          <a:bodyPr wrap="square" lIns="0" tIns="0" rIns="0" bIns="0" rtlCol="0" anchor="ctr"/>
          <a:lstStyle/>
          <a:p>
            <a:pPr indent="0" marL="0">
              <a:buNone/>
            </a:pPr>
            <a:r>
              <a:rPr lang="en-US" sz="2000" b="1" dirty="0">
                <a:solidFill>
                  <a:schemeClr val="tx1"/>
                </a:solidFill>
              </a:rPr>
              <a:t>Cross-platform development</a:t>
            </a:r>
            <a:endParaRPr lang="en-US" sz="2000" dirty="0"/>
          </a:p>
        </p:txBody>
      </p:sp>
      <p:sp>
        <p:nvSpPr>
          <p:cNvPr id="13" name="Native code box"/>
          <p:cNvSpPr/>
          <p:nvPr/>
        </p:nvSpPr>
        <p:spPr>
          <a:xfrm>
            <a:off x="822960" y="2697480"/>
            <a:ext cx="2103120" cy="594360"/>
          </a:xfrm>
          <a:prstGeom prst="roundRect">
            <a:avLst>
              <a:gd name="adj" fmla="val 12308"/>
            </a:avLst>
          </a:prstGeom>
          <a:solidFill>
            <a:schemeClr val="bg1"/>
          </a:solidFill>
          <a:ln w="12700">
            <a:solidFill>
              <a:schemeClr val="accent6"/>
            </a:solidFill>
          </a:ln>
        </p:spPr>
        <p:txBody>
          <a:bodyPr wrap="square" lIns="0" tIns="0" rIns="0" bIns="0" rtlCol="0" anchor="ctr"/>
          <a:lstStyle/>
          <a:p>
            <a:pPr algn="ctr" indent="0" marL="0">
              <a:buNone/>
            </a:pPr>
            <a:r>
              <a:rPr lang="en-US" sz="1400" dirty="0">
                <a:solidFill>
                  <a:schemeClr val="tx1"/>
                </a:solidFill>
              </a:rPr>
              <a:t>Kotlin / Java code</a:t>
            </a:r>
            <a:endParaRPr lang="en-US" sz="1400" dirty="0"/>
          </a:p>
        </p:txBody>
      </p:sp>
      <p:sp>
        <p:nvSpPr>
          <p:cNvPr id="14" name="Arrow"/>
          <p:cNvSpPr/>
          <p:nvPr/>
        </p:nvSpPr>
        <p:spPr>
          <a:xfrm>
            <a:off x="3017520" y="2994660"/>
            <a:ext cx="594360" cy="914"/>
          </a:xfrm>
          <a:prstGeom prst="line">
            <a:avLst/>
          </a:prstGeom>
          <a:noFill/>
          <a:ln w="25400">
            <a:solidFill>
              <a:schemeClr val="tx2"/>
            </a:solidFill>
            <a:prstDash val="solid"/>
            <a:tailEnd type="triangle"/>
          </a:ln>
        </p:spPr>
      </p:sp>
      <p:sp>
        <p:nvSpPr>
          <p:cNvPr id="15" name="Native app box"/>
          <p:cNvSpPr/>
          <p:nvPr/>
        </p:nvSpPr>
        <p:spPr>
          <a:xfrm>
            <a:off x="3703320" y="2697480"/>
            <a:ext cx="1965960" cy="594360"/>
          </a:xfrm>
          <a:prstGeom prst="roundRect">
            <a:avLst>
              <a:gd name="adj" fmla="val 12308"/>
            </a:avLst>
          </a:prstGeom>
          <a:solidFill>
            <a:schemeClr val="bg1"/>
          </a:solidFill>
          <a:ln w="12700">
            <a:solidFill>
              <a:schemeClr val="accent6"/>
            </a:solidFill>
            <a:prstDash val="solid"/>
          </a:ln>
        </p:spPr>
      </p:sp>
      <p:pic>
        <p:nvPicPr>
          <p:cNvPr id="16" name="Android app icon" descr="Android app">    </p:cNvPr>
          <p:cNvPicPr>
            <a:picLocks noChangeAspect="1"/>
          </p:cNvPicPr>
          <p:nvPr/>
        </p:nvPicPr>
        <p:blipFill>
          <a:blip r:embed="rId3"/>
          <a:stretch>
            <a:fillRect/>
          </a:stretch>
        </p:blipFill>
        <p:spPr>
          <a:xfrm>
            <a:off x="3840480" y="2834640"/>
            <a:ext cx="320040" cy="320040"/>
          </a:xfrm>
          <a:prstGeom prst="rect">
            <a:avLst/>
          </a:prstGeom>
        </p:spPr>
      </p:pic>
      <p:sp>
        <p:nvSpPr>
          <p:cNvPr id="17" name="Text 12"/>
          <p:cNvSpPr txBox="1"/>
          <p:nvPr/>
        </p:nvSpPr>
        <p:spPr>
          <a:xfrm>
            <a:off x="4251960" y="2697480"/>
            <a:ext cx="1371600" cy="594360"/>
          </a:xfrm>
          <a:prstGeom prst="rect">
            <a:avLst/>
          </a:prstGeom>
          <a:noFill/>
          <a:ln/>
        </p:spPr>
        <p:txBody>
          <a:bodyPr wrap="square" lIns="0" tIns="0" rIns="0" bIns="0" rtlCol="0" anchor="ctr"/>
          <a:lstStyle/>
          <a:p>
            <a:pPr indent="0" marL="0">
              <a:buNone/>
            </a:pPr>
            <a:r>
              <a:rPr lang="en-US" sz="1400" b="1" dirty="0">
                <a:solidFill>
                  <a:schemeClr val="tx1"/>
                </a:solidFill>
              </a:rPr>
              <a:t>Android app</a:t>
            </a:r>
            <a:endParaRPr lang="en-US" sz="1400" dirty="0"/>
          </a:p>
        </p:txBody>
      </p:sp>
      <p:sp>
        <p:nvSpPr>
          <p:cNvPr id="18" name="Native code box"/>
          <p:cNvSpPr/>
          <p:nvPr/>
        </p:nvSpPr>
        <p:spPr>
          <a:xfrm>
            <a:off x="822960" y="3474720"/>
            <a:ext cx="2103120" cy="594360"/>
          </a:xfrm>
          <a:prstGeom prst="roundRect">
            <a:avLst>
              <a:gd name="adj" fmla="val 12308"/>
            </a:avLst>
          </a:prstGeom>
          <a:solidFill>
            <a:schemeClr val="bg1"/>
          </a:solidFill>
          <a:ln w="12700">
            <a:solidFill>
              <a:schemeClr val="accent6"/>
            </a:solidFill>
          </a:ln>
        </p:spPr>
        <p:txBody>
          <a:bodyPr wrap="square" lIns="0" tIns="0" rIns="0" bIns="0" rtlCol="0" anchor="ctr"/>
          <a:lstStyle/>
          <a:p>
            <a:pPr algn="ctr" indent="0" marL="0">
              <a:buNone/>
            </a:pPr>
            <a:r>
              <a:rPr lang="en-US" sz="1400" dirty="0">
                <a:solidFill>
                  <a:schemeClr val="tx1"/>
                </a:solidFill>
              </a:rPr>
              <a:t>Swift code</a:t>
            </a:r>
            <a:endParaRPr lang="en-US" sz="1400" dirty="0"/>
          </a:p>
        </p:txBody>
      </p:sp>
      <p:sp>
        <p:nvSpPr>
          <p:cNvPr id="19" name="Arrow"/>
          <p:cNvSpPr/>
          <p:nvPr/>
        </p:nvSpPr>
        <p:spPr>
          <a:xfrm>
            <a:off x="3017520" y="3771900"/>
            <a:ext cx="594360" cy="914"/>
          </a:xfrm>
          <a:prstGeom prst="line">
            <a:avLst/>
          </a:prstGeom>
          <a:noFill/>
          <a:ln w="25400">
            <a:solidFill>
              <a:schemeClr val="tx2"/>
            </a:solidFill>
            <a:prstDash val="solid"/>
            <a:tailEnd type="triangle"/>
          </a:ln>
        </p:spPr>
      </p:sp>
      <p:sp>
        <p:nvSpPr>
          <p:cNvPr id="20" name="Native app box"/>
          <p:cNvSpPr/>
          <p:nvPr/>
        </p:nvSpPr>
        <p:spPr>
          <a:xfrm>
            <a:off x="3703320" y="3474720"/>
            <a:ext cx="1965960" cy="594360"/>
          </a:xfrm>
          <a:prstGeom prst="roundRect">
            <a:avLst>
              <a:gd name="adj" fmla="val 12308"/>
            </a:avLst>
          </a:prstGeom>
          <a:solidFill>
            <a:schemeClr val="bg1"/>
          </a:solidFill>
          <a:ln w="12700">
            <a:solidFill>
              <a:schemeClr val="accent6"/>
            </a:solidFill>
            <a:prstDash val="solid"/>
          </a:ln>
        </p:spPr>
      </p:sp>
      <p:pic>
        <p:nvPicPr>
          <p:cNvPr id="21" name="iOS app icon" descr="iOS app">    </p:cNvPr>
          <p:cNvPicPr>
            <a:picLocks noChangeAspect="1"/>
          </p:cNvPicPr>
          <p:nvPr/>
        </p:nvPicPr>
        <p:blipFill>
          <a:blip r:embed="rId4"/>
          <a:stretch>
            <a:fillRect/>
          </a:stretch>
        </p:blipFill>
        <p:spPr>
          <a:xfrm>
            <a:off x="3840480" y="3611880"/>
            <a:ext cx="320040" cy="320040"/>
          </a:xfrm>
          <a:prstGeom prst="rect">
            <a:avLst/>
          </a:prstGeom>
        </p:spPr>
      </p:pic>
      <p:sp>
        <p:nvSpPr>
          <p:cNvPr id="22" name="Text 16"/>
          <p:cNvSpPr txBox="1"/>
          <p:nvPr/>
        </p:nvSpPr>
        <p:spPr>
          <a:xfrm>
            <a:off x="4251960" y="3474720"/>
            <a:ext cx="1371600" cy="594360"/>
          </a:xfrm>
          <a:prstGeom prst="rect">
            <a:avLst/>
          </a:prstGeom>
          <a:noFill/>
          <a:ln/>
        </p:spPr>
        <p:txBody>
          <a:bodyPr wrap="square" lIns="0" tIns="0" rIns="0" bIns="0" rtlCol="0" anchor="ctr"/>
          <a:lstStyle/>
          <a:p>
            <a:pPr indent="0" marL="0">
              <a:buNone/>
            </a:pPr>
            <a:r>
              <a:rPr lang="en-US" sz="1400" b="1" dirty="0">
                <a:solidFill>
                  <a:schemeClr val="tx1"/>
                </a:solidFill>
              </a:rPr>
              <a:t>iOS app</a:t>
            </a:r>
            <a:endParaRPr lang="en-US" sz="1400" dirty="0"/>
          </a:p>
        </p:txBody>
      </p:sp>
      <p:sp>
        <p:nvSpPr>
          <p:cNvPr id="23" name="Text 17"/>
          <p:cNvSpPr txBox="1"/>
          <p:nvPr/>
        </p:nvSpPr>
        <p:spPr>
          <a:xfrm>
            <a:off x="822960" y="4297680"/>
            <a:ext cx="4937760" cy="169164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1"/>
                </a:solidFill>
              </a:rPr>
              <a:t>Separate code for each platform</a:t>
            </a:r>
            <a:endParaRPr lang="en-US" sz="1500" dirty="0"/>
          </a:p>
          <a:p>
            <a:pPr marL="342900" indent="-342900">
              <a:spcAft>
                <a:spcPts val="400"/>
              </a:spcAft>
              <a:buSzPct val="100000"/>
              <a:buChar char="•"/>
            </a:pPr>
            <a:r>
              <a:rPr lang="en-US" sz="1500" dirty="0">
                <a:solidFill>
                  <a:schemeClr val="tx1"/>
                </a:solidFill>
              </a:rPr>
              <a:t>Android: Kotlin or Java in Android Studio</a:t>
            </a:r>
            <a:endParaRPr lang="en-US" sz="1500" dirty="0"/>
          </a:p>
          <a:p>
            <a:pPr marL="342900" indent="-342900">
              <a:spcAft>
                <a:spcPts val="400"/>
              </a:spcAft>
              <a:buSzPct val="100000"/>
              <a:buChar char="•"/>
            </a:pPr>
            <a:r>
              <a:rPr lang="en-US" sz="1500" dirty="0">
                <a:solidFill>
                  <a:schemeClr val="tx1"/>
                </a:solidFill>
              </a:rPr>
              <a:t>iOS: Swift in Xcode (needs a Mac)</a:t>
            </a:r>
            <a:endParaRPr lang="en-US" sz="1500" dirty="0"/>
          </a:p>
          <a:p>
            <a:pPr marL="342900" indent="-342900">
              <a:spcAft>
                <a:spcPts val="400"/>
              </a:spcAft>
              <a:buSzPct val="100000"/>
              <a:buChar char="•"/>
            </a:pPr>
            <a:r>
              <a:rPr lang="en-US" sz="1500" dirty="0">
                <a:solidFill>
                  <a:schemeClr val="tx1"/>
                </a:solidFill>
              </a:rPr>
              <a:t>Direct access to every device feature</a:t>
            </a:r>
            <a:endParaRPr lang="en-US" sz="1500" dirty="0"/>
          </a:p>
          <a:p>
            <a:pPr marL="342900" indent="-342900">
              <a:spcAft>
                <a:spcPts val="400"/>
              </a:spcAft>
              <a:buSzPct val="100000"/>
              <a:buChar char="•"/>
            </a:pPr>
            <a:r>
              <a:rPr lang="en-US" sz="1500" dirty="0">
                <a:solidFill>
                  <a:schemeClr val="tx1"/>
                </a:solidFill>
              </a:rPr>
              <a:t>More time and cost: two apps to build</a:t>
            </a:r>
            <a:endParaRPr lang="en-US" sz="1500" dirty="0"/>
          </a:p>
        </p:txBody>
      </p:sp>
      <p:sp>
        <p:nvSpPr>
          <p:cNvPr id="24" name="Shared code box"/>
          <p:cNvSpPr/>
          <p:nvPr/>
        </p:nvSpPr>
        <p:spPr>
          <a:xfrm>
            <a:off x="6519672" y="2697480"/>
            <a:ext cx="2103120" cy="1371600"/>
          </a:xfrm>
          <a:prstGeom prst="roundRect">
            <a:avLst>
              <a:gd name="adj" fmla="val 5333"/>
            </a:avLst>
          </a:prstGeom>
          <a:solidFill>
            <a:schemeClr val="accent1"/>
          </a:solidFill>
          <a:ln/>
        </p:spPr>
        <p:txBody>
          <a:bodyPr wrap="square" lIns="635" tIns="635" rIns="635" bIns="635" rtlCol="0" anchor="ctr"/>
          <a:lstStyle/>
          <a:p>
            <a:pPr algn="ctr" indent="0" marL="0">
              <a:buNone/>
            </a:pPr>
            <a:r>
              <a:rPr lang="en-US" sz="1400" b="1" dirty="0">
                <a:solidFill>
                  <a:schemeClr val="bg1"/>
                </a:solidFill>
              </a:rPr>
              <a:t>One shared codebase</a:t>
            </a:r>
            <a:endParaRPr lang="en-US" sz="1400" dirty="0"/>
          </a:p>
          <a:p>
            <a:pPr algn="ctr" indent="0" marL="0">
              <a:buNone/>
            </a:pPr>
            <a:r>
              <a:rPr lang="en-US" sz="1400" b="1" dirty="0">
                <a:solidFill>
                  <a:schemeClr val="bg1"/>
                </a:solidFill>
              </a:rPr>
              <a:t>(JavaScript or Dart)</a:t>
            </a:r>
            <a:endParaRPr lang="en-US" sz="1400" dirty="0"/>
          </a:p>
        </p:txBody>
      </p:sp>
      <p:sp>
        <p:nvSpPr>
          <p:cNvPr id="25" name="Arrow"/>
          <p:cNvSpPr/>
          <p:nvPr/>
        </p:nvSpPr>
        <p:spPr>
          <a:xfrm>
            <a:off x="8714232" y="2994660"/>
            <a:ext cx="594360" cy="914"/>
          </a:xfrm>
          <a:prstGeom prst="line">
            <a:avLst/>
          </a:prstGeom>
          <a:noFill/>
          <a:ln w="25400">
            <a:solidFill>
              <a:schemeClr val="tx2"/>
            </a:solidFill>
            <a:prstDash val="solid"/>
            <a:tailEnd type="triangle"/>
          </a:ln>
        </p:spPr>
      </p:sp>
      <p:sp>
        <p:nvSpPr>
          <p:cNvPr id="26" name="Cross app box"/>
          <p:cNvSpPr/>
          <p:nvPr/>
        </p:nvSpPr>
        <p:spPr>
          <a:xfrm>
            <a:off x="9400032" y="2697480"/>
            <a:ext cx="1965960" cy="594360"/>
          </a:xfrm>
          <a:prstGeom prst="roundRect">
            <a:avLst>
              <a:gd name="adj" fmla="val 12308"/>
            </a:avLst>
          </a:prstGeom>
          <a:solidFill>
            <a:schemeClr val="bg1"/>
          </a:solidFill>
          <a:ln w="12700">
            <a:solidFill>
              <a:schemeClr val="accent6"/>
            </a:solidFill>
            <a:prstDash val="solid"/>
          </a:ln>
        </p:spPr>
      </p:sp>
      <p:pic>
        <p:nvPicPr>
          <p:cNvPr id="27" name="Android app icon" descr="Android app">    </p:cNvPr>
          <p:cNvPicPr>
            <a:picLocks noChangeAspect="1"/>
          </p:cNvPicPr>
          <p:nvPr/>
        </p:nvPicPr>
        <p:blipFill>
          <a:blip r:embed="rId5"/>
          <a:stretch>
            <a:fillRect/>
          </a:stretch>
        </p:blipFill>
        <p:spPr>
          <a:xfrm>
            <a:off x="9537192" y="2834640"/>
            <a:ext cx="320040" cy="320040"/>
          </a:xfrm>
          <a:prstGeom prst="rect">
            <a:avLst/>
          </a:prstGeom>
        </p:spPr>
      </p:pic>
      <p:sp>
        <p:nvSpPr>
          <p:cNvPr id="28" name="Text 21"/>
          <p:cNvSpPr txBox="1"/>
          <p:nvPr/>
        </p:nvSpPr>
        <p:spPr>
          <a:xfrm>
            <a:off x="9948672" y="2697480"/>
            <a:ext cx="1371600" cy="594360"/>
          </a:xfrm>
          <a:prstGeom prst="rect">
            <a:avLst/>
          </a:prstGeom>
          <a:noFill/>
          <a:ln/>
        </p:spPr>
        <p:txBody>
          <a:bodyPr wrap="square" lIns="0" tIns="0" rIns="0" bIns="0" rtlCol="0" anchor="ctr"/>
          <a:lstStyle/>
          <a:p>
            <a:pPr indent="0" marL="0">
              <a:buNone/>
            </a:pPr>
            <a:r>
              <a:rPr lang="en-US" sz="1400" b="1" dirty="0">
                <a:solidFill>
                  <a:schemeClr val="tx1"/>
                </a:solidFill>
              </a:rPr>
              <a:t>Android app</a:t>
            </a:r>
            <a:endParaRPr lang="en-US" sz="1400" dirty="0"/>
          </a:p>
        </p:txBody>
      </p:sp>
      <p:sp>
        <p:nvSpPr>
          <p:cNvPr id="29" name="Arrow"/>
          <p:cNvSpPr/>
          <p:nvPr/>
        </p:nvSpPr>
        <p:spPr>
          <a:xfrm>
            <a:off x="8714232" y="3771900"/>
            <a:ext cx="594360" cy="914"/>
          </a:xfrm>
          <a:prstGeom prst="line">
            <a:avLst/>
          </a:prstGeom>
          <a:noFill/>
          <a:ln w="25400">
            <a:solidFill>
              <a:schemeClr val="tx2"/>
            </a:solidFill>
            <a:prstDash val="solid"/>
            <a:tailEnd type="triangle"/>
          </a:ln>
        </p:spPr>
      </p:sp>
      <p:sp>
        <p:nvSpPr>
          <p:cNvPr id="30" name="Cross app box"/>
          <p:cNvSpPr/>
          <p:nvPr/>
        </p:nvSpPr>
        <p:spPr>
          <a:xfrm>
            <a:off x="9400032" y="3474720"/>
            <a:ext cx="1965960" cy="594360"/>
          </a:xfrm>
          <a:prstGeom prst="roundRect">
            <a:avLst>
              <a:gd name="adj" fmla="val 12308"/>
            </a:avLst>
          </a:prstGeom>
          <a:solidFill>
            <a:schemeClr val="bg1"/>
          </a:solidFill>
          <a:ln w="12700">
            <a:solidFill>
              <a:schemeClr val="accent6"/>
            </a:solidFill>
            <a:prstDash val="solid"/>
          </a:ln>
        </p:spPr>
      </p:sp>
      <p:pic>
        <p:nvPicPr>
          <p:cNvPr id="31" name="iOS app icon" descr="iOS app">    </p:cNvPr>
          <p:cNvPicPr>
            <a:picLocks noChangeAspect="1"/>
          </p:cNvPicPr>
          <p:nvPr/>
        </p:nvPicPr>
        <p:blipFill>
          <a:blip r:embed="rId6"/>
          <a:stretch>
            <a:fillRect/>
          </a:stretch>
        </p:blipFill>
        <p:spPr>
          <a:xfrm>
            <a:off x="9537192" y="3611880"/>
            <a:ext cx="320040" cy="320040"/>
          </a:xfrm>
          <a:prstGeom prst="rect">
            <a:avLst/>
          </a:prstGeom>
        </p:spPr>
      </p:pic>
      <p:sp>
        <p:nvSpPr>
          <p:cNvPr id="32" name="Text 24"/>
          <p:cNvSpPr txBox="1"/>
          <p:nvPr/>
        </p:nvSpPr>
        <p:spPr>
          <a:xfrm>
            <a:off x="9948672" y="3474720"/>
            <a:ext cx="1371600" cy="594360"/>
          </a:xfrm>
          <a:prstGeom prst="rect">
            <a:avLst/>
          </a:prstGeom>
          <a:noFill/>
          <a:ln/>
        </p:spPr>
        <p:txBody>
          <a:bodyPr wrap="square" lIns="0" tIns="0" rIns="0" bIns="0" rtlCol="0" anchor="ctr"/>
          <a:lstStyle/>
          <a:p>
            <a:pPr indent="0" marL="0">
              <a:buNone/>
            </a:pPr>
            <a:r>
              <a:rPr lang="en-US" sz="1400" b="1" dirty="0">
                <a:solidFill>
                  <a:schemeClr val="tx1"/>
                </a:solidFill>
              </a:rPr>
              <a:t>iOS app</a:t>
            </a:r>
            <a:endParaRPr lang="en-US" sz="1400" dirty="0"/>
          </a:p>
        </p:txBody>
      </p:sp>
      <p:sp>
        <p:nvSpPr>
          <p:cNvPr id="33" name="Text 25"/>
          <p:cNvSpPr txBox="1"/>
          <p:nvPr/>
        </p:nvSpPr>
        <p:spPr>
          <a:xfrm>
            <a:off x="6519672" y="4297680"/>
            <a:ext cx="4937760" cy="169164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1"/>
                </a:solidFill>
              </a:rPr>
              <a:t>One codebase for Android and iOS</a:t>
            </a:r>
            <a:endParaRPr lang="en-US" sz="1500" dirty="0"/>
          </a:p>
          <a:p>
            <a:pPr marL="342900" indent="-342900">
              <a:spcAft>
                <a:spcPts val="400"/>
              </a:spcAft>
              <a:buSzPct val="100000"/>
              <a:buChar char="•"/>
            </a:pPr>
            <a:r>
              <a:rPr lang="en-US" sz="1500" dirty="0">
                <a:solidFill>
                  <a:schemeClr val="tx1"/>
                </a:solidFill>
              </a:rPr>
              <a:t>Faster to build and easier to update</a:t>
            </a:r>
            <a:endParaRPr lang="en-US" sz="1500" dirty="0"/>
          </a:p>
          <a:p>
            <a:pPr marL="342900" indent="-342900">
              <a:spcAft>
                <a:spcPts val="400"/>
              </a:spcAft>
              <a:buSzPct val="100000"/>
              <a:buChar char="•"/>
            </a:pPr>
            <a:r>
              <a:rPr lang="en-US" sz="1500" dirty="0">
                <a:solidFill>
                  <a:schemeClr val="tx1"/>
                </a:solidFill>
              </a:rPr>
              <a:t>Device features (camera, GPS) through libraries</a:t>
            </a:r>
            <a:endParaRPr lang="en-US" sz="1500" dirty="0"/>
          </a:p>
          <a:p>
            <a:pPr marL="342900" indent="-342900">
              <a:spcAft>
                <a:spcPts val="400"/>
              </a:spcAft>
              <a:buSzPct val="100000"/>
              <a:buChar char="•"/>
            </a:pPr>
            <a:r>
              <a:rPr lang="en-US" sz="1500" b="1" dirty="0">
                <a:solidFill>
                  <a:schemeClr val="tx1"/>
                </a:solidFill>
              </a:rPr>
              <a:t>Popular choices: React Native and Flutter</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tag"/>
          <p:cNvSpPr/>
          <p:nvPr/>
        </p:nvSpPr>
        <p:spPr>
          <a:xfrm>
            <a:off x="548640" y="365760"/>
            <a:ext cx="850392" cy="310896"/>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spc="150" kern="0" dirty="0">
                <a:solidFill>
                  <a:schemeClr val="bg1"/>
                </a:solidFill>
              </a:rPr>
              <a:t>THEORY</a:t>
            </a:r>
            <a:endParaRPr lang="en-US" sz="1100" dirty="0"/>
          </a:p>
        </p:txBody>
      </p:sp>
      <p:sp>
        <p:nvSpPr>
          <p:cNvPr id="3" name="Tag context"/>
          <p:cNvSpPr txBox="1"/>
          <p:nvPr/>
        </p:nvSpPr>
        <p:spPr>
          <a:xfrm>
            <a:off x="1581912" y="365760"/>
            <a:ext cx="10058400" cy="310896"/>
          </a:xfrm>
          <a:prstGeom prst="rect">
            <a:avLst/>
          </a:prstGeom>
          <a:noFill/>
          <a:ln/>
        </p:spPr>
        <p:txBody>
          <a:bodyPr wrap="square" lIns="0" tIns="0" rIns="0" bIns="0" rtlCol="0" anchor="ctr"/>
          <a:lstStyle/>
          <a:p>
            <a:pPr indent="0" marL="0">
              <a:buNone/>
            </a:pPr>
            <a:r>
              <a:rPr lang="en-US" sz="1300" dirty="0">
                <a:solidFill>
                  <a:schemeClr val="tx2"/>
                </a:solidFill>
              </a:rPr>
              <a:t>Part 2: The two most popular cross-platform tools</a:t>
            </a:r>
            <a:endParaRPr lang="en-US" sz="1300" dirty="0"/>
          </a:p>
        </p:txBody>
      </p:sp>
      <p:sp>
        <p:nvSpPr>
          <p:cNvPr id="4" name="Text 0"/>
          <p:cNvSpPr/>
          <p:nvPr>
            <p:ph idx="100" type="title" hasCustomPrompt="1"/>
          </p:nvPr>
        </p:nvSpPr>
        <p:spPr>
          <a:xfrm>
            <a:off x="548640" y="749808"/>
            <a:ext cx="11091672" cy="713232"/>
          </a:xfrm>
          <a:prstGeom prst="rect">
            <a:avLst/>
          </a:prstGeom>
          <a:noFill/>
          <a:ln/>
        </p:spPr>
        <p:txBody>
          <a:bodyPr wrap="square" lIns="0" tIns="0" rIns="0" bIns="0" rtlCol="0" anchor="ctr"/>
          <a:lstStyle/>
          <a:p>
            <a:pPr algn="l" indent="0" marL="0">
              <a:buNone/>
            </a:pPr>
            <a:r>
              <a:rPr lang="en-US" sz="3600" b="1" dirty="0">
                <a:solidFill>
                  <a:schemeClr val="tx1"/>
                </a:solidFill>
              </a:rPr>
              <a:t>React Native vs Flutter</a:t>
            </a:r>
            <a:endParaRPr lang="en-US" sz="3600" dirty="0"/>
          </a:p>
        </p:txBody>
      </p:sp>
      <p:graphicFrame>
        <p:nvGraphicFramePr>
          <p:cNvPr id="4" name="Comparison 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2331720"/>
                <a:gridCol w="4379976"/>
                <a:gridCol w="4379976"/>
              </a:tblGrid>
              <a:tr h="475488">
                <a:tc>
                  <a:txBody>
                    <a:bodyPr/>
                    <a:lstStyle/>
                    <a:p>
                      <a:pPr indent="0" marL="0">
                        <a:buNone/>
                      </a:pPr>
                      <a:r>
                        <a:rPr lang="en-US" sz="1600" b="1" dirty="0">
                          <a:solidFill>
                            <a:schemeClr val="bg1"/>
                          </a:solidFill>
                          <a:latin typeface="Calibri" pitchFamily="34" charset="0"/>
                          <a:ea typeface="Calibri" pitchFamily="34" charset="-122"/>
                          <a:cs typeface="Calibri" pitchFamily="34" charset="-120"/>
                        </a:rPr>
                        <a:t>Topic</a:t>
                      </a:r>
                      <a:endParaRPr lang="en-US" sz="1600" dirty="0">
                        <a:latin typeface="Calibri" charset="0"/>
                        <a:ea typeface="Calibri" charset="0"/>
                        <a:cs typeface="Calibri" charset="0"/>
                      </a:endParaRPr>
                    </a:p>
                  </a:txBody>
                  <a:tcPr marL="109728" marR="109728" marT="54864" marB="54864" anchor="ctr">
                    <a:lnL w="12700" cap="flat" cmpd="sng" algn="ctr">
                      <a:solidFill>
                        <a:srgbClr val="F3F1F8"/>
                      </a:solidFill>
                      <a:prstDash val="solid"/>
                      <a:round/>
                      <a:headEnd type="none" w="med" len="med"/>
                      <a:tailEnd type="none" w="med" len="med"/>
                    </a:lnL>
                    <a:lnR w="12700" cap="flat" cmpd="sng" algn="ctr">
                      <a:solidFill>
                        <a:srgbClr val="F3F1F8"/>
                      </a:solidFill>
                      <a:prstDash val="solid"/>
                      <a:round/>
                      <a:headEnd type="none" w="med" len="med"/>
                      <a:tailEnd type="none" w="med" len="med"/>
                    </a:lnR>
                    <a:lnT w="12700" cap="flat" cmpd="sng" algn="ctr">
                      <a:solidFill>
                        <a:srgbClr val="F3F1F8"/>
                      </a:solidFill>
                      <a:prstDash val="solid"/>
                      <a:round/>
                      <a:headEnd type="none" w="med" len="med"/>
                      <a:tailEnd type="none" w="med" len="med"/>
                    </a:lnT>
                    <a:lnB w="12700" cap="flat" cmpd="sng" algn="ctr">
                      <a:solidFill>
                        <a:srgbClr val="F3F1F8"/>
                      </a:solidFill>
                      <a:prstDash val="solid"/>
                      <a:round/>
                      <a:headEnd type="none" w="med" len="med"/>
                      <a:tailEnd type="none" w="med" len="med"/>
                    </a:lnB>
                    <a:solidFill>
                      <a:schemeClr val="tx1"/>
                    </a:solidFill>
                  </a:tcPr>
                </a:tc>
                <a:tc>
                  <a:txBody>
                    <a:bodyPr/>
                    <a:lstStyle/>
                    <a:p>
                      <a:pPr indent="0" marL="0">
                        <a:buNone/>
                      </a:pPr>
                      <a:r>
                        <a:rPr lang="en-US" sz="1600" b="1" dirty="0">
                          <a:solidFill>
                            <a:schemeClr val="bg1"/>
                          </a:solidFill>
                          <a:latin typeface="Calibri" pitchFamily="34" charset="0"/>
                          <a:ea typeface="Calibri" pitchFamily="34" charset="-122"/>
                          <a:cs typeface="Calibri" pitchFamily="34" charset="-120"/>
                        </a:rPr>
                        <a:t>React Native</a:t>
                      </a:r>
                      <a:endParaRPr lang="en-US" sz="1600" dirty="0">
                        <a:latin typeface="Calibri" charset="0"/>
                        <a:ea typeface="Calibri" charset="0"/>
                        <a:cs typeface="Calibri" charset="0"/>
                      </a:endParaRPr>
                    </a:p>
                  </a:txBody>
                  <a:tcPr marL="548640" marR="109728" marT="54864" marB="54864" anchor="ctr">
                    <a:lnL w="12700" cap="flat" cmpd="sng" algn="ctr">
                      <a:solidFill>
                        <a:srgbClr val="F3F1F8"/>
                      </a:solidFill>
                      <a:prstDash val="solid"/>
                      <a:round/>
                      <a:headEnd type="none" w="med" len="med"/>
                      <a:tailEnd type="none" w="med" len="med"/>
                    </a:lnL>
                    <a:lnR w="12700" cap="flat" cmpd="sng" algn="ctr">
                      <a:solidFill>
                        <a:srgbClr val="F3F1F8"/>
                      </a:solidFill>
                      <a:prstDash val="solid"/>
                      <a:round/>
                      <a:headEnd type="none" w="med" len="med"/>
                      <a:tailEnd type="none" w="med" len="med"/>
                    </a:lnR>
                    <a:lnT w="12700" cap="flat" cmpd="sng" algn="ctr">
                      <a:solidFill>
                        <a:srgbClr val="F3F1F8"/>
                      </a:solidFill>
                      <a:prstDash val="solid"/>
                      <a:round/>
                      <a:headEnd type="none" w="med" len="med"/>
                      <a:tailEnd type="none" w="med" len="med"/>
                    </a:lnT>
                    <a:lnB w="12700" cap="flat" cmpd="sng" algn="ctr">
                      <a:solidFill>
                        <a:srgbClr val="F3F1F8"/>
                      </a:solidFill>
                      <a:prstDash val="solid"/>
                      <a:round/>
                      <a:headEnd type="none" w="med" len="med"/>
                      <a:tailEnd type="none" w="med" len="med"/>
                    </a:lnB>
                    <a:solidFill>
                      <a:schemeClr val="tx1"/>
                    </a:solidFill>
                  </a:tcPr>
                </a:tc>
                <a:tc>
                  <a:txBody>
                    <a:bodyPr/>
                    <a:lstStyle/>
                    <a:p>
                      <a:pPr indent="0" marL="0">
                        <a:buNone/>
                      </a:pPr>
                      <a:r>
                        <a:rPr lang="en-US" sz="1600" b="1" dirty="0">
                          <a:solidFill>
                            <a:schemeClr val="bg1"/>
                          </a:solidFill>
                          <a:latin typeface="Calibri" pitchFamily="34" charset="0"/>
                          <a:ea typeface="Calibri" pitchFamily="34" charset="-122"/>
                          <a:cs typeface="Calibri" pitchFamily="34" charset="-120"/>
                        </a:rPr>
                        <a:t>Flutter</a:t>
                      </a:r>
                      <a:endParaRPr lang="en-US" sz="1600" dirty="0">
                        <a:latin typeface="Calibri" charset="0"/>
                        <a:ea typeface="Calibri" charset="0"/>
                        <a:cs typeface="Calibri" charset="0"/>
                      </a:endParaRPr>
                    </a:p>
                  </a:txBody>
                  <a:tcPr marL="548640" marR="109728" marT="54864" marB="54864" anchor="ctr">
                    <a:lnL w="12700" cap="flat" cmpd="sng" algn="ctr">
                      <a:solidFill>
                        <a:srgbClr val="F3F1F8"/>
                      </a:solidFill>
                      <a:prstDash val="solid"/>
                      <a:round/>
                      <a:headEnd type="none" w="med" len="med"/>
                      <a:tailEnd type="none" w="med" len="med"/>
                    </a:lnL>
                    <a:lnR w="12700" cap="flat" cmpd="sng" algn="ctr">
                      <a:solidFill>
                        <a:srgbClr val="F3F1F8"/>
                      </a:solidFill>
                      <a:prstDash val="solid"/>
                      <a:round/>
                      <a:headEnd type="none" w="med" len="med"/>
                      <a:tailEnd type="none" w="med" len="med"/>
                    </a:lnR>
                    <a:lnT w="12700" cap="flat" cmpd="sng" algn="ctr">
                      <a:solidFill>
                        <a:srgbClr val="F3F1F8"/>
                      </a:solidFill>
                      <a:prstDash val="solid"/>
                      <a:round/>
                      <a:headEnd type="none" w="med" len="med"/>
                      <a:tailEnd type="none" w="med" len="med"/>
                    </a:lnT>
                    <a:lnB w="12700" cap="flat" cmpd="sng" algn="ctr">
                      <a:solidFill>
                        <a:srgbClr val="F3F1F8"/>
                      </a:solidFill>
                      <a:prstDash val="solid"/>
                      <a:round/>
                      <a:headEnd type="none" w="med" len="med"/>
                      <a:tailEnd type="none" w="med" len="med"/>
                    </a:lnB>
                    <a:solidFill>
                      <a:schemeClr val="tx1"/>
                    </a:solidFill>
                  </a:tcPr>
                </a:tc>
              </a:tr>
              <a:tr h="420624">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Made by</a:t>
                      </a:r>
                      <a:endParaRPr lang="en-US" sz="1400" dirty="0">
                        <a:latin typeface="Calibri" charset="0"/>
                        <a:ea typeface="Calibri" charset="0"/>
                        <a:cs typeface="Calibri" charset="0"/>
                      </a:endParaRPr>
                    </a:p>
                  </a:txBody>
                  <a:tcPr marL="109728" marR="109728" marT="45720" marB="45720" anchor="ctr">
                    <a:lnL w="12700" cap="flat" cmpd="sng" algn="ctr">
                      <a:solidFill>
                        <a:srgbClr val="F3F1F8"/>
                      </a:solidFill>
                      <a:prstDash val="solid"/>
                      <a:round/>
                      <a:headEnd type="none" w="med" len="med"/>
                      <a:tailEnd type="none" w="med" len="med"/>
                    </a:lnL>
                    <a:lnR w="12700" cap="flat" cmpd="sng" algn="ctr">
                      <a:solidFill>
                        <a:srgbClr val="F3F1F8"/>
                      </a:solidFill>
                      <a:prstDash val="solid"/>
                      <a:round/>
                      <a:headEnd type="none" w="med" len="med"/>
                      <a:tailEnd type="none" w="med" len="med"/>
                    </a:lnR>
                    <a:lnT w="12700" cap="flat" cmpd="sng" algn="ctr">
                      <a:solidFill>
                        <a:srgbClr val="F3F1F8"/>
                      </a:solidFill>
                      <a:prstDash val="solid"/>
                      <a:round/>
                      <a:headEnd type="none" w="med" len="med"/>
                      <a:tailEnd type="none" w="med" len="med"/>
                    </a:lnT>
                    <a:lnB w="12700" cap="flat" cmpd="sng" algn="ctr">
                      <a:solidFill>
                        <a:srgbClr val="F3F1F8"/>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Meta (first released 2015)</a:t>
                      </a:r>
                      <a:endParaRPr lang="en-US" sz="1400" dirty="0">
                        <a:latin typeface="Calibri" charset="0"/>
                        <a:ea typeface="Calibri" charset="0"/>
                        <a:cs typeface="Calibri" charset="0"/>
                      </a:endParaRPr>
                    </a:p>
                  </a:txBody>
                  <a:tcPr marL="109728" marR="109728" marT="45720" marB="45720" anchor="ctr">
                    <a:lnL w="12700" cap="flat" cmpd="sng" algn="ctr">
                      <a:solidFill>
                        <a:srgbClr val="F3F1F8"/>
                      </a:solidFill>
                      <a:prstDash val="solid"/>
                      <a:round/>
                      <a:headEnd type="none" w="med" len="med"/>
                      <a:tailEnd type="none" w="med" len="med"/>
                    </a:lnL>
                    <a:lnR w="12700" cap="flat" cmpd="sng" algn="ctr">
                      <a:solidFill>
                        <a:srgbClr val="F3F1F8"/>
                      </a:solidFill>
                      <a:prstDash val="solid"/>
                      <a:round/>
                      <a:headEnd type="none" w="med" len="med"/>
                      <a:tailEnd type="none" w="med" len="med"/>
                    </a:lnR>
                    <a:lnT w="12700" cap="flat" cmpd="sng" algn="ctr">
                      <a:solidFill>
                        <a:srgbClr val="F3F1F8"/>
                      </a:solidFill>
                      <a:prstDash val="solid"/>
                      <a:round/>
                      <a:headEnd type="none" w="med" len="med"/>
                      <a:tailEnd type="none" w="med" len="med"/>
                    </a:lnT>
                    <a:lnB w="12700" cap="flat" cmpd="sng" algn="ctr">
                      <a:solidFill>
                        <a:srgbClr val="F3F1F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Google (version 1.0 in 2018)</a:t>
                      </a:r>
                      <a:endParaRPr lang="en-US" sz="1400" dirty="0">
                        <a:latin typeface="Calibri" charset="0"/>
                        <a:ea typeface="Calibri" charset="0"/>
                        <a:cs typeface="Calibri" charset="0"/>
                      </a:endParaRPr>
                    </a:p>
                  </a:txBody>
                  <a:tcPr marL="109728" marR="109728" marT="45720" marB="45720" anchor="ctr">
                    <a:lnL w="12700" cap="flat" cmpd="sng" algn="ctr">
                      <a:solidFill>
                        <a:srgbClr val="F3F1F8"/>
                      </a:solidFill>
                      <a:prstDash val="solid"/>
                      <a:round/>
                      <a:headEnd type="none" w="med" len="med"/>
                      <a:tailEnd type="none" w="med" len="med"/>
                    </a:lnL>
                    <a:lnR w="12700" cap="flat" cmpd="sng" algn="ctr">
                      <a:solidFill>
                        <a:srgbClr val="F3F1F8"/>
                      </a:solidFill>
                      <a:prstDash val="solid"/>
                      <a:round/>
                      <a:headEnd type="none" w="med" len="med"/>
                      <a:tailEnd type="none" w="med" len="med"/>
                    </a:lnR>
                    <a:lnT w="12700" cap="flat" cmpd="sng" algn="ctr">
                      <a:solidFill>
                        <a:srgbClr val="F3F1F8"/>
                      </a:solidFill>
                      <a:prstDash val="solid"/>
                      <a:round/>
                      <a:headEnd type="none" w="med" len="med"/>
                      <a:tailEnd type="none" w="med" len="med"/>
                    </a:lnT>
                    <a:lnB w="12700" cap="flat" cmpd="sng" algn="ctr">
                      <a:solidFill>
                        <a:srgbClr val="F3F1F8"/>
                      </a:solidFill>
                      <a:prstDash val="solid"/>
                      <a:round/>
                      <a:headEnd type="none" w="med" len="med"/>
                      <a:tailEnd type="none" w="med" len="med"/>
                    </a:lnB>
                    <a:solidFill>
                      <a:schemeClr val="bg1"/>
                    </a:solidFill>
                  </a:tcPr>
                </a:tc>
              </a:tr>
              <a:tr h="420624">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Language</a:t>
                      </a:r>
                      <a:endParaRPr lang="en-US" sz="1400" dirty="0">
                        <a:latin typeface="Calibri" charset="0"/>
                        <a:ea typeface="Calibri" charset="0"/>
                        <a:cs typeface="Calibri" charset="0"/>
                      </a:endParaRPr>
                    </a:p>
                  </a:txBody>
                  <a:tcPr marL="109728" marR="109728" marT="45720" marB="45720" anchor="ctr">
                    <a:lnL w="12700" cap="flat" cmpd="sng" algn="ctr">
                      <a:solidFill>
                        <a:srgbClr val="F3F1F8"/>
                      </a:solidFill>
                      <a:prstDash val="solid"/>
                      <a:round/>
                      <a:headEnd type="none" w="med" len="med"/>
                      <a:tailEnd type="none" w="med" len="med"/>
                    </a:lnL>
                    <a:lnR w="12700" cap="flat" cmpd="sng" algn="ctr">
                      <a:solidFill>
                        <a:srgbClr val="F3F1F8"/>
                      </a:solidFill>
                      <a:prstDash val="solid"/>
                      <a:round/>
                      <a:headEnd type="none" w="med" len="med"/>
                      <a:tailEnd type="none" w="med" len="med"/>
                    </a:lnR>
                    <a:lnT w="12700" cap="flat" cmpd="sng" algn="ctr">
                      <a:solidFill>
                        <a:srgbClr val="F3F1F8"/>
                      </a:solidFill>
                      <a:prstDash val="solid"/>
                      <a:round/>
                      <a:headEnd type="none" w="med" len="med"/>
                      <a:tailEnd type="none" w="med" len="med"/>
                    </a:lnT>
                    <a:lnB w="12700" cap="flat" cmpd="sng" algn="ctr">
                      <a:solidFill>
                        <a:srgbClr val="F3F1F8"/>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JavaScript or TypeScript, with React</a:t>
                      </a:r>
                      <a:endParaRPr lang="en-US" sz="1400" dirty="0">
                        <a:latin typeface="Calibri" charset="0"/>
                        <a:ea typeface="Calibri" charset="0"/>
                        <a:cs typeface="Calibri" charset="0"/>
                      </a:endParaRPr>
                    </a:p>
                  </a:txBody>
                  <a:tcPr marL="109728" marR="109728" marT="45720" marB="45720" anchor="ctr">
                    <a:lnL w="12700" cap="flat" cmpd="sng" algn="ctr">
                      <a:solidFill>
                        <a:srgbClr val="F3F1F8"/>
                      </a:solidFill>
                      <a:prstDash val="solid"/>
                      <a:round/>
                      <a:headEnd type="none" w="med" len="med"/>
                      <a:tailEnd type="none" w="med" len="med"/>
                    </a:lnL>
                    <a:lnR w="12700" cap="flat" cmpd="sng" algn="ctr">
                      <a:solidFill>
                        <a:srgbClr val="F3F1F8"/>
                      </a:solidFill>
                      <a:prstDash val="solid"/>
                      <a:round/>
                      <a:headEnd type="none" w="med" len="med"/>
                      <a:tailEnd type="none" w="med" len="med"/>
                    </a:lnR>
                    <a:lnT w="12700" cap="flat" cmpd="sng" algn="ctr">
                      <a:solidFill>
                        <a:srgbClr val="F3F1F8"/>
                      </a:solidFill>
                      <a:prstDash val="solid"/>
                      <a:round/>
                      <a:headEnd type="none" w="med" len="med"/>
                      <a:tailEnd type="none" w="med" len="med"/>
                    </a:lnT>
                    <a:lnB w="12700" cap="flat" cmpd="sng" algn="ctr">
                      <a:solidFill>
                        <a:srgbClr val="F3F1F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Dart</a:t>
                      </a:r>
                      <a:endParaRPr lang="en-US" sz="1400" dirty="0">
                        <a:latin typeface="Calibri" charset="0"/>
                        <a:ea typeface="Calibri" charset="0"/>
                        <a:cs typeface="Calibri" charset="0"/>
                      </a:endParaRPr>
                    </a:p>
                  </a:txBody>
                  <a:tcPr marL="109728" marR="109728" marT="45720" marB="45720" anchor="ctr">
                    <a:lnL w="12700" cap="flat" cmpd="sng" algn="ctr">
                      <a:solidFill>
                        <a:srgbClr val="F3F1F8"/>
                      </a:solidFill>
                      <a:prstDash val="solid"/>
                      <a:round/>
                      <a:headEnd type="none" w="med" len="med"/>
                      <a:tailEnd type="none" w="med" len="med"/>
                    </a:lnL>
                    <a:lnR w="12700" cap="flat" cmpd="sng" algn="ctr">
                      <a:solidFill>
                        <a:srgbClr val="F3F1F8"/>
                      </a:solidFill>
                      <a:prstDash val="solid"/>
                      <a:round/>
                      <a:headEnd type="none" w="med" len="med"/>
                      <a:tailEnd type="none" w="med" len="med"/>
                    </a:lnR>
                    <a:lnT w="12700" cap="flat" cmpd="sng" algn="ctr">
                      <a:solidFill>
                        <a:srgbClr val="F3F1F8"/>
                      </a:solidFill>
                      <a:prstDash val="solid"/>
                      <a:round/>
                      <a:headEnd type="none" w="med" len="med"/>
                      <a:tailEnd type="none" w="med" len="med"/>
                    </a:lnT>
                    <a:lnB w="12700" cap="flat" cmpd="sng" algn="ctr">
                      <a:solidFill>
                        <a:srgbClr val="F3F1F8"/>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How the UI is built</a:t>
                      </a:r>
                      <a:endParaRPr lang="en-US" sz="1400" dirty="0">
                        <a:latin typeface="Calibri" charset="0"/>
                        <a:ea typeface="Calibri" charset="0"/>
                        <a:cs typeface="Calibri" charset="0"/>
                      </a:endParaRPr>
                    </a:p>
                  </a:txBody>
                  <a:tcPr marL="109728" marR="109728" marT="45720" marB="45720" anchor="ctr">
                    <a:lnL w="12700" cap="flat" cmpd="sng" algn="ctr">
                      <a:solidFill>
                        <a:srgbClr val="F3F1F8"/>
                      </a:solidFill>
                      <a:prstDash val="solid"/>
                      <a:round/>
                      <a:headEnd type="none" w="med" len="med"/>
                      <a:tailEnd type="none" w="med" len="med"/>
                    </a:lnL>
                    <a:lnR w="12700" cap="flat" cmpd="sng" algn="ctr">
                      <a:solidFill>
                        <a:srgbClr val="F3F1F8"/>
                      </a:solidFill>
                      <a:prstDash val="solid"/>
                      <a:round/>
                      <a:headEnd type="none" w="med" len="med"/>
                      <a:tailEnd type="none" w="med" len="med"/>
                    </a:lnR>
                    <a:lnT w="12700" cap="flat" cmpd="sng" algn="ctr">
                      <a:solidFill>
                        <a:srgbClr val="F3F1F8"/>
                      </a:solidFill>
                      <a:prstDash val="solid"/>
                      <a:round/>
                      <a:headEnd type="none" w="med" len="med"/>
                      <a:tailEnd type="none" w="med" len="med"/>
                    </a:lnT>
                    <a:lnB w="12700" cap="flat" cmpd="sng" algn="ctr">
                      <a:solidFill>
                        <a:srgbClr val="F3F1F8"/>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Components like </a:t>
                      </a:r>
                      <a:r>
                        <a:rPr lang="en-US" sz="1400" dirty="0">
                          <a:solidFill>
                            <a:schemeClr val="accent5"/>
                          </a:solidFill>
                          <a:latin typeface="Consolas" pitchFamily="34" charset="0"/>
                          <a:ea typeface="Consolas" pitchFamily="34" charset="-122"/>
                          <a:cs typeface="Consolas" pitchFamily="34" charset="-120"/>
                        </a:rPr>
                        <a:t>&lt;View&gt;</a:t>
                      </a:r>
                      <a:r>
                        <a:rPr lang="en-US" sz="1400" dirty="0">
                          <a:solidFill>
                            <a:schemeClr val="tx1"/>
                          </a:solidFill>
                          <a:latin typeface="Calibri" pitchFamily="34" charset="0"/>
                          <a:ea typeface="Calibri" pitchFamily="34" charset="-122"/>
                          <a:cs typeface="Calibri" pitchFamily="34" charset="-120"/>
                        </a:rPr>
                        <a:t> and </a:t>
                      </a:r>
                      <a:r>
                        <a:rPr lang="en-US" sz="1400" dirty="0">
                          <a:solidFill>
                            <a:schemeClr val="accent5"/>
                          </a:solidFill>
                          <a:latin typeface="Consolas" pitchFamily="34" charset="0"/>
                          <a:ea typeface="Consolas" pitchFamily="34" charset="-122"/>
                          <a:cs typeface="Consolas" pitchFamily="34" charset="-120"/>
                        </a:rPr>
                        <a:t>&lt;Text&gt;</a:t>
                      </a:r>
                      <a:r>
                        <a:rPr lang="en-US" sz="1400" dirty="0">
                          <a:solidFill>
                            <a:schemeClr val="tx1"/>
                          </a:solidFill>
                          <a:latin typeface="Calibri" pitchFamily="34" charset="0"/>
                          <a:ea typeface="Calibri" pitchFamily="34" charset="-122"/>
                          <a:cs typeface="Calibri" pitchFamily="34" charset="-120"/>
                        </a:rPr>
                        <a:t> become real native views</a:t>
                      </a:r>
                      <a:endParaRPr lang="en-US" sz="1400" dirty="0">
                        <a:latin typeface="Calibri" charset="0"/>
                        <a:ea typeface="Calibri" charset="0"/>
                        <a:cs typeface="Calibri" charset="0"/>
                      </a:endParaRPr>
                    </a:p>
                  </a:txBody>
                  <a:tcPr marL="109728" marR="109728" marT="45720" marB="45720" anchor="ctr">
                    <a:lnL w="12700" cap="flat" cmpd="sng" algn="ctr">
                      <a:solidFill>
                        <a:srgbClr val="F3F1F8"/>
                      </a:solidFill>
                      <a:prstDash val="solid"/>
                      <a:round/>
                      <a:headEnd type="none" w="med" len="med"/>
                      <a:tailEnd type="none" w="med" len="med"/>
                    </a:lnL>
                    <a:lnR w="12700" cap="flat" cmpd="sng" algn="ctr">
                      <a:solidFill>
                        <a:srgbClr val="F3F1F8"/>
                      </a:solidFill>
                      <a:prstDash val="solid"/>
                      <a:round/>
                      <a:headEnd type="none" w="med" len="med"/>
                      <a:tailEnd type="none" w="med" len="med"/>
                    </a:lnR>
                    <a:lnT w="12700" cap="flat" cmpd="sng" algn="ctr">
                      <a:solidFill>
                        <a:srgbClr val="F3F1F8"/>
                      </a:solidFill>
                      <a:prstDash val="solid"/>
                      <a:round/>
                      <a:headEnd type="none" w="med" len="med"/>
                      <a:tailEnd type="none" w="med" len="med"/>
                    </a:lnT>
                    <a:lnB w="12700" cap="flat" cmpd="sng" algn="ctr">
                      <a:solidFill>
                        <a:srgbClr val="F3F1F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Widgets drawn by Flutter's own rendering engine</a:t>
                      </a:r>
                      <a:endParaRPr lang="en-US" sz="1400" dirty="0">
                        <a:latin typeface="Calibri" charset="0"/>
                        <a:ea typeface="Calibri" charset="0"/>
                        <a:cs typeface="Calibri" charset="0"/>
                      </a:endParaRPr>
                    </a:p>
                  </a:txBody>
                  <a:tcPr marL="109728" marR="109728" marT="45720" marB="45720" anchor="ctr">
                    <a:lnL w="12700" cap="flat" cmpd="sng" algn="ctr">
                      <a:solidFill>
                        <a:srgbClr val="F3F1F8"/>
                      </a:solidFill>
                      <a:prstDash val="solid"/>
                      <a:round/>
                      <a:headEnd type="none" w="med" len="med"/>
                      <a:tailEnd type="none" w="med" len="med"/>
                    </a:lnL>
                    <a:lnR w="12700" cap="flat" cmpd="sng" algn="ctr">
                      <a:solidFill>
                        <a:srgbClr val="F3F1F8"/>
                      </a:solidFill>
                      <a:prstDash val="solid"/>
                      <a:round/>
                      <a:headEnd type="none" w="med" len="med"/>
                      <a:tailEnd type="none" w="med" len="med"/>
                    </a:lnR>
                    <a:lnT w="12700" cap="flat" cmpd="sng" algn="ctr">
                      <a:solidFill>
                        <a:srgbClr val="F3F1F8"/>
                      </a:solidFill>
                      <a:prstDash val="solid"/>
                      <a:round/>
                      <a:headEnd type="none" w="med" len="med"/>
                      <a:tailEnd type="none" w="med" len="med"/>
                    </a:lnT>
                    <a:lnB w="12700" cap="flat" cmpd="sng" algn="ctr">
                      <a:solidFill>
                        <a:srgbClr val="F3F1F8"/>
                      </a:solidFill>
                      <a:prstDash val="solid"/>
                      <a:round/>
                      <a:headEnd type="none" w="med" len="med"/>
                      <a:tailEnd type="none" w="med" len="med"/>
                    </a:lnB>
                    <a:solidFill>
                      <a:schemeClr val="bg1"/>
                    </a:solidFill>
                  </a:tcPr>
                </a:tc>
              </a:tr>
              <a:tr h="420624">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Main tools</a:t>
                      </a:r>
                      <a:endParaRPr lang="en-US" sz="1400" dirty="0">
                        <a:latin typeface="Calibri" charset="0"/>
                        <a:ea typeface="Calibri" charset="0"/>
                        <a:cs typeface="Calibri" charset="0"/>
                      </a:endParaRPr>
                    </a:p>
                  </a:txBody>
                  <a:tcPr marL="109728" marR="109728" marT="45720" marB="45720" anchor="ctr">
                    <a:lnL w="12700" cap="flat" cmpd="sng" algn="ctr">
                      <a:solidFill>
                        <a:srgbClr val="F3F1F8"/>
                      </a:solidFill>
                      <a:prstDash val="solid"/>
                      <a:round/>
                      <a:headEnd type="none" w="med" len="med"/>
                      <a:tailEnd type="none" w="med" len="med"/>
                    </a:lnL>
                    <a:lnR w="12700" cap="flat" cmpd="sng" algn="ctr">
                      <a:solidFill>
                        <a:srgbClr val="F3F1F8"/>
                      </a:solidFill>
                      <a:prstDash val="solid"/>
                      <a:round/>
                      <a:headEnd type="none" w="med" len="med"/>
                      <a:tailEnd type="none" w="med" len="med"/>
                    </a:lnR>
                    <a:lnT w="12700" cap="flat" cmpd="sng" algn="ctr">
                      <a:solidFill>
                        <a:srgbClr val="F3F1F8"/>
                      </a:solidFill>
                      <a:prstDash val="solid"/>
                      <a:round/>
                      <a:headEnd type="none" w="med" len="med"/>
                      <a:tailEnd type="none" w="med" len="med"/>
                    </a:lnT>
                    <a:lnB w="12700" cap="flat" cmpd="sng" algn="ctr">
                      <a:solidFill>
                        <a:srgbClr val="F3F1F8"/>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Node.js, npm, Expo, VS Code</a:t>
                      </a:r>
                      <a:endParaRPr lang="en-US" sz="1400" dirty="0">
                        <a:latin typeface="Calibri" charset="0"/>
                        <a:ea typeface="Calibri" charset="0"/>
                        <a:cs typeface="Calibri" charset="0"/>
                      </a:endParaRPr>
                    </a:p>
                  </a:txBody>
                  <a:tcPr marL="109728" marR="109728" marT="45720" marB="45720" anchor="ctr">
                    <a:lnL w="12700" cap="flat" cmpd="sng" algn="ctr">
                      <a:solidFill>
                        <a:srgbClr val="F3F1F8"/>
                      </a:solidFill>
                      <a:prstDash val="solid"/>
                      <a:round/>
                      <a:headEnd type="none" w="med" len="med"/>
                      <a:tailEnd type="none" w="med" len="med"/>
                    </a:lnL>
                    <a:lnR w="12700" cap="flat" cmpd="sng" algn="ctr">
                      <a:solidFill>
                        <a:srgbClr val="F3F1F8"/>
                      </a:solidFill>
                      <a:prstDash val="solid"/>
                      <a:round/>
                      <a:headEnd type="none" w="med" len="med"/>
                      <a:tailEnd type="none" w="med" len="med"/>
                    </a:lnR>
                    <a:lnT w="12700" cap="flat" cmpd="sng" algn="ctr">
                      <a:solidFill>
                        <a:srgbClr val="F3F1F8"/>
                      </a:solidFill>
                      <a:prstDash val="solid"/>
                      <a:round/>
                      <a:headEnd type="none" w="med" len="med"/>
                      <a:tailEnd type="none" w="med" len="med"/>
                    </a:lnT>
                    <a:lnB w="12700" cap="flat" cmpd="sng" algn="ctr">
                      <a:solidFill>
                        <a:srgbClr val="F3F1F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Flutter SDK, VS Code or Android Studio</a:t>
                      </a:r>
                      <a:endParaRPr lang="en-US" sz="1400" dirty="0">
                        <a:latin typeface="Calibri" charset="0"/>
                        <a:ea typeface="Calibri" charset="0"/>
                        <a:cs typeface="Calibri" charset="0"/>
                      </a:endParaRPr>
                    </a:p>
                  </a:txBody>
                  <a:tcPr marL="109728" marR="109728" marT="45720" marB="45720" anchor="ctr">
                    <a:lnL w="12700" cap="flat" cmpd="sng" algn="ctr">
                      <a:solidFill>
                        <a:srgbClr val="F3F1F8"/>
                      </a:solidFill>
                      <a:prstDash val="solid"/>
                      <a:round/>
                      <a:headEnd type="none" w="med" len="med"/>
                      <a:tailEnd type="none" w="med" len="med"/>
                    </a:lnL>
                    <a:lnR w="12700" cap="flat" cmpd="sng" algn="ctr">
                      <a:solidFill>
                        <a:srgbClr val="F3F1F8"/>
                      </a:solidFill>
                      <a:prstDash val="solid"/>
                      <a:round/>
                      <a:headEnd type="none" w="med" len="med"/>
                      <a:tailEnd type="none" w="med" len="med"/>
                    </a:lnR>
                    <a:lnT w="12700" cap="flat" cmpd="sng" algn="ctr">
                      <a:solidFill>
                        <a:srgbClr val="F3F1F8"/>
                      </a:solidFill>
                      <a:prstDash val="solid"/>
                      <a:round/>
                      <a:headEnd type="none" w="med" len="med"/>
                      <a:tailEnd type="none" w="med" len="med"/>
                    </a:lnT>
                    <a:lnB w="12700" cap="flat" cmpd="sng" algn="ctr">
                      <a:solidFill>
                        <a:srgbClr val="F3F1F8"/>
                      </a:solidFill>
                      <a:prstDash val="solid"/>
                      <a:round/>
                      <a:headEnd type="none" w="med" len="med"/>
                      <a:tailEnd type="none" w="med" len="med"/>
                    </a:lnB>
                    <a:solidFill>
                      <a:schemeClr val="bg1"/>
                    </a:solidFill>
                  </a:tcPr>
                </a:tc>
              </a:tr>
              <a:tr h="420624">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See changes fast</a:t>
                      </a:r>
                      <a:endParaRPr lang="en-US" sz="1400" dirty="0">
                        <a:latin typeface="Calibri" charset="0"/>
                        <a:ea typeface="Calibri" charset="0"/>
                        <a:cs typeface="Calibri" charset="0"/>
                      </a:endParaRPr>
                    </a:p>
                  </a:txBody>
                  <a:tcPr marL="109728" marR="109728" marT="45720" marB="45720" anchor="ctr">
                    <a:lnL w="12700" cap="flat" cmpd="sng" algn="ctr">
                      <a:solidFill>
                        <a:srgbClr val="F3F1F8"/>
                      </a:solidFill>
                      <a:prstDash val="solid"/>
                      <a:round/>
                      <a:headEnd type="none" w="med" len="med"/>
                      <a:tailEnd type="none" w="med" len="med"/>
                    </a:lnL>
                    <a:lnR w="12700" cap="flat" cmpd="sng" algn="ctr">
                      <a:solidFill>
                        <a:srgbClr val="F3F1F8"/>
                      </a:solidFill>
                      <a:prstDash val="solid"/>
                      <a:round/>
                      <a:headEnd type="none" w="med" len="med"/>
                      <a:tailEnd type="none" w="med" len="med"/>
                    </a:lnR>
                    <a:lnT w="12700" cap="flat" cmpd="sng" algn="ctr">
                      <a:solidFill>
                        <a:srgbClr val="F3F1F8"/>
                      </a:solidFill>
                      <a:prstDash val="solid"/>
                      <a:round/>
                      <a:headEnd type="none" w="med" len="med"/>
                      <a:tailEnd type="none" w="med" len="med"/>
                    </a:lnT>
                    <a:lnB w="12700" cap="flat" cmpd="sng" algn="ctr">
                      <a:solidFill>
                        <a:srgbClr val="F3F1F8"/>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Fast Refresh</a:t>
                      </a:r>
                      <a:endParaRPr lang="en-US" sz="1400" dirty="0">
                        <a:latin typeface="Calibri" charset="0"/>
                        <a:ea typeface="Calibri" charset="0"/>
                        <a:cs typeface="Calibri" charset="0"/>
                      </a:endParaRPr>
                    </a:p>
                  </a:txBody>
                  <a:tcPr marL="109728" marR="109728" marT="45720" marB="45720" anchor="ctr">
                    <a:lnL w="12700" cap="flat" cmpd="sng" algn="ctr">
                      <a:solidFill>
                        <a:srgbClr val="F3F1F8"/>
                      </a:solidFill>
                      <a:prstDash val="solid"/>
                      <a:round/>
                      <a:headEnd type="none" w="med" len="med"/>
                      <a:tailEnd type="none" w="med" len="med"/>
                    </a:lnL>
                    <a:lnR w="12700" cap="flat" cmpd="sng" algn="ctr">
                      <a:solidFill>
                        <a:srgbClr val="F3F1F8"/>
                      </a:solidFill>
                      <a:prstDash val="solid"/>
                      <a:round/>
                      <a:headEnd type="none" w="med" len="med"/>
                      <a:tailEnd type="none" w="med" len="med"/>
                    </a:lnR>
                    <a:lnT w="12700" cap="flat" cmpd="sng" algn="ctr">
                      <a:solidFill>
                        <a:srgbClr val="F3F1F8"/>
                      </a:solidFill>
                      <a:prstDash val="solid"/>
                      <a:round/>
                      <a:headEnd type="none" w="med" len="med"/>
                      <a:tailEnd type="none" w="med" len="med"/>
                    </a:lnT>
                    <a:lnB w="12700" cap="flat" cmpd="sng" algn="ctr">
                      <a:solidFill>
                        <a:srgbClr val="F3F1F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Hot reload</a:t>
                      </a:r>
                      <a:endParaRPr lang="en-US" sz="1400" dirty="0">
                        <a:latin typeface="Calibri" charset="0"/>
                        <a:ea typeface="Calibri" charset="0"/>
                        <a:cs typeface="Calibri" charset="0"/>
                      </a:endParaRPr>
                    </a:p>
                  </a:txBody>
                  <a:tcPr marL="109728" marR="109728" marT="45720" marB="45720" anchor="ctr">
                    <a:lnL w="12700" cap="flat" cmpd="sng" algn="ctr">
                      <a:solidFill>
                        <a:srgbClr val="F3F1F8"/>
                      </a:solidFill>
                      <a:prstDash val="solid"/>
                      <a:round/>
                      <a:headEnd type="none" w="med" len="med"/>
                      <a:tailEnd type="none" w="med" len="med"/>
                    </a:lnL>
                    <a:lnR w="12700" cap="flat" cmpd="sng" algn="ctr">
                      <a:solidFill>
                        <a:srgbClr val="F3F1F8"/>
                      </a:solidFill>
                      <a:prstDash val="solid"/>
                      <a:round/>
                      <a:headEnd type="none" w="med" len="med"/>
                      <a:tailEnd type="none" w="med" len="med"/>
                    </a:lnR>
                    <a:lnT w="12700" cap="flat" cmpd="sng" algn="ctr">
                      <a:solidFill>
                        <a:srgbClr val="F3F1F8"/>
                      </a:solidFill>
                      <a:prstDash val="solid"/>
                      <a:round/>
                      <a:headEnd type="none" w="med" len="med"/>
                      <a:tailEnd type="none" w="med" len="med"/>
                    </a:lnT>
                    <a:lnB w="12700" cap="flat" cmpd="sng" algn="ctr">
                      <a:solidFill>
                        <a:srgbClr val="F3F1F8"/>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Strengths</a:t>
                      </a:r>
                      <a:endParaRPr lang="en-US" sz="1400" dirty="0">
                        <a:latin typeface="Calibri" charset="0"/>
                        <a:ea typeface="Calibri" charset="0"/>
                        <a:cs typeface="Calibri" charset="0"/>
                      </a:endParaRPr>
                    </a:p>
                  </a:txBody>
                  <a:tcPr marL="109728" marR="109728" marT="45720" marB="45720" anchor="ctr">
                    <a:lnL w="12700" cap="flat" cmpd="sng" algn="ctr">
                      <a:solidFill>
                        <a:srgbClr val="F3F1F8"/>
                      </a:solidFill>
                      <a:prstDash val="solid"/>
                      <a:round/>
                      <a:headEnd type="none" w="med" len="med"/>
                      <a:tailEnd type="none" w="med" len="med"/>
                    </a:lnL>
                    <a:lnR w="12700" cap="flat" cmpd="sng" algn="ctr">
                      <a:solidFill>
                        <a:srgbClr val="F3F1F8"/>
                      </a:solidFill>
                      <a:prstDash val="solid"/>
                      <a:round/>
                      <a:headEnd type="none" w="med" len="med"/>
                      <a:tailEnd type="none" w="med" len="med"/>
                    </a:lnR>
                    <a:lnT w="12700" cap="flat" cmpd="sng" algn="ctr">
                      <a:solidFill>
                        <a:srgbClr val="F3F1F8"/>
                      </a:solidFill>
                      <a:prstDash val="solid"/>
                      <a:round/>
                      <a:headEnd type="none" w="med" len="med"/>
                      <a:tailEnd type="none" w="med" len="med"/>
                    </a:lnT>
                    <a:lnB w="12700" cap="flat" cmpd="sng" algn="ctr">
                      <a:solidFill>
                        <a:srgbClr val="F3F1F8"/>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Reuse your JavaScript and React skills; huge npm package library</a:t>
                      </a:r>
                      <a:endParaRPr lang="en-US" sz="1400" dirty="0">
                        <a:latin typeface="Calibri" charset="0"/>
                        <a:ea typeface="Calibri" charset="0"/>
                        <a:cs typeface="Calibri" charset="0"/>
                      </a:endParaRPr>
                    </a:p>
                  </a:txBody>
                  <a:tcPr marL="109728" marR="109728" marT="45720" marB="45720" anchor="ctr">
                    <a:lnL w="12700" cap="flat" cmpd="sng" algn="ctr">
                      <a:solidFill>
                        <a:srgbClr val="F3F1F8"/>
                      </a:solidFill>
                      <a:prstDash val="solid"/>
                      <a:round/>
                      <a:headEnd type="none" w="med" len="med"/>
                      <a:tailEnd type="none" w="med" len="med"/>
                    </a:lnL>
                    <a:lnR w="12700" cap="flat" cmpd="sng" algn="ctr">
                      <a:solidFill>
                        <a:srgbClr val="F3F1F8"/>
                      </a:solidFill>
                      <a:prstDash val="solid"/>
                      <a:round/>
                      <a:headEnd type="none" w="med" len="med"/>
                      <a:tailEnd type="none" w="med" len="med"/>
                    </a:lnR>
                    <a:lnT w="12700" cap="flat" cmpd="sng" algn="ctr">
                      <a:solidFill>
                        <a:srgbClr val="F3F1F8"/>
                      </a:solidFill>
                      <a:prstDash val="solid"/>
                      <a:round/>
                      <a:headEnd type="none" w="med" len="med"/>
                      <a:tailEnd type="none" w="med" len="med"/>
                    </a:lnT>
                    <a:lnB w="12700" cap="flat" cmpd="sng" algn="ctr">
                      <a:solidFill>
                        <a:srgbClr val="F3F1F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Same look on every device; many ready-made widgets</a:t>
                      </a:r>
                      <a:endParaRPr lang="en-US" sz="1400" dirty="0">
                        <a:latin typeface="Calibri" charset="0"/>
                        <a:ea typeface="Calibri" charset="0"/>
                        <a:cs typeface="Calibri" charset="0"/>
                      </a:endParaRPr>
                    </a:p>
                  </a:txBody>
                  <a:tcPr marL="109728" marR="109728" marT="45720" marB="45720" anchor="ctr">
                    <a:lnL w="12700" cap="flat" cmpd="sng" algn="ctr">
                      <a:solidFill>
                        <a:srgbClr val="F3F1F8"/>
                      </a:solidFill>
                      <a:prstDash val="solid"/>
                      <a:round/>
                      <a:headEnd type="none" w="med" len="med"/>
                      <a:tailEnd type="none" w="med" len="med"/>
                    </a:lnL>
                    <a:lnR w="12700" cap="flat" cmpd="sng" algn="ctr">
                      <a:solidFill>
                        <a:srgbClr val="F3F1F8"/>
                      </a:solidFill>
                      <a:prstDash val="solid"/>
                      <a:round/>
                      <a:headEnd type="none" w="med" len="med"/>
                      <a:tailEnd type="none" w="med" len="med"/>
                    </a:lnR>
                    <a:lnT w="12700" cap="flat" cmpd="sng" algn="ctr">
                      <a:solidFill>
                        <a:srgbClr val="F3F1F8"/>
                      </a:solidFill>
                      <a:prstDash val="solid"/>
                      <a:round/>
                      <a:headEnd type="none" w="med" len="med"/>
                      <a:tailEnd type="none" w="med" len="med"/>
                    </a:lnT>
                    <a:lnB w="12700" cap="flat" cmpd="sng" algn="ctr">
                      <a:solidFill>
                        <a:srgbClr val="F3F1F8"/>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Good choice when…</a:t>
                      </a:r>
                      <a:endParaRPr lang="en-US" sz="1400" dirty="0">
                        <a:latin typeface="Calibri" charset="0"/>
                        <a:ea typeface="Calibri" charset="0"/>
                        <a:cs typeface="Calibri" charset="0"/>
                      </a:endParaRPr>
                    </a:p>
                  </a:txBody>
                  <a:tcPr marL="109728" marR="109728" marT="45720" marB="45720" anchor="ctr">
                    <a:lnL w="12700" cap="flat" cmpd="sng" algn="ctr">
                      <a:solidFill>
                        <a:srgbClr val="F3F1F8"/>
                      </a:solidFill>
                      <a:prstDash val="solid"/>
                      <a:round/>
                      <a:headEnd type="none" w="med" len="med"/>
                      <a:tailEnd type="none" w="med" len="med"/>
                    </a:lnL>
                    <a:lnR w="12700" cap="flat" cmpd="sng" algn="ctr">
                      <a:solidFill>
                        <a:srgbClr val="F3F1F8"/>
                      </a:solidFill>
                      <a:prstDash val="solid"/>
                      <a:round/>
                      <a:headEnd type="none" w="med" len="med"/>
                      <a:tailEnd type="none" w="med" len="med"/>
                    </a:lnR>
                    <a:lnT w="12700" cap="flat" cmpd="sng" algn="ctr">
                      <a:solidFill>
                        <a:srgbClr val="F3F1F8"/>
                      </a:solidFill>
                      <a:prstDash val="solid"/>
                      <a:round/>
                      <a:headEnd type="none" w="med" len="med"/>
                      <a:tailEnd type="none" w="med" len="med"/>
                    </a:lnT>
                    <a:lnB w="12700" cap="flat" cmpd="sng" algn="ctr">
                      <a:solidFill>
                        <a:srgbClr val="F3F1F8"/>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Your team knows JavaScript or React, or also builds for the web</a:t>
                      </a:r>
                      <a:endParaRPr lang="en-US" sz="1400" dirty="0">
                        <a:latin typeface="Calibri" charset="0"/>
                        <a:ea typeface="Calibri" charset="0"/>
                        <a:cs typeface="Calibri" charset="0"/>
                      </a:endParaRPr>
                    </a:p>
                  </a:txBody>
                  <a:tcPr marL="109728" marR="109728" marT="45720" marB="45720" anchor="ctr">
                    <a:lnL w="12700" cap="flat" cmpd="sng" algn="ctr">
                      <a:solidFill>
                        <a:srgbClr val="F3F1F8"/>
                      </a:solidFill>
                      <a:prstDash val="solid"/>
                      <a:round/>
                      <a:headEnd type="none" w="med" len="med"/>
                      <a:tailEnd type="none" w="med" len="med"/>
                    </a:lnL>
                    <a:lnR w="12700" cap="flat" cmpd="sng" algn="ctr">
                      <a:solidFill>
                        <a:srgbClr val="F3F1F8"/>
                      </a:solidFill>
                      <a:prstDash val="solid"/>
                      <a:round/>
                      <a:headEnd type="none" w="med" len="med"/>
                      <a:tailEnd type="none" w="med" len="med"/>
                    </a:lnR>
                    <a:lnT w="12700" cap="flat" cmpd="sng" algn="ctr">
                      <a:solidFill>
                        <a:srgbClr val="F3F1F8"/>
                      </a:solidFill>
                      <a:prstDash val="solid"/>
                      <a:round/>
                      <a:headEnd type="none" w="med" len="med"/>
                      <a:tailEnd type="none" w="med" len="med"/>
                    </a:lnT>
                    <a:lnB w="12700" cap="flat" cmpd="sng" algn="ctr">
                      <a:solidFill>
                        <a:srgbClr val="F3F1F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You want a highly custom design and are happy to learn Dart</a:t>
                      </a:r>
                      <a:endParaRPr lang="en-US" sz="1400" dirty="0">
                        <a:latin typeface="Calibri" charset="0"/>
                        <a:ea typeface="Calibri" charset="0"/>
                        <a:cs typeface="Calibri" charset="0"/>
                      </a:endParaRPr>
                    </a:p>
                  </a:txBody>
                  <a:tcPr marL="109728" marR="109728" marT="45720" marB="45720" anchor="ctr">
                    <a:lnL w="12700" cap="flat" cmpd="sng" algn="ctr">
                      <a:solidFill>
                        <a:srgbClr val="F3F1F8"/>
                      </a:solidFill>
                      <a:prstDash val="solid"/>
                      <a:round/>
                      <a:headEnd type="none" w="med" len="med"/>
                      <a:tailEnd type="none" w="med" len="med"/>
                    </a:lnL>
                    <a:lnR w="12700" cap="flat" cmpd="sng" algn="ctr">
                      <a:solidFill>
                        <a:srgbClr val="F3F1F8"/>
                      </a:solidFill>
                      <a:prstDash val="solid"/>
                      <a:round/>
                      <a:headEnd type="none" w="med" len="med"/>
                      <a:tailEnd type="none" w="med" len="med"/>
                    </a:lnR>
                    <a:lnT w="12700" cap="flat" cmpd="sng" algn="ctr">
                      <a:solidFill>
                        <a:srgbClr val="F3F1F8"/>
                      </a:solidFill>
                      <a:prstDash val="solid"/>
                      <a:round/>
                      <a:headEnd type="none" w="med" len="med"/>
                      <a:tailEnd type="none" w="med" len="med"/>
                    </a:lnT>
                    <a:lnB w="12700" cap="flat" cmpd="sng" algn="ctr">
                      <a:solidFill>
                        <a:srgbClr val="F3F1F8"/>
                      </a:solidFill>
                      <a:prstDash val="solid"/>
                      <a:round/>
                      <a:headEnd type="none" w="med" len="med"/>
                      <a:tailEnd type="none" w="med" len="med"/>
                    </a:lnB>
                    <a:solidFill>
                      <a:schemeClr val="bg1"/>
                    </a:solidFill>
                  </a:tcPr>
                </a:tc>
              </a:tr>
            </a:tbl>
          </a:graphicData>
        </a:graphic>
      </p:graphicFrame>
      <p:pic>
        <p:nvPicPr>
          <p:cNvPr id="6" name="React logo" descr="React Native logo">    </p:cNvPr>
          <p:cNvPicPr>
            <a:picLocks noChangeAspect="1"/>
          </p:cNvPicPr>
          <p:nvPr/>
        </p:nvPicPr>
        <p:blipFill>
          <a:blip r:embed="rId1"/>
          <a:stretch>
            <a:fillRect/>
          </a:stretch>
        </p:blipFill>
        <p:spPr>
          <a:xfrm>
            <a:off x="3008376" y="1783080"/>
            <a:ext cx="292608" cy="292608"/>
          </a:xfrm>
          <a:prstGeom prst="rect">
            <a:avLst/>
          </a:prstGeom>
        </p:spPr>
      </p:pic>
      <p:pic>
        <p:nvPicPr>
          <p:cNvPr id="7" name="Flutter logo" descr="Flutter logo">    </p:cNvPr>
          <p:cNvPicPr>
            <a:picLocks noChangeAspect="1"/>
          </p:cNvPicPr>
          <p:nvPr/>
        </p:nvPicPr>
        <p:blipFill>
          <a:blip r:embed="rId2"/>
          <a:stretch>
            <a:fillRect/>
          </a:stretch>
        </p:blipFill>
        <p:spPr>
          <a:xfrm>
            <a:off x="7388352" y="1783080"/>
            <a:ext cx="292608" cy="292608"/>
          </a:xfrm>
          <a:prstGeom prst="rect">
            <a:avLst/>
          </a:prstGeom>
        </p:spPr>
      </p:pic>
      <p:sp>
        <p:nvSpPr>
          <p:cNvPr id="8" name="Text 3"/>
          <p:cNvSpPr txBox="1"/>
          <p:nvPr/>
        </p:nvSpPr>
        <p:spPr>
          <a:xfrm>
            <a:off x="548640" y="5806440"/>
            <a:ext cx="11091672" cy="365760"/>
          </a:xfrm>
          <a:prstGeom prst="rect">
            <a:avLst/>
          </a:prstGeom>
          <a:noFill/>
          <a:ln/>
        </p:spPr>
        <p:txBody>
          <a:bodyPr wrap="square" lIns="0" tIns="0" rIns="0" bIns="0" rtlCol="0" anchor="ctr"/>
          <a:lstStyle/>
          <a:p>
            <a:pPr indent="0" marL="0">
              <a:buNone/>
            </a:pPr>
            <a:r>
              <a:rPr lang="en-US" sz="1400" i="1" dirty="0">
                <a:solidFill>
                  <a:schemeClr val="tx2"/>
                </a:solidFill>
              </a:rPr>
              <a:t>Both are free and open source, and both build Android and iOS apps from one codebase.</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tion tag"/>
          <p:cNvSpPr/>
          <p:nvPr/>
        </p:nvSpPr>
        <p:spPr>
          <a:xfrm>
            <a:off x="548640" y="365760"/>
            <a:ext cx="850392" cy="310896"/>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spc="150" kern="0" dirty="0">
                <a:solidFill>
                  <a:schemeClr val="bg1"/>
                </a:solidFill>
              </a:rPr>
              <a:t>THEORY</a:t>
            </a:r>
            <a:endParaRPr lang="en-US" sz="1100" dirty="0"/>
          </a:p>
        </p:txBody>
      </p:sp>
      <p:sp>
        <p:nvSpPr>
          <p:cNvPr id="3" name="Tag context"/>
          <p:cNvSpPr txBox="1"/>
          <p:nvPr/>
        </p:nvSpPr>
        <p:spPr>
          <a:xfrm>
            <a:off x="1581912" y="365760"/>
            <a:ext cx="10058400" cy="310896"/>
          </a:xfrm>
          <a:prstGeom prst="rect">
            <a:avLst/>
          </a:prstGeom>
          <a:noFill/>
          <a:ln/>
        </p:spPr>
        <p:txBody>
          <a:bodyPr wrap="square" lIns="0" tIns="0" rIns="0" bIns="0" rtlCol="0" anchor="ctr"/>
          <a:lstStyle/>
          <a:p>
            <a:pPr indent="0" marL="0">
              <a:buNone/>
            </a:pPr>
            <a:r>
              <a:rPr lang="en-US" sz="1300" dirty="0">
                <a:solidFill>
                  <a:schemeClr val="tx2"/>
                </a:solidFill>
              </a:rPr>
              <a:t>Part 2: Our choice for this course</a:t>
            </a:r>
            <a:endParaRPr lang="en-US" sz="1300" dirty="0"/>
          </a:p>
        </p:txBody>
      </p:sp>
      <p:sp>
        <p:nvSpPr>
          <p:cNvPr id="4" name="Text 0"/>
          <p:cNvSpPr/>
          <p:nvPr>
            <p:ph idx="100" type="title" hasCustomPrompt="1"/>
          </p:nvPr>
        </p:nvSpPr>
        <p:spPr>
          <a:xfrm>
            <a:off x="548640" y="749808"/>
            <a:ext cx="11091672" cy="713232"/>
          </a:xfrm>
          <a:prstGeom prst="rect">
            <a:avLst/>
          </a:prstGeom>
          <a:noFill/>
          <a:ln/>
        </p:spPr>
        <p:txBody>
          <a:bodyPr wrap="square" lIns="0" tIns="0" rIns="0" bIns="0" rtlCol="0" anchor="ctr"/>
          <a:lstStyle/>
          <a:p>
            <a:pPr algn="l" indent="0" marL="0">
              <a:buNone/>
            </a:pPr>
            <a:r>
              <a:rPr lang="en-US" sz="3600" b="1" dirty="0">
                <a:solidFill>
                  <a:schemeClr val="tx1"/>
                </a:solidFill>
              </a:rPr>
              <a:t>Why This Course Uses React Native</a:t>
            </a:r>
            <a:endParaRPr lang="en-US" sz="3600" dirty="0"/>
          </a:p>
        </p:txBody>
      </p:sp>
      <p:sp>
        <p:nvSpPr>
          <p:cNvPr id="5" name="Card"/>
          <p:cNvSpPr/>
          <p:nvPr/>
        </p:nvSpPr>
        <p:spPr>
          <a:xfrm>
            <a:off x="548640" y="1737360"/>
            <a:ext cx="2606040" cy="3154680"/>
          </a:xfrm>
          <a:prstGeom prst="roundRect">
            <a:avLst>
              <a:gd name="adj" fmla="val 4211"/>
            </a:avLst>
          </a:prstGeom>
          <a:solidFill>
            <a:schemeClr val="bg2"/>
          </a:solidFill>
          <a:ln/>
        </p:spPr>
      </p:sp>
      <p:sp>
        <p:nvSpPr>
          <p:cNvPr id="6" name="Icon circle"/>
          <p:cNvSpPr/>
          <p:nvPr/>
        </p:nvSpPr>
        <p:spPr>
          <a:xfrm>
            <a:off x="822960" y="2011680"/>
            <a:ext cx="640080" cy="640080"/>
          </a:xfrm>
          <a:prstGeom prst="ellipse">
            <a:avLst/>
          </a:prstGeom>
          <a:solidFill>
            <a:schemeClr val="accent1"/>
          </a:solidFill>
          <a:ln/>
        </p:spPr>
      </p:sp>
      <p:pic>
        <p:nvPicPr>
          <p:cNvPr id="7" name="Icon" descr="Icon">    </p:cNvPr>
          <p:cNvPicPr>
            <a:picLocks noChangeAspect="1"/>
          </p:cNvPicPr>
          <p:nvPr/>
        </p:nvPicPr>
        <p:blipFill>
          <a:blip r:embed="rId1"/>
          <a:stretch>
            <a:fillRect/>
          </a:stretch>
        </p:blipFill>
        <p:spPr>
          <a:xfrm>
            <a:off x="976579" y="2165299"/>
            <a:ext cx="332842" cy="332842"/>
          </a:xfrm>
          <a:prstGeom prst="rect">
            <a:avLst/>
          </a:prstGeom>
        </p:spPr>
      </p:pic>
      <p:sp>
        <p:nvSpPr>
          <p:cNvPr id="8" name="Text 5"/>
          <p:cNvSpPr txBox="1"/>
          <p:nvPr/>
        </p:nvSpPr>
        <p:spPr>
          <a:xfrm>
            <a:off x="822960" y="2788920"/>
            <a:ext cx="2148840" cy="685800"/>
          </a:xfrm>
          <a:prstGeom prst="rect">
            <a:avLst/>
          </a:prstGeom>
          <a:noFill/>
          <a:ln/>
        </p:spPr>
        <p:txBody>
          <a:bodyPr wrap="square" lIns="0" tIns="0" rIns="0" bIns="0" rtlCol="0" anchor="t"/>
          <a:lstStyle/>
          <a:p>
            <a:pPr indent="0" marL="0">
              <a:buNone/>
            </a:pPr>
            <a:r>
              <a:rPr lang="en-US" sz="1700" b="1" dirty="0">
                <a:solidFill>
                  <a:schemeClr val="tx1"/>
                </a:solidFill>
              </a:rPr>
              <a:t>You already know JavaScript</a:t>
            </a:r>
            <a:endParaRPr lang="en-US" sz="1700" dirty="0"/>
          </a:p>
        </p:txBody>
      </p:sp>
      <p:sp>
        <p:nvSpPr>
          <p:cNvPr id="9" name="Text 6"/>
          <p:cNvSpPr txBox="1"/>
          <p:nvPr/>
        </p:nvSpPr>
        <p:spPr>
          <a:xfrm>
            <a:off x="822960" y="3520440"/>
            <a:ext cx="2148840" cy="1234440"/>
          </a:xfrm>
          <a:prstGeom prst="rect">
            <a:avLst/>
          </a:prstGeom>
          <a:noFill/>
          <a:ln/>
        </p:spPr>
        <p:txBody>
          <a:bodyPr wrap="square" lIns="0" tIns="0" rIns="0" bIns="0" rtlCol="0" anchor="t"/>
          <a:lstStyle/>
          <a:p>
            <a:pPr indent="0" marL="0">
              <a:buNone/>
            </a:pPr>
            <a:r>
              <a:rPr lang="en-US" sz="1400" dirty="0">
                <a:solidFill>
                  <a:schemeClr val="tx1"/>
                </a:solidFill>
              </a:rPr>
              <a:t>React Native apps are written in JavaScript (or TypeScript), so you can start building right away.</a:t>
            </a:r>
            <a:endParaRPr lang="en-US" sz="1400" dirty="0"/>
          </a:p>
        </p:txBody>
      </p:sp>
      <p:sp>
        <p:nvSpPr>
          <p:cNvPr id="10" name="Card"/>
          <p:cNvSpPr/>
          <p:nvPr/>
        </p:nvSpPr>
        <p:spPr>
          <a:xfrm>
            <a:off x="3377184" y="1737360"/>
            <a:ext cx="2606040" cy="3154680"/>
          </a:xfrm>
          <a:prstGeom prst="roundRect">
            <a:avLst>
              <a:gd name="adj" fmla="val 4211"/>
            </a:avLst>
          </a:prstGeom>
          <a:solidFill>
            <a:schemeClr val="bg2"/>
          </a:solidFill>
          <a:ln/>
        </p:spPr>
      </p:sp>
      <p:sp>
        <p:nvSpPr>
          <p:cNvPr id="11" name="Icon circle"/>
          <p:cNvSpPr/>
          <p:nvPr/>
        </p:nvSpPr>
        <p:spPr>
          <a:xfrm>
            <a:off x="3651504" y="2011680"/>
            <a:ext cx="640080" cy="640080"/>
          </a:xfrm>
          <a:prstGeom prst="ellipse">
            <a:avLst/>
          </a:prstGeom>
          <a:solidFill>
            <a:schemeClr val="accent1"/>
          </a:solidFill>
          <a:ln/>
        </p:spPr>
      </p:sp>
      <p:pic>
        <p:nvPicPr>
          <p:cNvPr id="12" name="Icon" descr="Icon">    </p:cNvPr>
          <p:cNvPicPr>
            <a:picLocks noChangeAspect="1"/>
          </p:cNvPicPr>
          <p:nvPr/>
        </p:nvPicPr>
        <p:blipFill>
          <a:blip r:embed="rId2"/>
          <a:stretch>
            <a:fillRect/>
          </a:stretch>
        </p:blipFill>
        <p:spPr>
          <a:xfrm>
            <a:off x="3805123" y="2165299"/>
            <a:ext cx="332842" cy="332842"/>
          </a:xfrm>
          <a:prstGeom prst="rect">
            <a:avLst/>
          </a:prstGeom>
        </p:spPr>
      </p:pic>
      <p:sp>
        <p:nvSpPr>
          <p:cNvPr id="13" name="Text 9"/>
          <p:cNvSpPr txBox="1"/>
          <p:nvPr/>
        </p:nvSpPr>
        <p:spPr>
          <a:xfrm>
            <a:off x="3651504" y="2788920"/>
            <a:ext cx="2148840" cy="685800"/>
          </a:xfrm>
          <a:prstGeom prst="rect">
            <a:avLst/>
          </a:prstGeom>
          <a:noFill/>
          <a:ln/>
        </p:spPr>
        <p:txBody>
          <a:bodyPr wrap="square" lIns="0" tIns="0" rIns="0" bIns="0" rtlCol="0" anchor="t"/>
          <a:lstStyle/>
          <a:p>
            <a:pPr indent="0" marL="0">
              <a:buNone/>
            </a:pPr>
            <a:r>
              <a:rPr lang="en-US" sz="1700" b="1" dirty="0">
                <a:solidFill>
                  <a:schemeClr val="tx1"/>
                </a:solidFill>
              </a:rPr>
              <a:t>React skills work on the web too</a:t>
            </a:r>
            <a:endParaRPr lang="en-US" sz="1700" dirty="0"/>
          </a:p>
        </p:txBody>
      </p:sp>
      <p:sp>
        <p:nvSpPr>
          <p:cNvPr id="14" name="Text 10"/>
          <p:cNvSpPr txBox="1"/>
          <p:nvPr/>
        </p:nvSpPr>
        <p:spPr>
          <a:xfrm>
            <a:off x="3651504" y="3520440"/>
            <a:ext cx="2148840" cy="1234440"/>
          </a:xfrm>
          <a:prstGeom prst="rect">
            <a:avLst/>
          </a:prstGeom>
          <a:noFill/>
          <a:ln/>
        </p:spPr>
        <p:txBody>
          <a:bodyPr wrap="square" lIns="0" tIns="0" rIns="0" bIns="0" rtlCol="0" anchor="t"/>
          <a:lstStyle/>
          <a:p>
            <a:pPr indent="0" marL="0">
              <a:buNone/>
            </a:pPr>
            <a:r>
              <a:rPr lang="en-US" sz="1400" dirty="0">
                <a:solidFill>
                  <a:schemeClr val="tx1"/>
                </a:solidFill>
              </a:rPr>
              <a:t>Components, props, and state are the same ideas used to build React websites.</a:t>
            </a:r>
            <a:endParaRPr lang="en-US" sz="1400" dirty="0"/>
          </a:p>
        </p:txBody>
      </p:sp>
      <p:sp>
        <p:nvSpPr>
          <p:cNvPr id="15" name="Card"/>
          <p:cNvSpPr/>
          <p:nvPr/>
        </p:nvSpPr>
        <p:spPr>
          <a:xfrm>
            <a:off x="6205728" y="1737360"/>
            <a:ext cx="2606040" cy="3154680"/>
          </a:xfrm>
          <a:prstGeom prst="roundRect">
            <a:avLst>
              <a:gd name="adj" fmla="val 4211"/>
            </a:avLst>
          </a:prstGeom>
          <a:solidFill>
            <a:schemeClr val="bg2"/>
          </a:solidFill>
          <a:ln/>
        </p:spPr>
      </p:sp>
      <p:sp>
        <p:nvSpPr>
          <p:cNvPr id="16" name="Icon circle"/>
          <p:cNvSpPr/>
          <p:nvPr/>
        </p:nvSpPr>
        <p:spPr>
          <a:xfrm>
            <a:off x="6480048" y="2011680"/>
            <a:ext cx="640080" cy="640080"/>
          </a:xfrm>
          <a:prstGeom prst="ellipse">
            <a:avLst/>
          </a:prstGeom>
          <a:solidFill>
            <a:schemeClr val="accent1"/>
          </a:solidFill>
          <a:ln/>
        </p:spPr>
      </p:sp>
      <p:pic>
        <p:nvPicPr>
          <p:cNvPr id="17" name="Icon" descr="Icon">    </p:cNvPr>
          <p:cNvPicPr>
            <a:picLocks noChangeAspect="1"/>
          </p:cNvPicPr>
          <p:nvPr/>
        </p:nvPicPr>
        <p:blipFill>
          <a:blip r:embed="rId3"/>
          <a:stretch>
            <a:fillRect/>
          </a:stretch>
        </p:blipFill>
        <p:spPr>
          <a:xfrm>
            <a:off x="6633667" y="2165299"/>
            <a:ext cx="332842" cy="332842"/>
          </a:xfrm>
          <a:prstGeom prst="rect">
            <a:avLst/>
          </a:prstGeom>
        </p:spPr>
      </p:pic>
      <p:sp>
        <p:nvSpPr>
          <p:cNvPr id="18" name="Text 13"/>
          <p:cNvSpPr txBox="1"/>
          <p:nvPr/>
        </p:nvSpPr>
        <p:spPr>
          <a:xfrm>
            <a:off x="6480048" y="2788920"/>
            <a:ext cx="2148840" cy="685800"/>
          </a:xfrm>
          <a:prstGeom prst="rect">
            <a:avLst/>
          </a:prstGeom>
          <a:noFill/>
          <a:ln/>
        </p:spPr>
        <p:txBody>
          <a:bodyPr wrap="square" lIns="0" tIns="0" rIns="0" bIns="0" rtlCol="0" anchor="t"/>
          <a:lstStyle/>
          <a:p>
            <a:pPr indent="0" marL="0">
              <a:buNone/>
            </a:pPr>
            <a:r>
              <a:rPr lang="en-US" sz="1700" b="1" dirty="0">
                <a:solidFill>
                  <a:schemeClr val="tx1"/>
                </a:solidFill>
              </a:rPr>
              <a:t>Fast start with Expo</a:t>
            </a:r>
            <a:endParaRPr lang="en-US" sz="1700" dirty="0"/>
          </a:p>
        </p:txBody>
      </p:sp>
      <p:sp>
        <p:nvSpPr>
          <p:cNvPr id="19" name="Text 14"/>
          <p:cNvSpPr txBox="1"/>
          <p:nvPr/>
        </p:nvSpPr>
        <p:spPr>
          <a:xfrm>
            <a:off x="6480048" y="3520440"/>
            <a:ext cx="2148840" cy="1234440"/>
          </a:xfrm>
          <a:prstGeom prst="rect">
            <a:avLst/>
          </a:prstGeom>
          <a:noFill/>
          <a:ln/>
        </p:spPr>
        <p:txBody>
          <a:bodyPr wrap="square" lIns="0" tIns="0" rIns="0" bIns="0" rtlCol="0" anchor="t"/>
          <a:lstStyle/>
          <a:p>
            <a:pPr indent="0" marL="0">
              <a:buNone/>
            </a:pPr>
            <a:r>
              <a:rPr lang="en-US" sz="1400" dirty="0">
                <a:solidFill>
                  <a:schemeClr val="tx1"/>
                </a:solidFill>
              </a:rPr>
              <a:t>Test on your own phone with the free Expo Go app. No Android Studio needed to begin.</a:t>
            </a:r>
            <a:endParaRPr lang="en-US" sz="1400" dirty="0"/>
          </a:p>
        </p:txBody>
      </p:sp>
      <p:sp>
        <p:nvSpPr>
          <p:cNvPr id="20" name="Card"/>
          <p:cNvSpPr/>
          <p:nvPr/>
        </p:nvSpPr>
        <p:spPr>
          <a:xfrm>
            <a:off x="9034272" y="1737360"/>
            <a:ext cx="2606040" cy="3154680"/>
          </a:xfrm>
          <a:prstGeom prst="roundRect">
            <a:avLst>
              <a:gd name="adj" fmla="val 4211"/>
            </a:avLst>
          </a:prstGeom>
          <a:solidFill>
            <a:schemeClr val="bg2"/>
          </a:solidFill>
          <a:ln/>
        </p:spPr>
      </p:sp>
      <p:sp>
        <p:nvSpPr>
          <p:cNvPr id="21" name="Icon circle"/>
          <p:cNvSpPr/>
          <p:nvPr/>
        </p:nvSpPr>
        <p:spPr>
          <a:xfrm>
            <a:off x="9308592" y="2011680"/>
            <a:ext cx="640080" cy="640080"/>
          </a:xfrm>
          <a:prstGeom prst="ellipse">
            <a:avLst/>
          </a:prstGeom>
          <a:solidFill>
            <a:schemeClr val="accent1"/>
          </a:solidFill>
          <a:ln/>
        </p:spPr>
      </p:sp>
      <p:pic>
        <p:nvPicPr>
          <p:cNvPr id="22" name="Icon" descr="Icon">    </p:cNvPr>
          <p:cNvPicPr>
            <a:picLocks noChangeAspect="1"/>
          </p:cNvPicPr>
          <p:nvPr/>
        </p:nvPicPr>
        <p:blipFill>
          <a:blip r:embed="rId4"/>
          <a:stretch>
            <a:fillRect/>
          </a:stretch>
        </p:blipFill>
        <p:spPr>
          <a:xfrm>
            <a:off x="9462211" y="2165299"/>
            <a:ext cx="332842" cy="332842"/>
          </a:xfrm>
          <a:prstGeom prst="rect">
            <a:avLst/>
          </a:prstGeom>
        </p:spPr>
      </p:pic>
      <p:sp>
        <p:nvSpPr>
          <p:cNvPr id="23" name="Text 17"/>
          <p:cNvSpPr txBox="1"/>
          <p:nvPr/>
        </p:nvSpPr>
        <p:spPr>
          <a:xfrm>
            <a:off x="9308592" y="2788920"/>
            <a:ext cx="2148840" cy="685800"/>
          </a:xfrm>
          <a:prstGeom prst="rect">
            <a:avLst/>
          </a:prstGeom>
          <a:noFill/>
          <a:ln/>
        </p:spPr>
        <p:txBody>
          <a:bodyPr wrap="square" lIns="0" tIns="0" rIns="0" bIns="0" rtlCol="0" anchor="t"/>
          <a:lstStyle/>
          <a:p>
            <a:pPr indent="0" marL="0">
              <a:buNone/>
            </a:pPr>
            <a:r>
              <a:rPr lang="en-US" sz="1700" b="1" dirty="0">
                <a:solidFill>
                  <a:schemeClr val="tx1"/>
                </a:solidFill>
              </a:rPr>
              <a:t>Recommended by the official docs</a:t>
            </a:r>
            <a:endParaRPr lang="en-US" sz="1700" dirty="0"/>
          </a:p>
        </p:txBody>
      </p:sp>
      <p:sp>
        <p:nvSpPr>
          <p:cNvPr id="24" name="Text 18"/>
          <p:cNvSpPr txBox="1"/>
          <p:nvPr/>
        </p:nvSpPr>
        <p:spPr>
          <a:xfrm>
            <a:off x="9308592" y="3520440"/>
            <a:ext cx="2148840" cy="1234440"/>
          </a:xfrm>
          <a:prstGeom prst="rect">
            <a:avLst/>
          </a:prstGeom>
          <a:noFill/>
          <a:ln/>
        </p:spPr>
        <p:txBody>
          <a:bodyPr wrap="square" lIns="0" tIns="0" rIns="0" bIns="0" rtlCol="0" anchor="t"/>
          <a:lstStyle/>
          <a:p>
            <a:pPr indent="0" marL="0">
              <a:buNone/>
            </a:pPr>
            <a:r>
              <a:rPr lang="en-US" sz="1400" dirty="0">
                <a:solidFill>
                  <a:schemeClr val="tx1"/>
                </a:solidFill>
              </a:rPr>
              <a:t>The React Native docs recommend starting new apps with a framework such as Expo.</a:t>
            </a:r>
            <a:endParaRPr lang="en-US" sz="1400" dirty="0"/>
          </a:p>
        </p:txBody>
      </p:sp>
      <p:sp>
        <p:nvSpPr>
          <p:cNvPr id="25" name="Card"/>
          <p:cNvSpPr/>
          <p:nvPr/>
        </p:nvSpPr>
        <p:spPr>
          <a:xfrm>
            <a:off x="548640" y="5166360"/>
            <a:ext cx="11091672" cy="868680"/>
          </a:xfrm>
          <a:prstGeom prst="roundRect">
            <a:avLst>
              <a:gd name="adj" fmla="val 12632"/>
            </a:avLst>
          </a:prstGeom>
          <a:solidFill>
            <a:schemeClr val="bg2"/>
          </a:solidFill>
          <a:ln/>
        </p:spPr>
      </p:sp>
      <p:sp>
        <p:nvSpPr>
          <p:cNvPr id="26" name="Icon circle"/>
          <p:cNvSpPr/>
          <p:nvPr/>
        </p:nvSpPr>
        <p:spPr>
          <a:xfrm>
            <a:off x="777240" y="5349240"/>
            <a:ext cx="502920" cy="502920"/>
          </a:xfrm>
          <a:prstGeom prst="ellipse">
            <a:avLst/>
          </a:prstGeom>
          <a:solidFill>
            <a:schemeClr val="accent2"/>
          </a:solidFill>
          <a:ln/>
        </p:spPr>
      </p:sp>
      <p:pic>
        <p:nvPicPr>
          <p:cNvPr id="27" name="Icon" descr="Icon">    </p:cNvPr>
          <p:cNvPicPr>
            <a:picLocks noChangeAspect="1"/>
          </p:cNvPicPr>
          <p:nvPr/>
        </p:nvPicPr>
        <p:blipFill>
          <a:blip r:embed="rId5"/>
          <a:stretch>
            <a:fillRect/>
          </a:stretch>
        </p:blipFill>
        <p:spPr>
          <a:xfrm>
            <a:off x="897941" y="5469941"/>
            <a:ext cx="261518" cy="261518"/>
          </a:xfrm>
          <a:prstGeom prst="rect">
            <a:avLst/>
          </a:prstGeom>
        </p:spPr>
      </p:pic>
      <p:sp>
        <p:nvSpPr>
          <p:cNvPr id="28" name="Text 21"/>
          <p:cNvSpPr txBox="1"/>
          <p:nvPr/>
        </p:nvSpPr>
        <p:spPr>
          <a:xfrm>
            <a:off x="1463040" y="5212080"/>
            <a:ext cx="9966960" cy="777240"/>
          </a:xfrm>
          <a:prstGeom prst="rect">
            <a:avLst/>
          </a:prstGeom>
          <a:noFill/>
          <a:ln/>
        </p:spPr>
        <p:txBody>
          <a:bodyPr wrap="square" lIns="0" tIns="0" rIns="0" bIns="0" rtlCol="0" anchor="ctr"/>
          <a:lstStyle/>
          <a:p>
            <a:pPr indent="0" marL="0">
              <a:buNone/>
            </a:pPr>
            <a:r>
              <a:rPr lang="en-US" sz="1500" dirty="0">
                <a:solidFill>
                  <a:schemeClr val="tx1"/>
                </a:solidFill>
              </a:rPr>
              <a:t>Flutter is a great tool too. The ideas you learn here (UI built from components, state, and layout) will also help you learn Flutter later.</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ection tag"/>
          <p:cNvSpPr/>
          <p:nvPr/>
        </p:nvSpPr>
        <p:spPr>
          <a:xfrm>
            <a:off x="548640" y="365760"/>
            <a:ext cx="850392" cy="310896"/>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spc="150" kern="0" dirty="0">
                <a:solidFill>
                  <a:schemeClr val="bg1"/>
                </a:solidFill>
              </a:rPr>
              <a:t>THEORY</a:t>
            </a:r>
            <a:endParaRPr lang="en-US" sz="1100" dirty="0"/>
          </a:p>
        </p:txBody>
      </p:sp>
      <p:sp>
        <p:nvSpPr>
          <p:cNvPr id="3" name="Tag context"/>
          <p:cNvSpPr txBox="1"/>
          <p:nvPr/>
        </p:nvSpPr>
        <p:spPr>
          <a:xfrm>
            <a:off x="1581912" y="365760"/>
            <a:ext cx="10058400" cy="310896"/>
          </a:xfrm>
          <a:prstGeom prst="rect">
            <a:avLst/>
          </a:prstGeom>
          <a:noFill/>
          <a:ln/>
        </p:spPr>
        <p:txBody>
          <a:bodyPr wrap="square" lIns="0" tIns="0" rIns="0" bIns="0" rtlCol="0" anchor="ctr"/>
          <a:lstStyle/>
          <a:p>
            <a:pPr indent="0" marL="0">
              <a:buNone/>
            </a:pPr>
            <a:r>
              <a:rPr lang="en-US" sz="1300" dirty="0">
                <a:solidFill>
                  <a:schemeClr val="tx2"/>
                </a:solidFill>
              </a:rPr>
              <a:t>Part 3: React Native fundamentals</a:t>
            </a:r>
            <a:endParaRPr lang="en-US" sz="1300" dirty="0"/>
          </a:p>
        </p:txBody>
      </p:sp>
      <p:sp>
        <p:nvSpPr>
          <p:cNvPr id="4" name="Text 0"/>
          <p:cNvSpPr/>
          <p:nvPr>
            <p:ph idx="100" type="title" hasCustomPrompt="1"/>
          </p:nvPr>
        </p:nvSpPr>
        <p:spPr>
          <a:xfrm>
            <a:off x="548640" y="749808"/>
            <a:ext cx="11091672" cy="713232"/>
          </a:xfrm>
          <a:prstGeom prst="rect">
            <a:avLst/>
          </a:prstGeom>
          <a:noFill/>
          <a:ln/>
        </p:spPr>
        <p:txBody>
          <a:bodyPr wrap="square" lIns="0" tIns="0" rIns="0" bIns="0" rtlCol="0" anchor="ctr"/>
          <a:lstStyle/>
          <a:p>
            <a:pPr algn="l" indent="0" marL="0">
              <a:buNone/>
            </a:pPr>
            <a:r>
              <a:rPr lang="en-US" sz="3600" b="1" dirty="0">
                <a:solidFill>
                  <a:schemeClr val="tx1"/>
                </a:solidFill>
              </a:rPr>
              <a:t>What Is React Native?</a:t>
            </a:r>
            <a:endParaRPr lang="en-US" sz="3600" dirty="0"/>
          </a:p>
        </p:txBody>
      </p:sp>
      <p:sp>
        <p:nvSpPr>
          <p:cNvPr id="5" name="Icon circle"/>
          <p:cNvSpPr/>
          <p:nvPr/>
        </p:nvSpPr>
        <p:spPr>
          <a:xfrm>
            <a:off x="548640" y="1783080"/>
            <a:ext cx="502920" cy="502920"/>
          </a:xfrm>
          <a:prstGeom prst="ellipse">
            <a:avLst/>
          </a:prstGeom>
          <a:solidFill>
            <a:schemeClr val="accent1"/>
          </a:solidFill>
          <a:ln/>
        </p:spPr>
      </p:sp>
      <p:pic>
        <p:nvPicPr>
          <p:cNvPr id="6" name="Icon" descr="Icon">    </p:cNvPr>
          <p:cNvPicPr>
            <a:picLocks noChangeAspect="1"/>
          </p:cNvPicPr>
          <p:nvPr/>
        </p:nvPicPr>
        <p:blipFill>
          <a:blip r:embed="rId1"/>
          <a:stretch>
            <a:fillRect/>
          </a:stretch>
        </p:blipFill>
        <p:spPr>
          <a:xfrm>
            <a:off x="669341" y="1903781"/>
            <a:ext cx="261518" cy="261518"/>
          </a:xfrm>
          <a:prstGeom prst="rect">
            <a:avLst/>
          </a:prstGeom>
        </p:spPr>
      </p:pic>
      <p:sp>
        <p:nvSpPr>
          <p:cNvPr id="7" name="Text 4"/>
          <p:cNvSpPr txBox="1"/>
          <p:nvPr/>
        </p:nvSpPr>
        <p:spPr>
          <a:xfrm>
            <a:off x="1234440" y="1737360"/>
            <a:ext cx="4343400" cy="960120"/>
          </a:xfrm>
          <a:prstGeom prst="rect">
            <a:avLst/>
          </a:prstGeom>
          <a:noFill/>
          <a:ln/>
        </p:spPr>
        <p:txBody>
          <a:bodyPr wrap="square" lIns="0" tIns="0" rIns="0" bIns="0" rtlCol="0" anchor="t"/>
          <a:lstStyle/>
          <a:p>
            <a:pPr indent="0" marL="0">
              <a:buNone/>
            </a:pPr>
            <a:r>
              <a:rPr lang="en-US" sz="1600" dirty="0">
                <a:solidFill>
                  <a:schemeClr val="tx1"/>
                </a:solidFill>
              </a:rPr>
              <a:t>React Native is an open-source framework from Meta. It builds Android and iOS apps with JavaScript and React.</a:t>
            </a:r>
            <a:endParaRPr lang="en-US" sz="1600" dirty="0"/>
          </a:p>
        </p:txBody>
      </p:sp>
      <p:sp>
        <p:nvSpPr>
          <p:cNvPr id="8" name="Icon circle"/>
          <p:cNvSpPr/>
          <p:nvPr/>
        </p:nvSpPr>
        <p:spPr>
          <a:xfrm>
            <a:off x="548640" y="2880360"/>
            <a:ext cx="502920" cy="502920"/>
          </a:xfrm>
          <a:prstGeom prst="ellipse">
            <a:avLst/>
          </a:prstGeom>
          <a:solidFill>
            <a:schemeClr val="accent1"/>
          </a:solidFill>
          <a:ln/>
        </p:spPr>
      </p:sp>
      <p:pic>
        <p:nvPicPr>
          <p:cNvPr id="9" name="Icon" descr="Icon">    </p:cNvPr>
          <p:cNvPicPr>
            <a:picLocks noChangeAspect="1"/>
          </p:cNvPicPr>
          <p:nvPr/>
        </p:nvPicPr>
        <p:blipFill>
          <a:blip r:embed="rId2"/>
          <a:stretch>
            <a:fillRect/>
          </a:stretch>
        </p:blipFill>
        <p:spPr>
          <a:xfrm>
            <a:off x="669341" y="3001061"/>
            <a:ext cx="261518" cy="261518"/>
          </a:xfrm>
          <a:prstGeom prst="rect">
            <a:avLst/>
          </a:prstGeom>
        </p:spPr>
      </p:pic>
      <p:sp>
        <p:nvSpPr>
          <p:cNvPr id="10" name="Text 6"/>
          <p:cNvSpPr txBox="1"/>
          <p:nvPr/>
        </p:nvSpPr>
        <p:spPr>
          <a:xfrm>
            <a:off x="1234440" y="2834640"/>
            <a:ext cx="4343400" cy="960120"/>
          </a:xfrm>
          <a:prstGeom prst="rect">
            <a:avLst/>
          </a:prstGeom>
          <a:noFill/>
          <a:ln/>
        </p:spPr>
        <p:txBody>
          <a:bodyPr wrap="square" lIns="0" tIns="0" rIns="0" bIns="0" rtlCol="0" anchor="t"/>
          <a:lstStyle/>
          <a:p>
            <a:pPr indent="0" marL="0">
              <a:buNone/>
            </a:pPr>
            <a:r>
              <a:rPr lang="en-US" sz="1600" dirty="0">
                <a:solidFill>
                  <a:schemeClr val="tx1"/>
                </a:solidFill>
              </a:rPr>
              <a:t>You write components like </a:t>
            </a:r>
            <a:r>
              <a:rPr lang="en-US" sz="1600" dirty="0">
                <a:solidFill>
                  <a:schemeClr val="accent5"/>
                </a:solidFill>
                <a:latin typeface="Consolas" pitchFamily="34" charset="0"/>
                <a:ea typeface="Consolas" pitchFamily="34" charset="-122"/>
                <a:cs typeface="Consolas" pitchFamily="34" charset="-120"/>
              </a:rPr>
              <a:t>&lt;View&gt;</a:t>
            </a:r>
            <a:r>
              <a:rPr lang="en-US" sz="1600" dirty="0">
                <a:solidFill>
                  <a:schemeClr val="tx1"/>
                </a:solidFill>
              </a:rPr>
              <a:t> and </a:t>
            </a:r>
            <a:r>
              <a:rPr lang="en-US" sz="1600" dirty="0">
                <a:solidFill>
                  <a:schemeClr val="accent5"/>
                </a:solidFill>
                <a:latin typeface="Consolas" pitchFamily="34" charset="0"/>
                <a:ea typeface="Consolas" pitchFamily="34" charset="-122"/>
                <a:cs typeface="Consolas" pitchFamily="34" charset="-120"/>
              </a:rPr>
              <a:t>&lt;Text&gt;</a:t>
            </a:r>
            <a:r>
              <a:rPr lang="en-US" sz="1600" dirty="0">
                <a:solidFill>
                  <a:schemeClr val="tx1"/>
                </a:solidFill>
              </a:rPr>
              <a:t>. React Native turns them into real native UI elements on each phone.</a:t>
            </a:r>
            <a:endParaRPr lang="en-US" sz="1600" dirty="0"/>
          </a:p>
        </p:txBody>
      </p:sp>
      <p:sp>
        <p:nvSpPr>
          <p:cNvPr id="11" name="Icon circle"/>
          <p:cNvSpPr/>
          <p:nvPr/>
        </p:nvSpPr>
        <p:spPr>
          <a:xfrm>
            <a:off x="548640" y="3977640"/>
            <a:ext cx="502920" cy="502920"/>
          </a:xfrm>
          <a:prstGeom prst="ellipse">
            <a:avLst/>
          </a:prstGeom>
          <a:solidFill>
            <a:schemeClr val="accent1"/>
          </a:solidFill>
          <a:ln/>
        </p:spPr>
      </p:sp>
      <p:pic>
        <p:nvPicPr>
          <p:cNvPr id="12" name="Icon" descr="Icon">    </p:cNvPr>
          <p:cNvPicPr>
            <a:picLocks noChangeAspect="1"/>
          </p:cNvPicPr>
          <p:nvPr/>
        </p:nvPicPr>
        <p:blipFill>
          <a:blip r:embed="rId3"/>
          <a:stretch>
            <a:fillRect/>
          </a:stretch>
        </p:blipFill>
        <p:spPr>
          <a:xfrm>
            <a:off x="669341" y="4098341"/>
            <a:ext cx="261518" cy="261518"/>
          </a:xfrm>
          <a:prstGeom prst="rect">
            <a:avLst/>
          </a:prstGeom>
        </p:spPr>
      </p:pic>
      <p:sp>
        <p:nvSpPr>
          <p:cNvPr id="13" name="Text 8"/>
          <p:cNvSpPr txBox="1"/>
          <p:nvPr/>
        </p:nvSpPr>
        <p:spPr>
          <a:xfrm>
            <a:off x="1234440" y="3931920"/>
            <a:ext cx="4343400" cy="960120"/>
          </a:xfrm>
          <a:prstGeom prst="rect">
            <a:avLst/>
          </a:prstGeom>
          <a:noFill/>
          <a:ln/>
        </p:spPr>
        <p:txBody>
          <a:bodyPr wrap="square" lIns="0" tIns="0" rIns="0" bIns="0" rtlCol="0" anchor="t"/>
          <a:lstStyle/>
          <a:p>
            <a:pPr indent="0" marL="0">
              <a:buNone/>
            </a:pPr>
            <a:r>
              <a:rPr lang="en-US" sz="1600" dirty="0">
                <a:solidFill>
                  <a:schemeClr val="tx1"/>
                </a:solidFill>
              </a:rPr>
              <a:t>Expo is a framework and set of tools built on React Native. It makes it easy to create, run, and test apps.</a:t>
            </a:r>
            <a:endParaRPr lang="en-US" sz="1600" dirty="0"/>
          </a:p>
        </p:txBody>
      </p:sp>
      <p:sp>
        <p:nvSpPr>
          <p:cNvPr id="14" name="Icon circle"/>
          <p:cNvSpPr/>
          <p:nvPr/>
        </p:nvSpPr>
        <p:spPr>
          <a:xfrm>
            <a:off x="548640" y="5074920"/>
            <a:ext cx="502920" cy="502920"/>
          </a:xfrm>
          <a:prstGeom prst="ellipse">
            <a:avLst/>
          </a:prstGeom>
          <a:solidFill>
            <a:schemeClr val="accent1"/>
          </a:solidFill>
          <a:ln/>
        </p:spPr>
      </p:sp>
      <p:pic>
        <p:nvPicPr>
          <p:cNvPr id="15" name="Icon" descr="Icon">    </p:cNvPr>
          <p:cNvPicPr>
            <a:picLocks noChangeAspect="1"/>
          </p:cNvPicPr>
          <p:nvPr/>
        </p:nvPicPr>
        <p:blipFill>
          <a:blip r:embed="rId4"/>
          <a:stretch>
            <a:fillRect/>
          </a:stretch>
        </p:blipFill>
        <p:spPr>
          <a:xfrm>
            <a:off x="669341" y="5195621"/>
            <a:ext cx="261518" cy="261518"/>
          </a:xfrm>
          <a:prstGeom prst="rect">
            <a:avLst/>
          </a:prstGeom>
        </p:spPr>
      </p:pic>
      <p:sp>
        <p:nvSpPr>
          <p:cNvPr id="16" name="Text 10"/>
          <p:cNvSpPr txBox="1"/>
          <p:nvPr/>
        </p:nvSpPr>
        <p:spPr>
          <a:xfrm>
            <a:off x="1234440" y="5029200"/>
            <a:ext cx="4343400" cy="960120"/>
          </a:xfrm>
          <a:prstGeom prst="rect">
            <a:avLst/>
          </a:prstGeom>
          <a:noFill/>
          <a:ln/>
        </p:spPr>
        <p:txBody>
          <a:bodyPr wrap="square" lIns="0" tIns="0" rIns="0" bIns="0" rtlCol="0" anchor="t"/>
          <a:lstStyle/>
          <a:p>
            <a:pPr indent="0" marL="0">
              <a:buNone/>
            </a:pPr>
            <a:r>
              <a:rPr lang="en-US" sz="1600" dirty="0">
                <a:solidFill>
                  <a:schemeClr val="tx1"/>
                </a:solidFill>
              </a:rPr>
              <a:t>Fast Refresh shows your code changes on the phone a moment after you save.</a:t>
            </a:r>
            <a:endParaRPr lang="en-US" sz="1600" dirty="0"/>
          </a:p>
        </p:txBody>
      </p:sp>
      <p:sp>
        <p:nvSpPr>
          <p:cNvPr id="17" name="Your code box"/>
          <p:cNvSpPr/>
          <p:nvPr/>
        </p:nvSpPr>
        <p:spPr>
          <a:xfrm>
            <a:off x="5943600" y="1737360"/>
            <a:ext cx="1828800" cy="1234440"/>
          </a:xfrm>
          <a:prstGeom prst="roundRect">
            <a:avLst>
              <a:gd name="adj" fmla="val 5926"/>
            </a:avLst>
          </a:prstGeom>
          <a:solidFill>
            <a:schemeClr val="bg2"/>
          </a:solidFill>
          <a:ln w="12700">
            <a:solidFill>
              <a:schemeClr val="accent6"/>
            </a:solidFill>
          </a:ln>
        </p:spPr>
        <p:txBody>
          <a:bodyPr wrap="square" lIns="635" tIns="635" rIns="635" bIns="635" rtlCol="0" anchor="ctr"/>
          <a:lstStyle/>
          <a:p>
            <a:pPr algn="ctr" indent="0" marL="0">
              <a:buNone/>
            </a:pPr>
            <a:r>
              <a:rPr lang="en-US" sz="1400" b="1" dirty="0">
                <a:solidFill>
                  <a:schemeClr val="tx1"/>
                </a:solidFill>
              </a:rPr>
              <a:t>Your code</a:t>
            </a:r>
            <a:endParaRPr lang="en-US" sz="1400" dirty="0"/>
          </a:p>
          <a:p>
            <a:pPr algn="ctr" indent="0" marL="0">
              <a:buNone/>
            </a:pPr>
            <a:r>
              <a:rPr lang="en-US" sz="1400" dirty="0">
                <a:solidFill>
                  <a:schemeClr val="accent5"/>
                </a:solidFill>
                <a:latin typeface="Consolas" pitchFamily="34" charset="0"/>
                <a:ea typeface="Consolas" pitchFamily="34" charset="-122"/>
                <a:cs typeface="Consolas" pitchFamily="34" charset="-120"/>
              </a:rPr>
              <a:t>&lt;View&gt;  &lt;Text&gt;</a:t>
            </a:r>
            <a:endParaRPr lang="en-US" sz="1400" dirty="0"/>
          </a:p>
        </p:txBody>
      </p:sp>
      <p:sp>
        <p:nvSpPr>
          <p:cNvPr id="18" name="Arrow"/>
          <p:cNvSpPr/>
          <p:nvPr/>
        </p:nvSpPr>
        <p:spPr>
          <a:xfrm>
            <a:off x="7845552" y="2354580"/>
            <a:ext cx="384048" cy="914"/>
          </a:xfrm>
          <a:prstGeom prst="line">
            <a:avLst/>
          </a:prstGeom>
          <a:noFill/>
          <a:ln w="25400">
            <a:solidFill>
              <a:schemeClr val="tx2"/>
            </a:solidFill>
            <a:prstDash val="solid"/>
            <a:tailEnd type="triangle"/>
          </a:ln>
        </p:spPr>
      </p:sp>
      <p:sp>
        <p:nvSpPr>
          <p:cNvPr id="19" name="React Native box"/>
          <p:cNvSpPr/>
          <p:nvPr/>
        </p:nvSpPr>
        <p:spPr>
          <a:xfrm>
            <a:off x="8302752" y="1737360"/>
            <a:ext cx="1508760" cy="1234440"/>
          </a:xfrm>
          <a:prstGeom prst="roundRect">
            <a:avLst>
              <a:gd name="adj" fmla="val 5926"/>
            </a:avLst>
          </a:prstGeom>
          <a:solidFill>
            <a:schemeClr val="accent1"/>
          </a:solidFill>
          <a:ln/>
        </p:spPr>
        <p:txBody>
          <a:bodyPr wrap="square" lIns="635" tIns="635" rIns="635" bIns="635" rtlCol="0" anchor="ctr"/>
          <a:lstStyle/>
          <a:p>
            <a:pPr algn="ctr" indent="0" marL="0">
              <a:buNone/>
            </a:pPr>
            <a:r>
              <a:rPr lang="en-US" sz="1500" b="1" dirty="0">
                <a:solidFill>
                  <a:schemeClr val="bg1"/>
                </a:solidFill>
              </a:rPr>
              <a:t>React Native</a:t>
            </a:r>
            <a:endParaRPr lang="en-US" sz="1500" dirty="0"/>
          </a:p>
        </p:txBody>
      </p:sp>
      <p:sp>
        <p:nvSpPr>
          <p:cNvPr id="20" name="Arrow"/>
          <p:cNvSpPr/>
          <p:nvPr/>
        </p:nvSpPr>
        <p:spPr>
          <a:xfrm>
            <a:off x="9884664" y="2029968"/>
            <a:ext cx="265176" cy="914"/>
          </a:xfrm>
          <a:prstGeom prst="line">
            <a:avLst/>
          </a:prstGeom>
          <a:noFill/>
          <a:ln w="25400">
            <a:solidFill>
              <a:schemeClr val="tx2"/>
            </a:solidFill>
            <a:prstDash val="solid"/>
            <a:tailEnd type="triangle"/>
          </a:ln>
        </p:spPr>
      </p:sp>
      <p:sp>
        <p:nvSpPr>
          <p:cNvPr id="21" name="Arrow"/>
          <p:cNvSpPr/>
          <p:nvPr/>
        </p:nvSpPr>
        <p:spPr>
          <a:xfrm>
            <a:off x="9884664" y="2679192"/>
            <a:ext cx="265176" cy="914"/>
          </a:xfrm>
          <a:prstGeom prst="line">
            <a:avLst/>
          </a:prstGeom>
          <a:noFill/>
          <a:ln w="25400">
            <a:solidFill>
              <a:schemeClr val="tx2"/>
            </a:solidFill>
            <a:prstDash val="solid"/>
            <a:tailEnd type="triangle"/>
          </a:ln>
        </p:spPr>
      </p:sp>
      <p:sp>
        <p:nvSpPr>
          <p:cNvPr id="22" name="Android box"/>
          <p:cNvSpPr/>
          <p:nvPr/>
        </p:nvSpPr>
        <p:spPr>
          <a:xfrm>
            <a:off x="10222992" y="1737360"/>
            <a:ext cx="1417320" cy="566928"/>
          </a:xfrm>
          <a:prstGeom prst="roundRect">
            <a:avLst>
              <a:gd name="adj" fmla="val 12903"/>
            </a:avLst>
          </a:prstGeom>
          <a:solidFill>
            <a:schemeClr val="bg1"/>
          </a:solidFill>
          <a:ln w="12700">
            <a:solidFill>
              <a:schemeClr val="accent6"/>
            </a:solidFill>
          </a:ln>
        </p:spPr>
        <p:txBody>
          <a:bodyPr wrap="square" lIns="381" tIns="381" rIns="381" bIns="381" rtlCol="0" anchor="ctr"/>
          <a:lstStyle/>
          <a:p>
            <a:pPr algn="ctr" indent="0" marL="0">
              <a:buNone/>
            </a:pPr>
            <a:r>
              <a:rPr lang="en-US" sz="1200" b="1" dirty="0">
                <a:solidFill>
                  <a:schemeClr val="tx1"/>
                </a:solidFill>
              </a:rPr>
              <a:t>Android</a:t>
            </a:r>
            <a:r>
              <a:rPr lang="en-US" sz="1200" dirty="0">
                <a:solidFill>
                  <a:schemeClr val="tx1"/>
                </a:solidFill>
              </a:rPr>
              <a:t>  native views</a:t>
            </a:r>
            <a:endParaRPr lang="en-US" sz="1200" dirty="0"/>
          </a:p>
        </p:txBody>
      </p:sp>
      <p:sp>
        <p:nvSpPr>
          <p:cNvPr id="23" name="iOS box"/>
          <p:cNvSpPr/>
          <p:nvPr/>
        </p:nvSpPr>
        <p:spPr>
          <a:xfrm>
            <a:off x="10222992" y="2404872"/>
            <a:ext cx="1417320" cy="566928"/>
          </a:xfrm>
          <a:prstGeom prst="roundRect">
            <a:avLst>
              <a:gd name="adj" fmla="val 12903"/>
            </a:avLst>
          </a:prstGeom>
          <a:solidFill>
            <a:schemeClr val="bg1"/>
          </a:solidFill>
          <a:ln w="12700">
            <a:solidFill>
              <a:schemeClr val="accent6"/>
            </a:solidFill>
          </a:ln>
        </p:spPr>
        <p:txBody>
          <a:bodyPr wrap="square" lIns="381" tIns="381" rIns="381" bIns="381" rtlCol="0" anchor="ctr"/>
          <a:lstStyle/>
          <a:p>
            <a:pPr algn="ctr" indent="0" marL="0">
              <a:buNone/>
            </a:pPr>
            <a:r>
              <a:rPr lang="en-US" sz="1200" b="1" dirty="0">
                <a:solidFill>
                  <a:schemeClr val="tx1"/>
                </a:solidFill>
              </a:rPr>
              <a:t>iOS</a:t>
            </a:r>
            <a:r>
              <a:rPr lang="en-US" sz="1200" dirty="0">
                <a:solidFill>
                  <a:schemeClr val="tx1"/>
                </a:solidFill>
              </a:rPr>
              <a:t>  native views</a:t>
            </a:r>
            <a:endParaRPr lang="en-US" sz="1200" dirty="0"/>
          </a:p>
        </p:txBody>
      </p:sp>
      <p:graphicFrame>
        <p:nvGraphicFramePr>
          <p:cNvPr id="6" name="Native mapping table"/>
          <p:cNvGraphicFramePr>
            <a:graphicFrameLocks noGrp="1"/>
          </p:cNvGraphicFramePr>
          <p:nvPr>
            <p:extLst>
              <p:ext uri="{D42A27DB-BD31-4B8C-83A1-F6EECF244321}">
                <p14:modId xmlns:p14="http://schemas.microsoft.com/office/powerpoint/2010/main" val="1579011935"/>
              </p:ext>
            </p:extLst>
          </p:nvPr>
        </p:nvGraphicFramePr>
        <p:xfrm>
          <a:off x="5943600" y="3291840"/>
          <a:ext cx="5696712" cy="914400"/>
        </p:xfrm>
        <a:graphic>
          <a:graphicData uri="http://schemas.openxmlformats.org/drawingml/2006/table">
            <a:tbl>
              <a:tblPr/>
              <a:tblGrid>
                <a:gridCol w="1554480"/>
                <a:gridCol w="1325880"/>
                <a:gridCol w="1463040"/>
                <a:gridCol w="1353312"/>
              </a:tblGrid>
              <a:tr h="384048">
                <a:tc>
                  <a:txBody>
                    <a:bodyPr/>
                    <a:lstStyle/>
                    <a:p>
                      <a:pPr indent="0" marL="0">
                        <a:buNone/>
                      </a:pPr>
                      <a:r>
                        <a:rPr lang="en-US" sz="1300" b="1" dirty="0">
                          <a:solidFill>
                            <a:schemeClr val="bg1"/>
                          </a:solidFill>
                        </a:rPr>
                        <a:t>Component</a:t>
                      </a:r>
                      <a:endParaRPr lang="en-US" sz="1300" dirty="0"/>
                    </a:p>
                  </a:txBody>
                  <a:tcPr marL="91440" marR="91440" marT="36576" marB="36576" anchor="ctr">
                    <a:lnL w="12700" cap="flat" cmpd="sng" algn="ctr">
                      <a:solidFill>
                        <a:srgbClr val="F3F1F8"/>
                      </a:solidFill>
                      <a:prstDash val="solid"/>
                      <a:round/>
                      <a:headEnd type="none" w="med" len="med"/>
                      <a:tailEnd type="none" w="med" len="med"/>
                    </a:lnL>
                    <a:lnR w="12700" cap="flat" cmpd="sng" algn="ctr">
                      <a:solidFill>
                        <a:srgbClr val="F3F1F8"/>
                      </a:solidFill>
                      <a:prstDash val="solid"/>
                      <a:round/>
                      <a:headEnd type="none" w="med" len="med"/>
                      <a:tailEnd type="none" w="med" len="med"/>
                    </a:lnR>
                    <a:lnT w="12700" cap="flat" cmpd="sng" algn="ctr">
                      <a:solidFill>
                        <a:srgbClr val="F3F1F8"/>
                      </a:solidFill>
                      <a:prstDash val="solid"/>
                      <a:round/>
                      <a:headEnd type="none" w="med" len="med"/>
                      <a:tailEnd type="none" w="med" len="med"/>
                    </a:lnT>
                    <a:lnB w="12700" cap="flat" cmpd="sng" algn="ctr">
                      <a:solidFill>
                        <a:srgbClr val="F3F1F8"/>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Android</a:t>
                      </a:r>
                      <a:endParaRPr lang="en-US" sz="1300" dirty="0"/>
                    </a:p>
                  </a:txBody>
                  <a:tcPr marL="91440" marR="91440" marT="36576" marB="36576" anchor="ctr">
                    <a:lnL w="12700" cap="flat" cmpd="sng" algn="ctr">
                      <a:solidFill>
                        <a:srgbClr val="F3F1F8"/>
                      </a:solidFill>
                      <a:prstDash val="solid"/>
                      <a:round/>
                      <a:headEnd type="none" w="med" len="med"/>
                      <a:tailEnd type="none" w="med" len="med"/>
                    </a:lnL>
                    <a:lnR w="12700" cap="flat" cmpd="sng" algn="ctr">
                      <a:solidFill>
                        <a:srgbClr val="F3F1F8"/>
                      </a:solidFill>
                      <a:prstDash val="solid"/>
                      <a:round/>
                      <a:headEnd type="none" w="med" len="med"/>
                      <a:tailEnd type="none" w="med" len="med"/>
                    </a:lnR>
                    <a:lnT w="12700" cap="flat" cmpd="sng" algn="ctr">
                      <a:solidFill>
                        <a:srgbClr val="F3F1F8"/>
                      </a:solidFill>
                      <a:prstDash val="solid"/>
                      <a:round/>
                      <a:headEnd type="none" w="med" len="med"/>
                      <a:tailEnd type="none" w="med" len="med"/>
                    </a:lnT>
                    <a:lnB w="12700" cap="flat" cmpd="sng" algn="ctr">
                      <a:solidFill>
                        <a:srgbClr val="F3F1F8"/>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iOS</a:t>
                      </a:r>
                      <a:endParaRPr lang="en-US" sz="1300" dirty="0"/>
                    </a:p>
                  </a:txBody>
                  <a:tcPr marL="91440" marR="91440" marT="36576" marB="36576" anchor="ctr">
                    <a:lnL w="12700" cap="flat" cmpd="sng" algn="ctr">
                      <a:solidFill>
                        <a:srgbClr val="F3F1F8"/>
                      </a:solidFill>
                      <a:prstDash val="solid"/>
                      <a:round/>
                      <a:headEnd type="none" w="med" len="med"/>
                      <a:tailEnd type="none" w="med" len="med"/>
                    </a:lnL>
                    <a:lnR w="12700" cap="flat" cmpd="sng" algn="ctr">
                      <a:solidFill>
                        <a:srgbClr val="F3F1F8"/>
                      </a:solidFill>
                      <a:prstDash val="solid"/>
                      <a:round/>
                      <a:headEnd type="none" w="med" len="med"/>
                      <a:tailEnd type="none" w="med" len="med"/>
                    </a:lnR>
                    <a:lnT w="12700" cap="flat" cmpd="sng" algn="ctr">
                      <a:solidFill>
                        <a:srgbClr val="F3F1F8"/>
                      </a:solidFill>
                      <a:prstDash val="solid"/>
                      <a:round/>
                      <a:headEnd type="none" w="med" len="med"/>
                      <a:tailEnd type="none" w="med" len="med"/>
                    </a:lnT>
                    <a:lnB w="12700" cap="flat" cmpd="sng" algn="ctr">
                      <a:solidFill>
                        <a:srgbClr val="F3F1F8"/>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Web</a:t>
                      </a:r>
                      <a:endParaRPr lang="en-US" sz="1300" dirty="0"/>
                    </a:p>
                  </a:txBody>
                  <a:tcPr marL="91440" marR="91440" marT="36576" marB="36576" anchor="ctr">
                    <a:lnL w="12700" cap="flat" cmpd="sng" algn="ctr">
                      <a:solidFill>
                        <a:srgbClr val="F3F1F8"/>
                      </a:solidFill>
                      <a:prstDash val="solid"/>
                      <a:round/>
                      <a:headEnd type="none" w="med" len="med"/>
                      <a:tailEnd type="none" w="med" len="med"/>
                    </a:lnL>
                    <a:lnR w="12700" cap="flat" cmpd="sng" algn="ctr">
                      <a:solidFill>
                        <a:srgbClr val="F3F1F8"/>
                      </a:solidFill>
                      <a:prstDash val="solid"/>
                      <a:round/>
                      <a:headEnd type="none" w="med" len="med"/>
                      <a:tailEnd type="none" w="med" len="med"/>
                    </a:lnR>
                    <a:lnT w="12700" cap="flat" cmpd="sng" algn="ctr">
                      <a:solidFill>
                        <a:srgbClr val="F3F1F8"/>
                      </a:solidFill>
                      <a:prstDash val="solid"/>
                      <a:round/>
                      <a:headEnd type="none" w="med" len="med"/>
                      <a:tailEnd type="none" w="med" len="med"/>
                    </a:lnT>
                    <a:lnB w="12700" cap="flat" cmpd="sng" algn="ctr">
                      <a:solidFill>
                        <a:srgbClr val="F3F1F8"/>
                      </a:solidFill>
                      <a:prstDash val="solid"/>
                      <a:round/>
                      <a:headEnd type="none" w="med" len="med"/>
                      <a:tailEnd type="none" w="med" len="med"/>
                    </a:lnB>
                    <a:solidFill>
                      <a:schemeClr val="tx1"/>
                    </a:solidFill>
                  </a:tcPr>
                </a:tc>
              </a:tr>
              <a:tr h="384048">
                <a:tc>
                  <a:txBody>
                    <a:bodyPr/>
                    <a:lstStyle/>
                    <a:p>
                      <a:pPr indent="0" marL="0">
                        <a:buNone/>
                      </a:pPr>
                      <a:r>
                        <a:rPr lang="en-US" sz="1300" b="1" dirty="0">
                          <a:solidFill>
                            <a:schemeClr val="accent5"/>
                          </a:solidFill>
                          <a:latin typeface="Consolas" pitchFamily="34" charset="0"/>
                          <a:ea typeface="Consolas" pitchFamily="34" charset="-122"/>
                          <a:cs typeface="Consolas" pitchFamily="34" charset="-120"/>
                        </a:rPr>
                        <a:t>&lt;View&gt;</a:t>
                      </a:r>
                      <a:endParaRPr lang="en-US" sz="1300" dirty="0">
                        <a:latin typeface="Consolas" charset="0"/>
                        <a:ea typeface="Consolas" charset="0"/>
                        <a:cs typeface="Consolas" charset="0"/>
                      </a:endParaRPr>
                    </a:p>
                  </a:txBody>
                  <a:tcPr marL="91440" marR="91440" marT="36576" marB="36576" anchor="ctr">
                    <a:lnL w="12700" cap="flat" cmpd="sng" algn="ctr">
                      <a:solidFill>
                        <a:srgbClr val="F3F1F8"/>
                      </a:solidFill>
                      <a:prstDash val="solid"/>
                      <a:round/>
                      <a:headEnd type="none" w="med" len="med"/>
                      <a:tailEnd type="none" w="med" len="med"/>
                    </a:lnL>
                    <a:lnR w="12700" cap="flat" cmpd="sng" algn="ctr">
                      <a:solidFill>
                        <a:srgbClr val="F3F1F8"/>
                      </a:solidFill>
                      <a:prstDash val="solid"/>
                      <a:round/>
                      <a:headEnd type="none" w="med" len="med"/>
                      <a:tailEnd type="none" w="med" len="med"/>
                    </a:lnR>
                    <a:lnT w="12700" cap="flat" cmpd="sng" algn="ctr">
                      <a:solidFill>
                        <a:srgbClr val="F3F1F8"/>
                      </a:solidFill>
                      <a:prstDash val="solid"/>
                      <a:round/>
                      <a:headEnd type="none" w="med" len="med"/>
                      <a:tailEnd type="none" w="med" len="med"/>
                    </a:lnT>
                    <a:lnB w="12700" cap="flat" cmpd="sng" algn="ctr">
                      <a:solidFill>
                        <a:srgbClr val="F3F1F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onsolas" pitchFamily="34" charset="0"/>
                          <a:ea typeface="Consolas" pitchFamily="34" charset="-122"/>
                          <a:cs typeface="Consolas" pitchFamily="34" charset="-120"/>
                        </a:rPr>
                        <a:t>ViewGroup</a:t>
                      </a:r>
                      <a:endParaRPr lang="en-US" sz="1300" dirty="0">
                        <a:latin typeface="Consolas" charset="0"/>
                        <a:ea typeface="Consolas" charset="0"/>
                        <a:cs typeface="Consolas" charset="0"/>
                      </a:endParaRPr>
                    </a:p>
                  </a:txBody>
                  <a:tcPr marL="91440" marR="91440" marT="36576" marB="36576" anchor="ctr">
                    <a:lnL w="12700" cap="flat" cmpd="sng" algn="ctr">
                      <a:solidFill>
                        <a:srgbClr val="F3F1F8"/>
                      </a:solidFill>
                      <a:prstDash val="solid"/>
                      <a:round/>
                      <a:headEnd type="none" w="med" len="med"/>
                      <a:tailEnd type="none" w="med" len="med"/>
                    </a:lnL>
                    <a:lnR w="12700" cap="flat" cmpd="sng" algn="ctr">
                      <a:solidFill>
                        <a:srgbClr val="F3F1F8"/>
                      </a:solidFill>
                      <a:prstDash val="solid"/>
                      <a:round/>
                      <a:headEnd type="none" w="med" len="med"/>
                      <a:tailEnd type="none" w="med" len="med"/>
                    </a:lnR>
                    <a:lnT w="12700" cap="flat" cmpd="sng" algn="ctr">
                      <a:solidFill>
                        <a:srgbClr val="F3F1F8"/>
                      </a:solidFill>
                      <a:prstDash val="solid"/>
                      <a:round/>
                      <a:headEnd type="none" w="med" len="med"/>
                      <a:tailEnd type="none" w="med" len="med"/>
                    </a:lnT>
                    <a:lnB w="12700" cap="flat" cmpd="sng" algn="ctr">
                      <a:solidFill>
                        <a:srgbClr val="F3F1F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onsolas" pitchFamily="34" charset="0"/>
                          <a:ea typeface="Consolas" pitchFamily="34" charset="-122"/>
                          <a:cs typeface="Consolas" pitchFamily="34" charset="-120"/>
                        </a:rPr>
                        <a:t>UIView</a:t>
                      </a:r>
                      <a:endParaRPr lang="en-US" sz="1300" dirty="0">
                        <a:latin typeface="Consolas" charset="0"/>
                        <a:ea typeface="Consolas" charset="0"/>
                        <a:cs typeface="Consolas" charset="0"/>
                      </a:endParaRPr>
                    </a:p>
                  </a:txBody>
                  <a:tcPr marL="91440" marR="91440" marT="36576" marB="36576" anchor="ctr">
                    <a:lnL w="12700" cap="flat" cmpd="sng" algn="ctr">
                      <a:solidFill>
                        <a:srgbClr val="F3F1F8"/>
                      </a:solidFill>
                      <a:prstDash val="solid"/>
                      <a:round/>
                      <a:headEnd type="none" w="med" len="med"/>
                      <a:tailEnd type="none" w="med" len="med"/>
                    </a:lnL>
                    <a:lnR w="12700" cap="flat" cmpd="sng" algn="ctr">
                      <a:solidFill>
                        <a:srgbClr val="F3F1F8"/>
                      </a:solidFill>
                      <a:prstDash val="solid"/>
                      <a:round/>
                      <a:headEnd type="none" w="med" len="med"/>
                      <a:tailEnd type="none" w="med" len="med"/>
                    </a:lnR>
                    <a:lnT w="12700" cap="flat" cmpd="sng" algn="ctr">
                      <a:solidFill>
                        <a:srgbClr val="F3F1F8"/>
                      </a:solidFill>
                      <a:prstDash val="solid"/>
                      <a:round/>
                      <a:headEnd type="none" w="med" len="med"/>
                      <a:tailEnd type="none" w="med" len="med"/>
                    </a:lnT>
                    <a:lnB w="12700" cap="flat" cmpd="sng" algn="ctr">
                      <a:solidFill>
                        <a:srgbClr val="F3F1F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onsolas" pitchFamily="34" charset="0"/>
                          <a:ea typeface="Consolas" pitchFamily="34" charset="-122"/>
                          <a:cs typeface="Consolas" pitchFamily="34" charset="-120"/>
                        </a:rPr>
                        <a:t>&lt;div&gt;</a:t>
                      </a:r>
                      <a:endParaRPr lang="en-US" sz="1300" dirty="0">
                        <a:latin typeface="Consolas" charset="0"/>
                        <a:ea typeface="Consolas" charset="0"/>
                        <a:cs typeface="Consolas" charset="0"/>
                      </a:endParaRPr>
                    </a:p>
                  </a:txBody>
                  <a:tcPr marL="91440" marR="91440" marT="36576" marB="36576" anchor="ctr">
                    <a:lnL w="12700" cap="flat" cmpd="sng" algn="ctr">
                      <a:solidFill>
                        <a:srgbClr val="F3F1F8"/>
                      </a:solidFill>
                      <a:prstDash val="solid"/>
                      <a:round/>
                      <a:headEnd type="none" w="med" len="med"/>
                      <a:tailEnd type="none" w="med" len="med"/>
                    </a:lnL>
                    <a:lnR w="12700" cap="flat" cmpd="sng" algn="ctr">
                      <a:solidFill>
                        <a:srgbClr val="F3F1F8"/>
                      </a:solidFill>
                      <a:prstDash val="solid"/>
                      <a:round/>
                      <a:headEnd type="none" w="med" len="med"/>
                      <a:tailEnd type="none" w="med" len="med"/>
                    </a:lnR>
                    <a:lnT w="12700" cap="flat" cmpd="sng" algn="ctr">
                      <a:solidFill>
                        <a:srgbClr val="F3F1F8"/>
                      </a:solidFill>
                      <a:prstDash val="solid"/>
                      <a:round/>
                      <a:headEnd type="none" w="med" len="med"/>
                      <a:tailEnd type="none" w="med" len="med"/>
                    </a:lnT>
                    <a:lnB w="12700" cap="flat" cmpd="sng" algn="ctr">
                      <a:solidFill>
                        <a:srgbClr val="F3F1F8"/>
                      </a:solidFill>
                      <a:prstDash val="solid"/>
                      <a:round/>
                      <a:headEnd type="none" w="med" len="med"/>
                      <a:tailEnd type="none" w="med" len="med"/>
                    </a:lnB>
                    <a:solidFill>
                      <a:schemeClr val="bg1"/>
                    </a:solidFill>
                  </a:tcPr>
                </a:tc>
              </a:tr>
              <a:tr h="384048">
                <a:tc>
                  <a:txBody>
                    <a:bodyPr/>
                    <a:lstStyle/>
                    <a:p>
                      <a:pPr indent="0" marL="0">
                        <a:buNone/>
                      </a:pPr>
                      <a:r>
                        <a:rPr lang="en-US" sz="1300" b="1" dirty="0">
                          <a:solidFill>
                            <a:schemeClr val="accent5"/>
                          </a:solidFill>
                          <a:latin typeface="Consolas" pitchFamily="34" charset="0"/>
                          <a:ea typeface="Consolas" pitchFamily="34" charset="-122"/>
                          <a:cs typeface="Consolas" pitchFamily="34" charset="-120"/>
                        </a:rPr>
                        <a:t>&lt;Text&gt;</a:t>
                      </a:r>
                      <a:endParaRPr lang="en-US" sz="1300" dirty="0">
                        <a:latin typeface="Consolas" charset="0"/>
                        <a:ea typeface="Consolas" charset="0"/>
                        <a:cs typeface="Consolas" charset="0"/>
                      </a:endParaRPr>
                    </a:p>
                  </a:txBody>
                  <a:tcPr marL="91440" marR="91440" marT="36576" marB="36576" anchor="ctr">
                    <a:lnL w="12700" cap="flat" cmpd="sng" algn="ctr">
                      <a:solidFill>
                        <a:srgbClr val="F3F1F8"/>
                      </a:solidFill>
                      <a:prstDash val="solid"/>
                      <a:round/>
                      <a:headEnd type="none" w="med" len="med"/>
                      <a:tailEnd type="none" w="med" len="med"/>
                    </a:lnL>
                    <a:lnR w="12700" cap="flat" cmpd="sng" algn="ctr">
                      <a:solidFill>
                        <a:srgbClr val="F3F1F8"/>
                      </a:solidFill>
                      <a:prstDash val="solid"/>
                      <a:round/>
                      <a:headEnd type="none" w="med" len="med"/>
                      <a:tailEnd type="none" w="med" len="med"/>
                    </a:lnR>
                    <a:lnT w="12700" cap="flat" cmpd="sng" algn="ctr">
                      <a:solidFill>
                        <a:srgbClr val="F3F1F8"/>
                      </a:solidFill>
                      <a:prstDash val="solid"/>
                      <a:round/>
                      <a:headEnd type="none" w="med" len="med"/>
                      <a:tailEnd type="none" w="med" len="med"/>
                    </a:lnT>
                    <a:lnB w="12700" cap="flat" cmpd="sng" algn="ctr">
                      <a:solidFill>
                        <a:srgbClr val="F3F1F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onsolas" pitchFamily="34" charset="0"/>
                          <a:ea typeface="Consolas" pitchFamily="34" charset="-122"/>
                          <a:cs typeface="Consolas" pitchFamily="34" charset="-120"/>
                        </a:rPr>
                        <a:t>TextView</a:t>
                      </a:r>
                      <a:endParaRPr lang="en-US" sz="1300" dirty="0">
                        <a:latin typeface="Consolas" charset="0"/>
                        <a:ea typeface="Consolas" charset="0"/>
                        <a:cs typeface="Consolas" charset="0"/>
                      </a:endParaRPr>
                    </a:p>
                  </a:txBody>
                  <a:tcPr marL="91440" marR="91440" marT="36576" marB="36576" anchor="ctr">
                    <a:lnL w="12700" cap="flat" cmpd="sng" algn="ctr">
                      <a:solidFill>
                        <a:srgbClr val="F3F1F8"/>
                      </a:solidFill>
                      <a:prstDash val="solid"/>
                      <a:round/>
                      <a:headEnd type="none" w="med" len="med"/>
                      <a:tailEnd type="none" w="med" len="med"/>
                    </a:lnL>
                    <a:lnR w="12700" cap="flat" cmpd="sng" algn="ctr">
                      <a:solidFill>
                        <a:srgbClr val="F3F1F8"/>
                      </a:solidFill>
                      <a:prstDash val="solid"/>
                      <a:round/>
                      <a:headEnd type="none" w="med" len="med"/>
                      <a:tailEnd type="none" w="med" len="med"/>
                    </a:lnR>
                    <a:lnT w="12700" cap="flat" cmpd="sng" algn="ctr">
                      <a:solidFill>
                        <a:srgbClr val="F3F1F8"/>
                      </a:solidFill>
                      <a:prstDash val="solid"/>
                      <a:round/>
                      <a:headEnd type="none" w="med" len="med"/>
                      <a:tailEnd type="none" w="med" len="med"/>
                    </a:lnT>
                    <a:lnB w="12700" cap="flat" cmpd="sng" algn="ctr">
                      <a:solidFill>
                        <a:srgbClr val="F3F1F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onsolas" pitchFamily="34" charset="0"/>
                          <a:ea typeface="Consolas" pitchFamily="34" charset="-122"/>
                          <a:cs typeface="Consolas" pitchFamily="34" charset="-120"/>
                        </a:rPr>
                        <a:t>UITextView</a:t>
                      </a:r>
                      <a:endParaRPr lang="en-US" sz="1300" dirty="0">
                        <a:latin typeface="Consolas" charset="0"/>
                        <a:ea typeface="Consolas" charset="0"/>
                        <a:cs typeface="Consolas" charset="0"/>
                      </a:endParaRPr>
                    </a:p>
                  </a:txBody>
                  <a:tcPr marL="91440" marR="91440" marT="36576" marB="36576" anchor="ctr">
                    <a:lnL w="12700" cap="flat" cmpd="sng" algn="ctr">
                      <a:solidFill>
                        <a:srgbClr val="F3F1F8"/>
                      </a:solidFill>
                      <a:prstDash val="solid"/>
                      <a:round/>
                      <a:headEnd type="none" w="med" len="med"/>
                      <a:tailEnd type="none" w="med" len="med"/>
                    </a:lnL>
                    <a:lnR w="12700" cap="flat" cmpd="sng" algn="ctr">
                      <a:solidFill>
                        <a:srgbClr val="F3F1F8"/>
                      </a:solidFill>
                      <a:prstDash val="solid"/>
                      <a:round/>
                      <a:headEnd type="none" w="med" len="med"/>
                      <a:tailEnd type="none" w="med" len="med"/>
                    </a:lnR>
                    <a:lnT w="12700" cap="flat" cmpd="sng" algn="ctr">
                      <a:solidFill>
                        <a:srgbClr val="F3F1F8"/>
                      </a:solidFill>
                      <a:prstDash val="solid"/>
                      <a:round/>
                      <a:headEnd type="none" w="med" len="med"/>
                      <a:tailEnd type="none" w="med" len="med"/>
                    </a:lnT>
                    <a:lnB w="12700" cap="flat" cmpd="sng" algn="ctr">
                      <a:solidFill>
                        <a:srgbClr val="F3F1F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onsolas" pitchFamily="34" charset="0"/>
                          <a:ea typeface="Consolas" pitchFamily="34" charset="-122"/>
                          <a:cs typeface="Consolas" pitchFamily="34" charset="-120"/>
                        </a:rPr>
                        <a:t>&lt;p&gt;</a:t>
                      </a:r>
                      <a:endParaRPr lang="en-US" sz="1300" dirty="0">
                        <a:latin typeface="Consolas" charset="0"/>
                        <a:ea typeface="Consolas" charset="0"/>
                        <a:cs typeface="Consolas" charset="0"/>
                      </a:endParaRPr>
                    </a:p>
                  </a:txBody>
                  <a:tcPr marL="91440" marR="91440" marT="36576" marB="36576" anchor="ctr">
                    <a:lnL w="12700" cap="flat" cmpd="sng" algn="ctr">
                      <a:solidFill>
                        <a:srgbClr val="F3F1F8"/>
                      </a:solidFill>
                      <a:prstDash val="solid"/>
                      <a:round/>
                      <a:headEnd type="none" w="med" len="med"/>
                      <a:tailEnd type="none" w="med" len="med"/>
                    </a:lnL>
                    <a:lnR w="12700" cap="flat" cmpd="sng" algn="ctr">
                      <a:solidFill>
                        <a:srgbClr val="F3F1F8"/>
                      </a:solidFill>
                      <a:prstDash val="solid"/>
                      <a:round/>
                      <a:headEnd type="none" w="med" len="med"/>
                      <a:tailEnd type="none" w="med" len="med"/>
                    </a:lnR>
                    <a:lnT w="12700" cap="flat" cmpd="sng" algn="ctr">
                      <a:solidFill>
                        <a:srgbClr val="F3F1F8"/>
                      </a:solidFill>
                      <a:prstDash val="solid"/>
                      <a:round/>
                      <a:headEnd type="none" w="med" len="med"/>
                      <a:tailEnd type="none" w="med" len="med"/>
                    </a:lnT>
                    <a:lnB w="12700" cap="flat" cmpd="sng" algn="ctr">
                      <a:solidFill>
                        <a:srgbClr val="F3F1F8"/>
                      </a:solidFill>
                      <a:prstDash val="solid"/>
                      <a:round/>
                      <a:headEnd type="none" w="med" len="med"/>
                      <a:tailEnd type="none" w="med" len="med"/>
                    </a:lnB>
                    <a:solidFill>
                      <a:schemeClr val="bg1"/>
                    </a:solidFill>
                  </a:tcPr>
                </a:tc>
              </a:tr>
              <a:tr h="384048">
                <a:tc>
                  <a:txBody>
                    <a:bodyPr/>
                    <a:lstStyle/>
                    <a:p>
                      <a:pPr indent="0" marL="0">
                        <a:buNone/>
                      </a:pPr>
                      <a:r>
                        <a:rPr lang="en-US" sz="1300" b="1" dirty="0">
                          <a:solidFill>
                            <a:schemeClr val="accent5"/>
                          </a:solidFill>
                          <a:latin typeface="Consolas" pitchFamily="34" charset="0"/>
                          <a:ea typeface="Consolas" pitchFamily="34" charset="-122"/>
                          <a:cs typeface="Consolas" pitchFamily="34" charset="-120"/>
                        </a:rPr>
                        <a:t>&lt;Image&gt;</a:t>
                      </a:r>
                      <a:endParaRPr lang="en-US" sz="1300" dirty="0">
                        <a:latin typeface="Consolas" charset="0"/>
                        <a:ea typeface="Consolas" charset="0"/>
                        <a:cs typeface="Consolas" charset="0"/>
                      </a:endParaRPr>
                    </a:p>
                  </a:txBody>
                  <a:tcPr marL="91440" marR="91440" marT="36576" marB="36576" anchor="ctr">
                    <a:lnL w="12700" cap="flat" cmpd="sng" algn="ctr">
                      <a:solidFill>
                        <a:srgbClr val="F3F1F8"/>
                      </a:solidFill>
                      <a:prstDash val="solid"/>
                      <a:round/>
                      <a:headEnd type="none" w="med" len="med"/>
                      <a:tailEnd type="none" w="med" len="med"/>
                    </a:lnL>
                    <a:lnR w="12700" cap="flat" cmpd="sng" algn="ctr">
                      <a:solidFill>
                        <a:srgbClr val="F3F1F8"/>
                      </a:solidFill>
                      <a:prstDash val="solid"/>
                      <a:round/>
                      <a:headEnd type="none" w="med" len="med"/>
                      <a:tailEnd type="none" w="med" len="med"/>
                    </a:lnR>
                    <a:lnT w="12700" cap="flat" cmpd="sng" algn="ctr">
                      <a:solidFill>
                        <a:srgbClr val="F3F1F8"/>
                      </a:solidFill>
                      <a:prstDash val="solid"/>
                      <a:round/>
                      <a:headEnd type="none" w="med" len="med"/>
                      <a:tailEnd type="none" w="med" len="med"/>
                    </a:lnT>
                    <a:lnB w="12700" cap="flat" cmpd="sng" algn="ctr">
                      <a:solidFill>
                        <a:srgbClr val="F3F1F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onsolas" pitchFamily="34" charset="0"/>
                          <a:ea typeface="Consolas" pitchFamily="34" charset="-122"/>
                          <a:cs typeface="Consolas" pitchFamily="34" charset="-120"/>
                        </a:rPr>
                        <a:t>ImageView</a:t>
                      </a:r>
                      <a:endParaRPr lang="en-US" sz="1300" dirty="0">
                        <a:latin typeface="Consolas" charset="0"/>
                        <a:ea typeface="Consolas" charset="0"/>
                        <a:cs typeface="Consolas" charset="0"/>
                      </a:endParaRPr>
                    </a:p>
                  </a:txBody>
                  <a:tcPr marL="91440" marR="91440" marT="36576" marB="36576" anchor="ctr">
                    <a:lnL w="12700" cap="flat" cmpd="sng" algn="ctr">
                      <a:solidFill>
                        <a:srgbClr val="F3F1F8"/>
                      </a:solidFill>
                      <a:prstDash val="solid"/>
                      <a:round/>
                      <a:headEnd type="none" w="med" len="med"/>
                      <a:tailEnd type="none" w="med" len="med"/>
                    </a:lnL>
                    <a:lnR w="12700" cap="flat" cmpd="sng" algn="ctr">
                      <a:solidFill>
                        <a:srgbClr val="F3F1F8"/>
                      </a:solidFill>
                      <a:prstDash val="solid"/>
                      <a:round/>
                      <a:headEnd type="none" w="med" len="med"/>
                      <a:tailEnd type="none" w="med" len="med"/>
                    </a:lnR>
                    <a:lnT w="12700" cap="flat" cmpd="sng" algn="ctr">
                      <a:solidFill>
                        <a:srgbClr val="F3F1F8"/>
                      </a:solidFill>
                      <a:prstDash val="solid"/>
                      <a:round/>
                      <a:headEnd type="none" w="med" len="med"/>
                      <a:tailEnd type="none" w="med" len="med"/>
                    </a:lnT>
                    <a:lnB w="12700" cap="flat" cmpd="sng" algn="ctr">
                      <a:solidFill>
                        <a:srgbClr val="F3F1F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onsolas" pitchFamily="34" charset="0"/>
                          <a:ea typeface="Consolas" pitchFamily="34" charset="-122"/>
                          <a:cs typeface="Consolas" pitchFamily="34" charset="-120"/>
                        </a:rPr>
                        <a:t>UIImageView</a:t>
                      </a:r>
                      <a:endParaRPr lang="en-US" sz="1300" dirty="0">
                        <a:latin typeface="Consolas" charset="0"/>
                        <a:ea typeface="Consolas" charset="0"/>
                        <a:cs typeface="Consolas" charset="0"/>
                      </a:endParaRPr>
                    </a:p>
                  </a:txBody>
                  <a:tcPr marL="91440" marR="91440" marT="36576" marB="36576" anchor="ctr">
                    <a:lnL w="12700" cap="flat" cmpd="sng" algn="ctr">
                      <a:solidFill>
                        <a:srgbClr val="F3F1F8"/>
                      </a:solidFill>
                      <a:prstDash val="solid"/>
                      <a:round/>
                      <a:headEnd type="none" w="med" len="med"/>
                      <a:tailEnd type="none" w="med" len="med"/>
                    </a:lnL>
                    <a:lnR w="12700" cap="flat" cmpd="sng" algn="ctr">
                      <a:solidFill>
                        <a:srgbClr val="F3F1F8"/>
                      </a:solidFill>
                      <a:prstDash val="solid"/>
                      <a:round/>
                      <a:headEnd type="none" w="med" len="med"/>
                      <a:tailEnd type="none" w="med" len="med"/>
                    </a:lnR>
                    <a:lnT w="12700" cap="flat" cmpd="sng" algn="ctr">
                      <a:solidFill>
                        <a:srgbClr val="F3F1F8"/>
                      </a:solidFill>
                      <a:prstDash val="solid"/>
                      <a:round/>
                      <a:headEnd type="none" w="med" len="med"/>
                      <a:tailEnd type="none" w="med" len="med"/>
                    </a:lnT>
                    <a:lnB w="12700" cap="flat" cmpd="sng" algn="ctr">
                      <a:solidFill>
                        <a:srgbClr val="F3F1F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onsolas" pitchFamily="34" charset="0"/>
                          <a:ea typeface="Consolas" pitchFamily="34" charset="-122"/>
                          <a:cs typeface="Consolas" pitchFamily="34" charset="-120"/>
                        </a:rPr>
                        <a:t>&lt;img&gt;</a:t>
                      </a:r>
                      <a:endParaRPr lang="en-US" sz="1300" dirty="0">
                        <a:latin typeface="Consolas" charset="0"/>
                        <a:ea typeface="Consolas" charset="0"/>
                        <a:cs typeface="Consolas" charset="0"/>
                      </a:endParaRPr>
                    </a:p>
                  </a:txBody>
                  <a:tcPr marL="91440" marR="91440" marT="36576" marB="36576" anchor="ctr">
                    <a:lnL w="12700" cap="flat" cmpd="sng" algn="ctr">
                      <a:solidFill>
                        <a:srgbClr val="F3F1F8"/>
                      </a:solidFill>
                      <a:prstDash val="solid"/>
                      <a:round/>
                      <a:headEnd type="none" w="med" len="med"/>
                      <a:tailEnd type="none" w="med" len="med"/>
                    </a:lnL>
                    <a:lnR w="12700" cap="flat" cmpd="sng" algn="ctr">
                      <a:solidFill>
                        <a:srgbClr val="F3F1F8"/>
                      </a:solidFill>
                      <a:prstDash val="solid"/>
                      <a:round/>
                      <a:headEnd type="none" w="med" len="med"/>
                      <a:tailEnd type="none" w="med" len="med"/>
                    </a:lnR>
                    <a:lnT w="12700" cap="flat" cmpd="sng" algn="ctr">
                      <a:solidFill>
                        <a:srgbClr val="F3F1F8"/>
                      </a:solidFill>
                      <a:prstDash val="solid"/>
                      <a:round/>
                      <a:headEnd type="none" w="med" len="med"/>
                      <a:tailEnd type="none" w="med" len="med"/>
                    </a:lnT>
                    <a:lnB w="12700" cap="flat" cmpd="sng" algn="ctr">
                      <a:solidFill>
                        <a:srgbClr val="F3F1F8"/>
                      </a:solidFill>
                      <a:prstDash val="solid"/>
                      <a:round/>
                      <a:headEnd type="none" w="med" len="med"/>
                      <a:tailEnd type="none" w="med" len="med"/>
                    </a:lnB>
                    <a:solidFill>
                      <a:schemeClr val="bg1"/>
                    </a:solidFill>
                  </a:tcPr>
                </a:tc>
              </a:tr>
              <a:tr h="384048">
                <a:tc>
                  <a:txBody>
                    <a:bodyPr/>
                    <a:lstStyle/>
                    <a:p>
                      <a:pPr indent="0" marL="0">
                        <a:buNone/>
                      </a:pPr>
                      <a:r>
                        <a:rPr lang="en-US" sz="1300" b="1" dirty="0">
                          <a:solidFill>
                            <a:schemeClr val="accent5"/>
                          </a:solidFill>
                          <a:latin typeface="Consolas" pitchFamily="34" charset="0"/>
                          <a:ea typeface="Consolas" pitchFamily="34" charset="-122"/>
                          <a:cs typeface="Consolas" pitchFamily="34" charset="-120"/>
                        </a:rPr>
                        <a:t>&lt;TextInput&gt;</a:t>
                      </a:r>
                      <a:endParaRPr lang="en-US" sz="1300" dirty="0">
                        <a:latin typeface="Consolas" charset="0"/>
                        <a:ea typeface="Consolas" charset="0"/>
                        <a:cs typeface="Consolas" charset="0"/>
                      </a:endParaRPr>
                    </a:p>
                  </a:txBody>
                  <a:tcPr marL="91440" marR="91440" marT="36576" marB="36576" anchor="ctr">
                    <a:lnL w="12700" cap="flat" cmpd="sng" algn="ctr">
                      <a:solidFill>
                        <a:srgbClr val="F3F1F8"/>
                      </a:solidFill>
                      <a:prstDash val="solid"/>
                      <a:round/>
                      <a:headEnd type="none" w="med" len="med"/>
                      <a:tailEnd type="none" w="med" len="med"/>
                    </a:lnL>
                    <a:lnR w="12700" cap="flat" cmpd="sng" algn="ctr">
                      <a:solidFill>
                        <a:srgbClr val="F3F1F8"/>
                      </a:solidFill>
                      <a:prstDash val="solid"/>
                      <a:round/>
                      <a:headEnd type="none" w="med" len="med"/>
                      <a:tailEnd type="none" w="med" len="med"/>
                    </a:lnR>
                    <a:lnT w="12700" cap="flat" cmpd="sng" algn="ctr">
                      <a:solidFill>
                        <a:srgbClr val="F3F1F8"/>
                      </a:solidFill>
                      <a:prstDash val="solid"/>
                      <a:round/>
                      <a:headEnd type="none" w="med" len="med"/>
                      <a:tailEnd type="none" w="med" len="med"/>
                    </a:lnT>
                    <a:lnB w="12700" cap="flat" cmpd="sng" algn="ctr">
                      <a:solidFill>
                        <a:srgbClr val="F3F1F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onsolas" pitchFamily="34" charset="0"/>
                          <a:ea typeface="Consolas" pitchFamily="34" charset="-122"/>
                          <a:cs typeface="Consolas" pitchFamily="34" charset="-120"/>
                        </a:rPr>
                        <a:t>EditText</a:t>
                      </a:r>
                      <a:endParaRPr lang="en-US" sz="1300" dirty="0">
                        <a:latin typeface="Consolas" charset="0"/>
                        <a:ea typeface="Consolas" charset="0"/>
                        <a:cs typeface="Consolas" charset="0"/>
                      </a:endParaRPr>
                    </a:p>
                  </a:txBody>
                  <a:tcPr marL="91440" marR="91440" marT="36576" marB="36576" anchor="ctr">
                    <a:lnL w="12700" cap="flat" cmpd="sng" algn="ctr">
                      <a:solidFill>
                        <a:srgbClr val="F3F1F8"/>
                      </a:solidFill>
                      <a:prstDash val="solid"/>
                      <a:round/>
                      <a:headEnd type="none" w="med" len="med"/>
                      <a:tailEnd type="none" w="med" len="med"/>
                    </a:lnL>
                    <a:lnR w="12700" cap="flat" cmpd="sng" algn="ctr">
                      <a:solidFill>
                        <a:srgbClr val="F3F1F8"/>
                      </a:solidFill>
                      <a:prstDash val="solid"/>
                      <a:round/>
                      <a:headEnd type="none" w="med" len="med"/>
                      <a:tailEnd type="none" w="med" len="med"/>
                    </a:lnR>
                    <a:lnT w="12700" cap="flat" cmpd="sng" algn="ctr">
                      <a:solidFill>
                        <a:srgbClr val="F3F1F8"/>
                      </a:solidFill>
                      <a:prstDash val="solid"/>
                      <a:round/>
                      <a:headEnd type="none" w="med" len="med"/>
                      <a:tailEnd type="none" w="med" len="med"/>
                    </a:lnT>
                    <a:lnB w="12700" cap="flat" cmpd="sng" algn="ctr">
                      <a:solidFill>
                        <a:srgbClr val="F3F1F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onsolas" pitchFamily="34" charset="0"/>
                          <a:ea typeface="Consolas" pitchFamily="34" charset="-122"/>
                          <a:cs typeface="Consolas" pitchFamily="34" charset="-120"/>
                        </a:rPr>
                        <a:t>UITextField</a:t>
                      </a:r>
                      <a:endParaRPr lang="en-US" sz="1300" dirty="0">
                        <a:latin typeface="Consolas" charset="0"/>
                        <a:ea typeface="Consolas" charset="0"/>
                        <a:cs typeface="Consolas" charset="0"/>
                      </a:endParaRPr>
                    </a:p>
                  </a:txBody>
                  <a:tcPr marL="91440" marR="91440" marT="36576" marB="36576" anchor="ctr">
                    <a:lnL w="12700" cap="flat" cmpd="sng" algn="ctr">
                      <a:solidFill>
                        <a:srgbClr val="F3F1F8"/>
                      </a:solidFill>
                      <a:prstDash val="solid"/>
                      <a:round/>
                      <a:headEnd type="none" w="med" len="med"/>
                      <a:tailEnd type="none" w="med" len="med"/>
                    </a:lnL>
                    <a:lnR w="12700" cap="flat" cmpd="sng" algn="ctr">
                      <a:solidFill>
                        <a:srgbClr val="F3F1F8"/>
                      </a:solidFill>
                      <a:prstDash val="solid"/>
                      <a:round/>
                      <a:headEnd type="none" w="med" len="med"/>
                      <a:tailEnd type="none" w="med" len="med"/>
                    </a:lnR>
                    <a:lnT w="12700" cap="flat" cmpd="sng" algn="ctr">
                      <a:solidFill>
                        <a:srgbClr val="F3F1F8"/>
                      </a:solidFill>
                      <a:prstDash val="solid"/>
                      <a:round/>
                      <a:headEnd type="none" w="med" len="med"/>
                      <a:tailEnd type="none" w="med" len="med"/>
                    </a:lnT>
                    <a:lnB w="12700" cap="flat" cmpd="sng" algn="ctr">
                      <a:solidFill>
                        <a:srgbClr val="F3F1F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onsolas" pitchFamily="34" charset="0"/>
                          <a:ea typeface="Consolas" pitchFamily="34" charset="-122"/>
                          <a:cs typeface="Consolas" pitchFamily="34" charset="-120"/>
                        </a:rPr>
                        <a:t>&lt;input&gt;</a:t>
                      </a:r>
                      <a:endParaRPr lang="en-US" sz="1300" dirty="0">
                        <a:latin typeface="Consolas" charset="0"/>
                        <a:ea typeface="Consolas" charset="0"/>
                        <a:cs typeface="Consolas" charset="0"/>
                      </a:endParaRPr>
                    </a:p>
                  </a:txBody>
                  <a:tcPr marL="91440" marR="91440" marT="36576" marB="36576" anchor="ctr">
                    <a:lnL w="12700" cap="flat" cmpd="sng" algn="ctr">
                      <a:solidFill>
                        <a:srgbClr val="F3F1F8"/>
                      </a:solidFill>
                      <a:prstDash val="solid"/>
                      <a:round/>
                      <a:headEnd type="none" w="med" len="med"/>
                      <a:tailEnd type="none" w="med" len="med"/>
                    </a:lnL>
                    <a:lnR w="12700" cap="flat" cmpd="sng" algn="ctr">
                      <a:solidFill>
                        <a:srgbClr val="F3F1F8"/>
                      </a:solidFill>
                      <a:prstDash val="solid"/>
                      <a:round/>
                      <a:headEnd type="none" w="med" len="med"/>
                      <a:tailEnd type="none" w="med" len="med"/>
                    </a:lnR>
                    <a:lnT w="12700" cap="flat" cmpd="sng" algn="ctr">
                      <a:solidFill>
                        <a:srgbClr val="F3F1F8"/>
                      </a:solidFill>
                      <a:prstDash val="solid"/>
                      <a:round/>
                      <a:headEnd type="none" w="med" len="med"/>
                      <a:tailEnd type="none" w="med" len="med"/>
                    </a:lnT>
                    <a:lnB w="12700" cap="flat" cmpd="sng" algn="ctr">
                      <a:solidFill>
                        <a:srgbClr val="F3F1F8"/>
                      </a:solidFill>
                      <a:prstDash val="solid"/>
                      <a:round/>
                      <a:headEnd type="none" w="med" len="med"/>
                      <a:tailEnd type="none" w="med" len="med"/>
                    </a:lnB>
                    <a:solidFill>
                      <a:schemeClr val="bg1"/>
                    </a:solidFill>
                  </a:tcPr>
                </a:tc>
              </a:tr>
            </a:tbl>
          </a:graphicData>
        </a:graphic>
      </p:graphicFrame>
      <p:sp>
        <p:nvSpPr>
          <p:cNvPr id="25" name="Text 18"/>
          <p:cNvSpPr txBox="1"/>
          <p:nvPr/>
        </p:nvSpPr>
        <p:spPr>
          <a:xfrm>
            <a:off x="5943600" y="5349240"/>
            <a:ext cx="5696712" cy="548640"/>
          </a:xfrm>
          <a:prstGeom prst="rect">
            <a:avLst/>
          </a:prstGeom>
          <a:noFill/>
          <a:ln/>
        </p:spPr>
        <p:txBody>
          <a:bodyPr wrap="square" lIns="0" tIns="0" rIns="0" bIns="0" rtlCol="0" anchor="t"/>
          <a:lstStyle/>
          <a:p>
            <a:pPr indent="0" marL="0">
              <a:buNone/>
            </a:pPr>
            <a:r>
              <a:rPr lang="en-US" sz="1200" dirty="0">
                <a:solidFill>
                  <a:schemeClr val="tx2"/>
                </a:solidFill>
              </a:rPr>
              <a:t>Same component, real native view on each platform. Based on the React Native docs page “Core Components and Native Components”.</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ection tag"/>
          <p:cNvSpPr/>
          <p:nvPr/>
        </p:nvSpPr>
        <p:spPr>
          <a:xfrm>
            <a:off x="548640" y="365760"/>
            <a:ext cx="850392" cy="310896"/>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spc="150" kern="0" dirty="0">
                <a:solidFill>
                  <a:schemeClr val="bg1"/>
                </a:solidFill>
              </a:rPr>
              <a:t>THEORY</a:t>
            </a:r>
            <a:endParaRPr lang="en-US" sz="1100" dirty="0"/>
          </a:p>
        </p:txBody>
      </p:sp>
      <p:sp>
        <p:nvSpPr>
          <p:cNvPr id="3" name="Tag context"/>
          <p:cNvSpPr txBox="1"/>
          <p:nvPr/>
        </p:nvSpPr>
        <p:spPr>
          <a:xfrm>
            <a:off x="1581912" y="365760"/>
            <a:ext cx="10058400" cy="310896"/>
          </a:xfrm>
          <a:prstGeom prst="rect">
            <a:avLst/>
          </a:prstGeom>
          <a:noFill/>
          <a:ln/>
        </p:spPr>
        <p:txBody>
          <a:bodyPr wrap="square" lIns="0" tIns="0" rIns="0" bIns="0" rtlCol="0" anchor="ctr"/>
          <a:lstStyle/>
          <a:p>
            <a:pPr indent="0" marL="0">
              <a:buNone/>
            </a:pPr>
            <a:r>
              <a:rPr lang="en-US" sz="1300" dirty="0">
                <a:solidFill>
                  <a:schemeClr val="tx2"/>
                </a:solidFill>
              </a:rPr>
              <a:t>Part 3: React Native fundamentals</a:t>
            </a:r>
            <a:endParaRPr lang="en-US" sz="1300" dirty="0"/>
          </a:p>
        </p:txBody>
      </p:sp>
      <p:sp>
        <p:nvSpPr>
          <p:cNvPr id="4" name="Text 0"/>
          <p:cNvSpPr/>
          <p:nvPr>
            <p:ph idx="100" type="title" hasCustomPrompt="1"/>
          </p:nvPr>
        </p:nvSpPr>
        <p:spPr>
          <a:xfrm>
            <a:off x="548640" y="749808"/>
            <a:ext cx="11091672" cy="713232"/>
          </a:xfrm>
          <a:prstGeom prst="rect">
            <a:avLst/>
          </a:prstGeom>
          <a:noFill/>
          <a:ln/>
        </p:spPr>
        <p:txBody>
          <a:bodyPr wrap="square" lIns="0" tIns="0" rIns="0" bIns="0" rtlCol="0" anchor="ctr"/>
          <a:lstStyle/>
          <a:p>
            <a:pPr algn="l" indent="0" marL="0">
              <a:buNone/>
            </a:pPr>
            <a:r>
              <a:rPr lang="en-US" sz="3600" b="1" dirty="0">
                <a:solidFill>
                  <a:schemeClr val="tx1"/>
                </a:solidFill>
              </a:rPr>
              <a:t>Components and JSX</a:t>
            </a:r>
            <a:endParaRPr lang="en-US" sz="3600" dirty="0"/>
          </a:p>
        </p:txBody>
      </p:sp>
      <p:sp>
        <p:nvSpPr>
          <p:cNvPr id="5" name="Code panel"/>
          <p:cNvSpPr/>
          <p:nvPr/>
        </p:nvSpPr>
        <p:spPr>
          <a:xfrm>
            <a:off x="548640" y="1691640"/>
            <a:ext cx="5760720" cy="3063240"/>
          </a:xfrm>
          <a:prstGeom prst="roundRect">
            <a:avLst>
              <a:gd name="adj" fmla="val 2985"/>
            </a:avLst>
          </a:prstGeom>
          <a:solidFill>
            <a:schemeClr val="bg2"/>
          </a:solidFill>
          <a:ln w="12700">
            <a:solidFill>
              <a:schemeClr val="accent6"/>
            </a:solidFill>
            <a:prstDash val="solid"/>
          </a:ln>
        </p:spPr>
      </p:sp>
      <p:sp>
        <p:nvSpPr>
          <p:cNvPr id="6" name="Code panel label"/>
          <p:cNvSpPr txBox="1"/>
          <p:nvPr/>
        </p:nvSpPr>
        <p:spPr>
          <a:xfrm>
            <a:off x="731520" y="1783080"/>
            <a:ext cx="5394960" cy="274320"/>
          </a:xfrm>
          <a:prstGeom prst="rect">
            <a:avLst/>
          </a:prstGeom>
          <a:noFill/>
          <a:ln/>
        </p:spPr>
        <p:txBody>
          <a:bodyPr wrap="square" lIns="0" tIns="0" rIns="0" bIns="0" rtlCol="0" anchor="ctr"/>
          <a:lstStyle/>
          <a:p>
            <a:pPr indent="0" marL="0">
              <a:buNone/>
            </a:pPr>
            <a:r>
              <a:rPr lang="en-US" sz="1100" b="1" dirty="0">
                <a:solidFill>
                  <a:schemeClr val="tx2"/>
                </a:solidFill>
                <a:latin typeface="Consolas" pitchFamily="34" charset="0"/>
                <a:ea typeface="Consolas" pitchFamily="34" charset="-122"/>
                <a:cs typeface="Consolas" pitchFamily="34" charset="-120"/>
              </a:rPr>
              <a:t>Welcome.tsx</a:t>
            </a:r>
            <a:endParaRPr lang="en-US" sz="1100" dirty="0"/>
          </a:p>
        </p:txBody>
      </p:sp>
      <p:sp>
        <p:nvSpPr>
          <p:cNvPr id="7" name="Code panel code"/>
          <p:cNvSpPr txBox="1"/>
          <p:nvPr/>
        </p:nvSpPr>
        <p:spPr>
          <a:xfrm>
            <a:off x="685800" y="2103120"/>
            <a:ext cx="5486400" cy="2578608"/>
          </a:xfrm>
          <a:prstGeom prst="rect">
            <a:avLst/>
          </a:prstGeom>
          <a:noFill/>
          <a:ln/>
        </p:spPr>
        <p:txBody>
          <a:bodyPr wrap="square" lIns="0" tIns="635" rIns="635" bIns="0" rtlCol="0" anchor="t"/>
          <a:lstStyle/>
          <a:p>
            <a:pPr indent="0" marL="0">
              <a:buNone/>
            </a:pPr>
            <a:r>
              <a:rPr lang="en-US" sz="1400" dirty="0">
                <a:solidFill>
                  <a:schemeClr val="accent1"/>
                </a:solidFill>
                <a:latin typeface="Consolas" pitchFamily="34" charset="0"/>
                <a:ea typeface="Consolas" pitchFamily="34" charset="-122"/>
                <a:cs typeface="Consolas" pitchFamily="34" charset="-120"/>
              </a:rPr>
              <a:t>import</a:t>
            </a:r>
            <a:r>
              <a:rPr lang="en-US" sz="1400" dirty="0">
                <a:solidFill>
                  <a:schemeClr val="tx1"/>
                </a:solidFill>
                <a:latin typeface="Consolas" pitchFamily="34" charset="0"/>
                <a:ea typeface="Consolas" pitchFamily="34" charset="-122"/>
                <a:cs typeface="Consolas" pitchFamily="34" charset="-120"/>
              </a:rPr>
              <a:t> { Text, View } </a:t>
            </a:r>
            <a:r>
              <a:rPr lang="en-US" sz="1400" dirty="0">
                <a:solidFill>
                  <a:schemeClr val="accent1"/>
                </a:solidFill>
                <a:latin typeface="Consolas" pitchFamily="34" charset="0"/>
                <a:ea typeface="Consolas" pitchFamily="34" charset="-122"/>
                <a:cs typeface="Consolas" pitchFamily="34" charset="-120"/>
              </a:rPr>
              <a:t>from</a:t>
            </a:r>
            <a:r>
              <a:rPr lang="en-US" sz="1400" dirty="0">
                <a:solidFill>
                  <a:schemeClr val="tx1"/>
                </a:solidFill>
                <a:latin typeface="Consolas" pitchFamily="34" charset="0"/>
                <a:ea typeface="Consolas" pitchFamily="34" charset="-122"/>
                <a:cs typeface="Consolas" pitchFamily="34" charset="-120"/>
              </a:rPr>
              <a:t> </a:t>
            </a:r>
            <a:r>
              <a:rPr lang="en-US" sz="1400" dirty="0">
                <a:solidFill>
                  <a:schemeClr val="accent3"/>
                </a:solidFill>
                <a:latin typeface="Consolas" pitchFamily="34" charset="0"/>
                <a:ea typeface="Consolas" pitchFamily="34" charset="-122"/>
                <a:cs typeface="Consolas" pitchFamily="34" charset="-120"/>
              </a:rPr>
              <a:t>"react-native"</a:t>
            </a:r>
            <a:r>
              <a:rPr lang="en-US" sz="1400" dirty="0">
                <a:solidFill>
                  <a:schemeClr val="tx1"/>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indent="0" marL="0">
              <a:buNone/>
            </a:pPr>
            <a:r>
              <a:rPr lang="en-US" sz="1400" i="1" dirty="0">
                <a:solidFill>
                  <a:schemeClr val="tx2"/>
                </a:solidFill>
                <a:latin typeface="Consolas" pitchFamily="34" charset="0"/>
                <a:ea typeface="Consolas" pitchFamily="34" charset="-122"/>
                <a:cs typeface="Consolas" pitchFamily="34" charset="-120"/>
              </a:rPr>
              <a:t>// A component is a function that returns UI</a:t>
            </a:r>
            <a:endParaRPr lang="en-US" sz="1400" dirty="0"/>
          </a:p>
          <a:p>
            <a:pPr indent="0" marL="0">
              <a:buNone/>
            </a:pPr>
            <a:r>
              <a:rPr lang="en-US" sz="1400" dirty="0">
                <a:solidFill>
                  <a:schemeClr val="accent1"/>
                </a:solidFill>
                <a:latin typeface="Consolas" pitchFamily="34" charset="0"/>
                <a:ea typeface="Consolas" pitchFamily="34" charset="-122"/>
                <a:cs typeface="Consolas" pitchFamily="34" charset="-120"/>
              </a:rPr>
              <a:t>export</a:t>
            </a:r>
            <a:r>
              <a:rPr lang="en-US" sz="1400" dirty="0">
                <a:solidFill>
                  <a:schemeClr val="tx1"/>
                </a:solidFill>
                <a:latin typeface="Consolas" pitchFamily="34" charset="0"/>
                <a:ea typeface="Consolas" pitchFamily="34" charset="-122"/>
                <a:cs typeface="Consolas" pitchFamily="34" charset="-120"/>
              </a:rPr>
              <a:t> </a:t>
            </a:r>
            <a:r>
              <a:rPr lang="en-US" sz="1400" dirty="0">
                <a:solidFill>
                  <a:schemeClr val="accent1"/>
                </a:solidFill>
                <a:latin typeface="Consolas" pitchFamily="34" charset="0"/>
                <a:ea typeface="Consolas" pitchFamily="34" charset="-122"/>
                <a:cs typeface="Consolas" pitchFamily="34" charset="-120"/>
              </a:rPr>
              <a:t>default</a:t>
            </a:r>
            <a:r>
              <a:rPr lang="en-US" sz="1400" dirty="0">
                <a:solidFill>
                  <a:schemeClr val="tx1"/>
                </a:solidFill>
                <a:latin typeface="Consolas" pitchFamily="34" charset="0"/>
                <a:ea typeface="Consolas" pitchFamily="34" charset="-122"/>
                <a:cs typeface="Consolas" pitchFamily="34" charset="-120"/>
              </a:rPr>
              <a:t> </a:t>
            </a:r>
            <a:r>
              <a:rPr lang="en-US" sz="1400" dirty="0">
                <a:solidFill>
                  <a:schemeClr val="accent1"/>
                </a:solidFill>
                <a:latin typeface="Consolas" pitchFamily="34" charset="0"/>
                <a:ea typeface="Consolas" pitchFamily="34" charset="-122"/>
                <a:cs typeface="Consolas" pitchFamily="34" charset="-120"/>
              </a:rPr>
              <a:t>function</a:t>
            </a:r>
            <a:r>
              <a:rPr lang="en-US" sz="1400" dirty="0">
                <a:solidFill>
                  <a:schemeClr val="tx1"/>
                </a:solidFill>
                <a:latin typeface="Consolas" pitchFamily="34" charset="0"/>
                <a:ea typeface="Consolas" pitchFamily="34" charset="-122"/>
                <a:cs typeface="Consolas" pitchFamily="34" charset="-120"/>
              </a:rPr>
              <a:t> Welcome() {</a:t>
            </a:r>
            <a:endParaRPr lang="en-US" sz="1400" dirty="0"/>
          </a:p>
          <a:p>
            <a:pPr indent="0" marL="0">
              <a:buNone/>
            </a:pPr>
            <a:r>
              <a:rPr lang="en-US" sz="1400" dirty="0">
                <a:solidFill>
                  <a:schemeClr val="tx1"/>
                </a:solidFill>
                <a:latin typeface="Consolas" pitchFamily="34" charset="0"/>
                <a:ea typeface="Consolas" pitchFamily="34" charset="-122"/>
                <a:cs typeface="Consolas" pitchFamily="34" charset="-120"/>
              </a:rPr>
              <a:t>  </a:t>
            </a:r>
            <a:r>
              <a:rPr lang="en-US" sz="1400" dirty="0">
                <a:solidFill>
                  <a:schemeClr val="accent1"/>
                </a:solidFill>
                <a:latin typeface="Consolas" pitchFamily="34" charset="0"/>
                <a:ea typeface="Consolas" pitchFamily="34" charset="-122"/>
                <a:cs typeface="Consolas" pitchFamily="34" charset="-120"/>
              </a:rPr>
              <a:t>return</a:t>
            </a:r>
            <a:r>
              <a:rPr lang="en-US" sz="1400" dirty="0">
                <a:solidFill>
                  <a:schemeClr val="tx1"/>
                </a:solidFill>
                <a:latin typeface="Consolas" pitchFamily="34" charset="0"/>
                <a:ea typeface="Consolas" pitchFamily="34" charset="-122"/>
                <a:cs typeface="Consolas" pitchFamily="34" charset="-120"/>
              </a:rPr>
              <a:t> (</a:t>
            </a:r>
            <a:endParaRPr lang="en-US" sz="1400" dirty="0"/>
          </a:p>
          <a:p>
            <a:pPr indent="0" marL="0">
              <a:buNone/>
            </a:pPr>
            <a:r>
              <a:rPr lang="en-US" sz="1400" dirty="0">
                <a:solidFill>
                  <a:schemeClr val="tx1"/>
                </a:solidFill>
                <a:latin typeface="Consolas" pitchFamily="34" charset="0"/>
                <a:ea typeface="Consolas" pitchFamily="34" charset="-122"/>
                <a:cs typeface="Consolas" pitchFamily="34" charset="-120"/>
              </a:rPr>
              <a:t>    </a:t>
            </a:r>
            <a:r>
              <a:rPr lang="en-US" sz="1400" dirty="0">
                <a:solidFill>
                  <a:schemeClr val="accent5"/>
                </a:solidFill>
                <a:latin typeface="Consolas" pitchFamily="34" charset="0"/>
                <a:ea typeface="Consolas" pitchFamily="34" charset="-122"/>
                <a:cs typeface="Consolas" pitchFamily="34" charset="-120"/>
              </a:rPr>
              <a:t>&lt;View</a:t>
            </a:r>
            <a:r>
              <a:rPr lang="en-US" sz="1400" dirty="0">
                <a:solidFill>
                  <a:schemeClr val="tx1"/>
                </a:solidFill>
                <a:latin typeface="Consolas" pitchFamily="34" charset="0"/>
                <a:ea typeface="Consolas" pitchFamily="34" charset="-122"/>
                <a:cs typeface="Consolas" pitchFamily="34" charset="-120"/>
              </a:rPr>
              <a:t>&gt;</a:t>
            </a:r>
            <a:endParaRPr lang="en-US" sz="1400" dirty="0"/>
          </a:p>
          <a:p>
            <a:pPr indent="0" marL="0">
              <a:buNone/>
            </a:pPr>
            <a:r>
              <a:rPr lang="en-US" sz="1400" dirty="0">
                <a:solidFill>
                  <a:schemeClr val="tx1"/>
                </a:solidFill>
                <a:latin typeface="Consolas" pitchFamily="34" charset="0"/>
                <a:ea typeface="Consolas" pitchFamily="34" charset="-122"/>
                <a:cs typeface="Consolas" pitchFamily="34" charset="-120"/>
              </a:rPr>
              <a:t>      </a:t>
            </a:r>
            <a:r>
              <a:rPr lang="en-US" sz="1400" dirty="0">
                <a:solidFill>
                  <a:schemeClr val="accent5"/>
                </a:solidFill>
                <a:latin typeface="Consolas" pitchFamily="34" charset="0"/>
                <a:ea typeface="Consolas" pitchFamily="34" charset="-122"/>
                <a:cs typeface="Consolas" pitchFamily="34" charset="-120"/>
              </a:rPr>
              <a:t>&lt;Text</a:t>
            </a:r>
            <a:r>
              <a:rPr lang="en-US" sz="1400" dirty="0">
                <a:solidFill>
                  <a:schemeClr val="tx1"/>
                </a:solidFill>
                <a:latin typeface="Consolas" pitchFamily="34" charset="0"/>
                <a:ea typeface="Consolas" pitchFamily="34" charset="-122"/>
                <a:cs typeface="Consolas" pitchFamily="34" charset="-120"/>
              </a:rPr>
              <a:t>&gt;Welcome to Lab </a:t>
            </a:r>
            <a:r>
              <a:rPr lang="en-US" sz="1400" dirty="0">
                <a:solidFill>
                  <a:schemeClr val="accent2"/>
                </a:solidFill>
                <a:latin typeface="Consolas" pitchFamily="34" charset="0"/>
                <a:ea typeface="Consolas" pitchFamily="34" charset="-122"/>
                <a:cs typeface="Consolas" pitchFamily="34" charset="-120"/>
              </a:rPr>
              <a:t>01</a:t>
            </a:r>
            <a:r>
              <a:rPr lang="en-US" sz="1400" dirty="0">
                <a:solidFill>
                  <a:schemeClr val="tx1"/>
                </a:solidFill>
                <a:latin typeface="Consolas" pitchFamily="34" charset="0"/>
                <a:ea typeface="Consolas" pitchFamily="34" charset="-122"/>
                <a:cs typeface="Consolas" pitchFamily="34" charset="-120"/>
              </a:rPr>
              <a:t>!</a:t>
            </a:r>
            <a:r>
              <a:rPr lang="en-US" sz="1400" dirty="0">
                <a:solidFill>
                  <a:schemeClr val="accent5"/>
                </a:solidFill>
                <a:latin typeface="Consolas" pitchFamily="34" charset="0"/>
                <a:ea typeface="Consolas" pitchFamily="34" charset="-122"/>
                <a:cs typeface="Consolas" pitchFamily="34" charset="-120"/>
              </a:rPr>
              <a:t>&lt;/Text</a:t>
            </a:r>
            <a:r>
              <a:rPr lang="en-US" sz="1400" dirty="0">
                <a:solidFill>
                  <a:schemeClr val="tx1"/>
                </a:solidFill>
                <a:latin typeface="Consolas" pitchFamily="34" charset="0"/>
                <a:ea typeface="Consolas" pitchFamily="34" charset="-122"/>
                <a:cs typeface="Consolas" pitchFamily="34" charset="-120"/>
              </a:rPr>
              <a:t>&gt;</a:t>
            </a:r>
            <a:endParaRPr lang="en-US" sz="1400" dirty="0"/>
          </a:p>
          <a:p>
            <a:pPr indent="0" marL="0">
              <a:buNone/>
            </a:pPr>
            <a:r>
              <a:rPr lang="en-US" sz="1400" dirty="0">
                <a:solidFill>
                  <a:schemeClr val="tx1"/>
                </a:solidFill>
                <a:latin typeface="Consolas" pitchFamily="34" charset="0"/>
                <a:ea typeface="Consolas" pitchFamily="34" charset="-122"/>
                <a:cs typeface="Consolas" pitchFamily="34" charset="-120"/>
              </a:rPr>
              <a:t>      </a:t>
            </a:r>
            <a:r>
              <a:rPr lang="en-US" sz="1400" dirty="0">
                <a:solidFill>
                  <a:schemeClr val="accent5"/>
                </a:solidFill>
                <a:latin typeface="Consolas" pitchFamily="34" charset="0"/>
                <a:ea typeface="Consolas" pitchFamily="34" charset="-122"/>
                <a:cs typeface="Consolas" pitchFamily="34" charset="-120"/>
              </a:rPr>
              <a:t>&lt;Text</a:t>
            </a:r>
            <a:r>
              <a:rPr lang="en-US" sz="1400" dirty="0">
                <a:solidFill>
                  <a:schemeClr val="tx1"/>
                </a:solidFill>
                <a:latin typeface="Consolas" pitchFamily="34" charset="0"/>
                <a:ea typeface="Consolas" pitchFamily="34" charset="-122"/>
                <a:cs typeface="Consolas" pitchFamily="34" charset="-120"/>
              </a:rPr>
              <a:t>&gt;</a:t>
            </a:r>
            <a:r>
              <a:rPr lang="en-US" sz="1400" dirty="0">
                <a:solidFill>
                  <a:schemeClr val="accent2"/>
                </a:solidFill>
                <a:latin typeface="Consolas" pitchFamily="34" charset="0"/>
                <a:ea typeface="Consolas" pitchFamily="34" charset="-122"/>
                <a:cs typeface="Consolas" pitchFamily="34" charset="-120"/>
              </a:rPr>
              <a:t>2</a:t>
            </a:r>
            <a:r>
              <a:rPr lang="en-US" sz="1400" dirty="0">
                <a:solidFill>
                  <a:schemeClr val="tx1"/>
                </a:solidFill>
                <a:latin typeface="Consolas" pitchFamily="34" charset="0"/>
                <a:ea typeface="Consolas" pitchFamily="34" charset="-122"/>
                <a:cs typeface="Consolas" pitchFamily="34" charset="-120"/>
              </a:rPr>
              <a:t> + </a:t>
            </a:r>
            <a:r>
              <a:rPr lang="en-US" sz="1400" dirty="0">
                <a:solidFill>
                  <a:schemeClr val="accent2"/>
                </a:solidFill>
                <a:latin typeface="Consolas" pitchFamily="34" charset="0"/>
                <a:ea typeface="Consolas" pitchFamily="34" charset="-122"/>
                <a:cs typeface="Consolas" pitchFamily="34" charset="-120"/>
              </a:rPr>
              <a:t>3</a:t>
            </a:r>
            <a:r>
              <a:rPr lang="en-US" sz="1400" dirty="0">
                <a:solidFill>
                  <a:schemeClr val="tx1"/>
                </a:solidFill>
                <a:latin typeface="Consolas" pitchFamily="34" charset="0"/>
                <a:ea typeface="Consolas" pitchFamily="34" charset="-122"/>
                <a:cs typeface="Consolas" pitchFamily="34" charset="-120"/>
              </a:rPr>
              <a:t> = {</a:t>
            </a:r>
            <a:r>
              <a:rPr lang="en-US" sz="1400" dirty="0">
                <a:solidFill>
                  <a:schemeClr val="accent2"/>
                </a:solidFill>
                <a:latin typeface="Consolas" pitchFamily="34" charset="0"/>
                <a:ea typeface="Consolas" pitchFamily="34" charset="-122"/>
                <a:cs typeface="Consolas" pitchFamily="34" charset="-120"/>
              </a:rPr>
              <a:t>2</a:t>
            </a:r>
            <a:r>
              <a:rPr lang="en-US" sz="1400" dirty="0">
                <a:solidFill>
                  <a:schemeClr val="tx1"/>
                </a:solidFill>
                <a:latin typeface="Consolas" pitchFamily="34" charset="0"/>
                <a:ea typeface="Consolas" pitchFamily="34" charset="-122"/>
                <a:cs typeface="Consolas" pitchFamily="34" charset="-120"/>
              </a:rPr>
              <a:t> + </a:t>
            </a:r>
            <a:r>
              <a:rPr lang="en-US" sz="1400" dirty="0">
                <a:solidFill>
                  <a:schemeClr val="accent2"/>
                </a:solidFill>
                <a:latin typeface="Consolas" pitchFamily="34" charset="0"/>
                <a:ea typeface="Consolas" pitchFamily="34" charset="-122"/>
                <a:cs typeface="Consolas" pitchFamily="34" charset="-120"/>
              </a:rPr>
              <a:t>3</a:t>
            </a:r>
            <a:r>
              <a:rPr lang="en-US" sz="1400" dirty="0">
                <a:solidFill>
                  <a:schemeClr val="tx1"/>
                </a:solidFill>
                <a:latin typeface="Consolas" pitchFamily="34" charset="0"/>
                <a:ea typeface="Consolas" pitchFamily="34" charset="-122"/>
                <a:cs typeface="Consolas" pitchFamily="34" charset="-120"/>
              </a:rPr>
              <a:t>}</a:t>
            </a:r>
            <a:r>
              <a:rPr lang="en-US" sz="1400" dirty="0">
                <a:solidFill>
                  <a:schemeClr val="accent5"/>
                </a:solidFill>
                <a:latin typeface="Consolas" pitchFamily="34" charset="0"/>
                <a:ea typeface="Consolas" pitchFamily="34" charset="-122"/>
                <a:cs typeface="Consolas" pitchFamily="34" charset="-120"/>
              </a:rPr>
              <a:t>&lt;/Text</a:t>
            </a:r>
            <a:r>
              <a:rPr lang="en-US" sz="1400" dirty="0">
                <a:solidFill>
                  <a:schemeClr val="tx1"/>
                </a:solidFill>
                <a:latin typeface="Consolas" pitchFamily="34" charset="0"/>
                <a:ea typeface="Consolas" pitchFamily="34" charset="-122"/>
                <a:cs typeface="Consolas" pitchFamily="34" charset="-120"/>
              </a:rPr>
              <a:t>&gt;</a:t>
            </a:r>
            <a:endParaRPr lang="en-US" sz="1400" dirty="0"/>
          </a:p>
          <a:p>
            <a:pPr indent="0" marL="0">
              <a:buNone/>
            </a:pPr>
            <a:r>
              <a:rPr lang="en-US" sz="1400" dirty="0">
                <a:solidFill>
                  <a:schemeClr val="tx1"/>
                </a:solidFill>
                <a:latin typeface="Consolas" pitchFamily="34" charset="0"/>
                <a:ea typeface="Consolas" pitchFamily="34" charset="-122"/>
                <a:cs typeface="Consolas" pitchFamily="34" charset="-120"/>
              </a:rPr>
              <a:t>    </a:t>
            </a:r>
            <a:r>
              <a:rPr lang="en-US" sz="1400" dirty="0">
                <a:solidFill>
                  <a:schemeClr val="accent5"/>
                </a:solidFill>
                <a:latin typeface="Consolas" pitchFamily="34" charset="0"/>
                <a:ea typeface="Consolas" pitchFamily="34" charset="-122"/>
                <a:cs typeface="Consolas" pitchFamily="34" charset="-120"/>
              </a:rPr>
              <a:t>&lt;/View</a:t>
            </a:r>
            <a:r>
              <a:rPr lang="en-US" sz="1400" dirty="0">
                <a:solidFill>
                  <a:schemeClr val="tx1"/>
                </a:solidFill>
                <a:latin typeface="Consolas" pitchFamily="34" charset="0"/>
                <a:ea typeface="Consolas" pitchFamily="34" charset="-122"/>
                <a:cs typeface="Consolas" pitchFamily="34" charset="-120"/>
              </a:rPr>
              <a:t>&gt;</a:t>
            </a:r>
            <a:endParaRPr lang="en-US" sz="1400" dirty="0"/>
          </a:p>
          <a:p>
            <a:pPr indent="0" marL="0">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indent="0" marL="0">
              <a:buNone/>
            </a:pPr>
            <a:r>
              <a:rPr lang="en-US" sz="1400" dirty="0">
                <a:solidFill>
                  <a:schemeClr val="tx1"/>
                </a:solidFill>
                <a:latin typeface="Consolas" pitchFamily="34" charset="0"/>
                <a:ea typeface="Consolas" pitchFamily="34" charset="-122"/>
                <a:cs typeface="Consolas" pitchFamily="34" charset="-120"/>
              </a:rPr>
              <a:t>}</a:t>
            </a:r>
            <a:endParaRPr lang="en-US" sz="1400" dirty="0"/>
          </a:p>
        </p:txBody>
      </p:sp>
      <p:sp>
        <p:nvSpPr>
          <p:cNvPr id="8" name="Card"/>
          <p:cNvSpPr/>
          <p:nvPr/>
        </p:nvSpPr>
        <p:spPr>
          <a:xfrm>
            <a:off x="548640" y="4937760"/>
            <a:ext cx="5760720" cy="1188720"/>
          </a:xfrm>
          <a:prstGeom prst="roundRect">
            <a:avLst>
              <a:gd name="adj" fmla="val 9231"/>
            </a:avLst>
          </a:prstGeom>
          <a:solidFill>
            <a:schemeClr val="bg1"/>
          </a:solidFill>
          <a:ln w="15875">
            <a:solidFill>
              <a:schemeClr val="accent6"/>
            </a:solidFill>
            <a:prstDash val="solid"/>
          </a:ln>
        </p:spPr>
      </p:sp>
      <p:sp>
        <p:nvSpPr>
          <p:cNvPr id="9" name="Text 7"/>
          <p:cNvSpPr txBox="1"/>
          <p:nvPr/>
        </p:nvSpPr>
        <p:spPr>
          <a:xfrm>
            <a:off x="777240" y="5029200"/>
            <a:ext cx="1828800" cy="274320"/>
          </a:xfrm>
          <a:prstGeom prst="rect">
            <a:avLst/>
          </a:prstGeom>
          <a:noFill/>
          <a:ln/>
        </p:spPr>
        <p:txBody>
          <a:bodyPr wrap="square" lIns="0" tIns="0" rIns="0" bIns="0" rtlCol="0" anchor="ctr"/>
          <a:lstStyle/>
          <a:p>
            <a:pPr indent="0" marL="0">
              <a:buNone/>
            </a:pPr>
            <a:r>
              <a:rPr lang="en-US" sz="1100" b="1" spc="150" kern="0" dirty="0">
                <a:solidFill>
                  <a:schemeClr val="tx2"/>
                </a:solidFill>
              </a:rPr>
              <a:t>ON SCREEN</a:t>
            </a:r>
            <a:endParaRPr lang="en-US" sz="1100" dirty="0"/>
          </a:p>
        </p:txBody>
      </p:sp>
      <p:sp>
        <p:nvSpPr>
          <p:cNvPr id="10" name="Text 8"/>
          <p:cNvSpPr txBox="1"/>
          <p:nvPr/>
        </p:nvSpPr>
        <p:spPr>
          <a:xfrm>
            <a:off x="777240" y="5321808"/>
            <a:ext cx="5303520" cy="731520"/>
          </a:xfrm>
          <a:prstGeom prst="rect">
            <a:avLst/>
          </a:prstGeom>
          <a:noFill/>
          <a:ln/>
        </p:spPr>
        <p:txBody>
          <a:bodyPr wrap="square" lIns="0" tIns="0" rIns="0" bIns="0" rtlCol="0" anchor="t"/>
          <a:lstStyle/>
          <a:p>
            <a:pPr indent="0" marL="0">
              <a:buNone/>
            </a:pPr>
            <a:r>
              <a:rPr lang="en-US" sz="1600" dirty="0">
                <a:solidFill>
                  <a:schemeClr val="tx1"/>
                </a:solidFill>
              </a:rPr>
              <a:t>Welcome to Lab 01!</a:t>
            </a:r>
            <a:endParaRPr lang="en-US" sz="1600" dirty="0"/>
          </a:p>
          <a:p>
            <a:pPr indent="0" marL="0">
              <a:buNone/>
            </a:pPr>
            <a:r>
              <a:rPr lang="en-US" sz="1600" dirty="0">
                <a:solidFill>
                  <a:schemeClr val="tx1"/>
                </a:solidFill>
              </a:rPr>
              <a:t>2 + 3 = 5</a:t>
            </a:r>
            <a:endParaRPr lang="en-US" sz="1600" dirty="0"/>
          </a:p>
        </p:txBody>
      </p:sp>
      <p:sp>
        <p:nvSpPr>
          <p:cNvPr id="11" name="Number badge"/>
          <p:cNvSpPr/>
          <p:nvPr/>
        </p:nvSpPr>
        <p:spPr>
          <a:xfrm>
            <a:off x="6675120" y="173736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2" name="Text 10"/>
          <p:cNvSpPr txBox="1"/>
          <p:nvPr/>
        </p:nvSpPr>
        <p:spPr>
          <a:xfrm>
            <a:off x="7269480" y="1700784"/>
            <a:ext cx="4370832" cy="777240"/>
          </a:xfrm>
          <a:prstGeom prst="rect">
            <a:avLst/>
          </a:prstGeom>
          <a:noFill/>
          <a:ln/>
        </p:spPr>
        <p:txBody>
          <a:bodyPr wrap="square" lIns="0" tIns="0" rIns="0" bIns="0" rtlCol="0" anchor="t"/>
          <a:lstStyle/>
          <a:p>
            <a:pPr indent="0" marL="0">
              <a:buNone/>
            </a:pPr>
            <a:r>
              <a:rPr lang="en-US" sz="1500" b="1" dirty="0">
                <a:solidFill>
                  <a:schemeClr val="tx1"/>
                </a:solidFill>
              </a:rPr>
              <a:t>Component</a:t>
            </a:r>
            <a:endParaRPr lang="en-US" sz="1500" dirty="0"/>
          </a:p>
          <a:p>
            <a:pPr indent="0" marL="0">
              <a:buNone/>
            </a:pPr>
            <a:r>
              <a:rPr lang="en-US" sz="1500" dirty="0">
                <a:solidFill>
                  <a:schemeClr val="tx1"/>
                </a:solidFill>
              </a:rPr>
              <a:t>A reusable piece of UI, written as a function. Its name starts with a capital letter.</a:t>
            </a:r>
            <a:endParaRPr lang="en-US" sz="1500" dirty="0"/>
          </a:p>
        </p:txBody>
      </p:sp>
      <p:sp>
        <p:nvSpPr>
          <p:cNvPr id="13" name="Number badge"/>
          <p:cNvSpPr/>
          <p:nvPr/>
        </p:nvSpPr>
        <p:spPr>
          <a:xfrm>
            <a:off x="6675120" y="2624328"/>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 12"/>
          <p:cNvSpPr txBox="1"/>
          <p:nvPr/>
        </p:nvSpPr>
        <p:spPr>
          <a:xfrm>
            <a:off x="7269480" y="2587752"/>
            <a:ext cx="4370832" cy="777240"/>
          </a:xfrm>
          <a:prstGeom prst="rect">
            <a:avLst/>
          </a:prstGeom>
          <a:noFill/>
          <a:ln/>
        </p:spPr>
        <p:txBody>
          <a:bodyPr wrap="square" lIns="0" tIns="0" rIns="0" bIns="0" rtlCol="0" anchor="t"/>
          <a:lstStyle/>
          <a:p>
            <a:pPr indent="0" marL="0">
              <a:buNone/>
            </a:pPr>
            <a:r>
              <a:rPr lang="en-US" sz="1500" b="1" dirty="0">
                <a:solidFill>
                  <a:schemeClr val="tx1"/>
                </a:solidFill>
              </a:rPr>
              <a:t>JSX</a:t>
            </a:r>
            <a:endParaRPr lang="en-US" sz="1500" dirty="0"/>
          </a:p>
          <a:p>
            <a:pPr indent="0" marL="0">
              <a:buNone/>
            </a:pPr>
            <a:r>
              <a:rPr lang="en-US" sz="1500" dirty="0">
                <a:solidFill>
                  <a:schemeClr val="tx1"/>
                </a:solidFill>
              </a:rPr>
              <a:t>HTML-like tags written inside JavaScript.</a:t>
            </a:r>
            <a:endParaRPr lang="en-US" sz="1500" dirty="0"/>
          </a:p>
        </p:txBody>
      </p:sp>
      <p:sp>
        <p:nvSpPr>
          <p:cNvPr id="15" name="Number badge"/>
          <p:cNvSpPr/>
          <p:nvPr/>
        </p:nvSpPr>
        <p:spPr>
          <a:xfrm>
            <a:off x="6675120" y="3511296"/>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 14"/>
          <p:cNvSpPr txBox="1"/>
          <p:nvPr/>
        </p:nvSpPr>
        <p:spPr>
          <a:xfrm>
            <a:off x="7269480" y="3474720"/>
            <a:ext cx="4370832" cy="777240"/>
          </a:xfrm>
          <a:prstGeom prst="rect">
            <a:avLst/>
          </a:prstGeom>
          <a:noFill/>
          <a:ln/>
        </p:spPr>
        <p:txBody>
          <a:bodyPr wrap="square" lIns="0" tIns="0" rIns="0" bIns="0" rtlCol="0" anchor="t"/>
          <a:lstStyle/>
          <a:p>
            <a:pPr indent="0" marL="0">
              <a:buNone/>
            </a:pPr>
            <a:r>
              <a:rPr lang="en-US" sz="1500" b="1" dirty="0">
                <a:solidFill>
                  <a:schemeClr val="accent5"/>
                </a:solidFill>
                <a:latin typeface="Consolas" pitchFamily="34" charset="0"/>
                <a:ea typeface="Consolas" pitchFamily="34" charset="-122"/>
                <a:cs typeface="Consolas" pitchFamily="34" charset="-120"/>
              </a:rPr>
              <a:t>&lt;View&gt;</a:t>
            </a:r>
            <a:endParaRPr lang="en-US" sz="1500" dirty="0"/>
          </a:p>
          <a:p>
            <a:pPr indent="0" marL="0">
              <a:buNone/>
            </a:pPr>
            <a:r>
              <a:rPr lang="en-US" sz="1500" dirty="0">
                <a:solidFill>
                  <a:schemeClr val="tx1"/>
                </a:solidFill>
              </a:rPr>
              <a:t>A container box, like </a:t>
            </a:r>
            <a:r>
              <a:rPr lang="en-US" sz="1500" dirty="0">
                <a:solidFill>
                  <a:schemeClr val="accent5"/>
                </a:solidFill>
                <a:latin typeface="Consolas" pitchFamily="34" charset="0"/>
                <a:ea typeface="Consolas" pitchFamily="34" charset="-122"/>
                <a:cs typeface="Consolas" pitchFamily="34" charset="-120"/>
              </a:rPr>
              <a:t>&lt;div&gt;</a:t>
            </a:r>
            <a:r>
              <a:rPr lang="en-US" sz="1500" dirty="0">
                <a:solidFill>
                  <a:schemeClr val="tx1"/>
                </a:solidFill>
              </a:rPr>
              <a:t> on the web.</a:t>
            </a:r>
            <a:endParaRPr lang="en-US" sz="1500" dirty="0"/>
          </a:p>
        </p:txBody>
      </p:sp>
      <p:sp>
        <p:nvSpPr>
          <p:cNvPr id="17" name="Number badge"/>
          <p:cNvSpPr/>
          <p:nvPr/>
        </p:nvSpPr>
        <p:spPr>
          <a:xfrm>
            <a:off x="6675120" y="4398264"/>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8" name="Text 16"/>
          <p:cNvSpPr txBox="1"/>
          <p:nvPr/>
        </p:nvSpPr>
        <p:spPr>
          <a:xfrm>
            <a:off x="7269480" y="4361688"/>
            <a:ext cx="4370832" cy="777240"/>
          </a:xfrm>
          <a:prstGeom prst="rect">
            <a:avLst/>
          </a:prstGeom>
          <a:noFill/>
          <a:ln/>
        </p:spPr>
        <p:txBody>
          <a:bodyPr wrap="square" lIns="0" tIns="0" rIns="0" bIns="0" rtlCol="0" anchor="t"/>
          <a:lstStyle/>
          <a:p>
            <a:pPr indent="0" marL="0">
              <a:buNone/>
            </a:pPr>
            <a:r>
              <a:rPr lang="en-US" sz="1500" b="1" dirty="0">
                <a:solidFill>
                  <a:schemeClr val="accent5"/>
                </a:solidFill>
                <a:latin typeface="Consolas" pitchFamily="34" charset="0"/>
                <a:ea typeface="Consolas" pitchFamily="34" charset="-122"/>
                <a:cs typeface="Consolas" pitchFamily="34" charset="-120"/>
              </a:rPr>
              <a:t>&lt;Text&gt;</a:t>
            </a:r>
            <a:endParaRPr lang="en-US" sz="1500" dirty="0"/>
          </a:p>
          <a:p>
            <a:pPr indent="0" marL="0">
              <a:buNone/>
            </a:pPr>
            <a:r>
              <a:rPr lang="en-US" sz="1500" dirty="0">
                <a:solidFill>
                  <a:schemeClr val="tx1"/>
                </a:solidFill>
              </a:rPr>
              <a:t>Shows text. All text must be inside </a:t>
            </a:r>
            <a:r>
              <a:rPr lang="en-US" sz="1500" dirty="0">
                <a:solidFill>
                  <a:schemeClr val="accent5"/>
                </a:solidFill>
                <a:latin typeface="Consolas" pitchFamily="34" charset="0"/>
                <a:ea typeface="Consolas" pitchFamily="34" charset="-122"/>
                <a:cs typeface="Consolas" pitchFamily="34" charset="-120"/>
              </a:rPr>
              <a:t>&lt;Text&gt;</a:t>
            </a:r>
            <a:r>
              <a:rPr lang="en-US" sz="1500" dirty="0">
                <a:solidFill>
                  <a:schemeClr val="tx1"/>
                </a:solidFill>
              </a:rPr>
              <a:t>.</a:t>
            </a:r>
            <a:endParaRPr lang="en-US" sz="1500" dirty="0"/>
          </a:p>
        </p:txBody>
      </p:sp>
      <p:sp>
        <p:nvSpPr>
          <p:cNvPr id="19" name="Number badge"/>
          <p:cNvSpPr/>
          <p:nvPr/>
        </p:nvSpPr>
        <p:spPr>
          <a:xfrm>
            <a:off x="6675120" y="5285232"/>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0" name="Text 18"/>
          <p:cNvSpPr txBox="1"/>
          <p:nvPr/>
        </p:nvSpPr>
        <p:spPr>
          <a:xfrm>
            <a:off x="7269480" y="5248656"/>
            <a:ext cx="4370832" cy="777240"/>
          </a:xfrm>
          <a:prstGeom prst="rect">
            <a:avLst/>
          </a:prstGeom>
          <a:noFill/>
          <a:ln/>
        </p:spPr>
        <p:txBody>
          <a:bodyPr wrap="square" lIns="0" tIns="0" rIns="0" bIns="0" rtlCol="0" anchor="t"/>
          <a:lstStyle/>
          <a:p>
            <a:pPr indent="0" marL="0">
              <a:buNone/>
            </a:pPr>
            <a:r>
              <a:rPr lang="en-US" sz="1500" b="1" dirty="0">
                <a:solidFill>
                  <a:schemeClr val="accent5"/>
                </a:solidFill>
                <a:latin typeface="Consolas" pitchFamily="34" charset="0"/>
                <a:ea typeface="Consolas" pitchFamily="34" charset="-122"/>
                <a:cs typeface="Consolas" pitchFamily="34" charset="-120"/>
              </a:rPr>
              <a:t>{ }</a:t>
            </a:r>
            <a:endParaRPr lang="en-US" sz="1500" dirty="0"/>
          </a:p>
          <a:p>
            <a:pPr indent="0" marL="0">
              <a:buNone/>
            </a:pPr>
            <a:r>
              <a:rPr lang="en-US" sz="1500" dirty="0">
                <a:solidFill>
                  <a:schemeClr val="tx1"/>
                </a:solidFill>
              </a:rPr>
              <a:t>Puts a JavaScript value inside JSX. </a:t>
            </a:r>
            <a:r>
              <a:rPr lang="en-US" sz="1500" dirty="0">
                <a:solidFill>
                  <a:schemeClr val="accent5"/>
                </a:solidFill>
                <a:latin typeface="Consolas" pitchFamily="34" charset="0"/>
                <a:ea typeface="Consolas" pitchFamily="34" charset="-122"/>
                <a:cs typeface="Consolas" pitchFamily="34" charset="-120"/>
              </a:rPr>
              <a:t>{2 + 3}</a:t>
            </a:r>
            <a:r>
              <a:rPr lang="en-US" sz="1500" dirty="0">
                <a:solidFill>
                  <a:schemeClr val="tx1"/>
                </a:solidFill>
              </a:rPr>
              <a:t> shows 5.</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tag"/>
          <p:cNvSpPr/>
          <p:nvPr/>
        </p:nvSpPr>
        <p:spPr>
          <a:xfrm>
            <a:off x="548640" y="365760"/>
            <a:ext cx="850392" cy="310896"/>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spc="150" kern="0" dirty="0">
                <a:solidFill>
                  <a:schemeClr val="bg1"/>
                </a:solidFill>
              </a:rPr>
              <a:t>THEORY</a:t>
            </a:r>
            <a:endParaRPr lang="en-US" sz="1100" dirty="0"/>
          </a:p>
        </p:txBody>
      </p:sp>
      <p:sp>
        <p:nvSpPr>
          <p:cNvPr id="3" name="Tag context"/>
          <p:cNvSpPr txBox="1"/>
          <p:nvPr/>
        </p:nvSpPr>
        <p:spPr>
          <a:xfrm>
            <a:off x="1581912" y="365760"/>
            <a:ext cx="10058400" cy="310896"/>
          </a:xfrm>
          <a:prstGeom prst="rect">
            <a:avLst/>
          </a:prstGeom>
          <a:noFill/>
          <a:ln/>
        </p:spPr>
        <p:txBody>
          <a:bodyPr wrap="square" lIns="0" tIns="0" rIns="0" bIns="0" rtlCol="0" anchor="ctr"/>
          <a:lstStyle/>
          <a:p>
            <a:pPr indent="0" marL="0">
              <a:buNone/>
            </a:pPr>
            <a:r>
              <a:rPr lang="en-US" sz="1300" dirty="0">
                <a:solidFill>
                  <a:schemeClr val="tx2"/>
                </a:solidFill>
              </a:rPr>
              <a:t>Part 3: React Native fundamentals</a:t>
            </a:r>
            <a:endParaRPr lang="en-US" sz="1300" dirty="0"/>
          </a:p>
        </p:txBody>
      </p:sp>
      <p:sp>
        <p:nvSpPr>
          <p:cNvPr id="4" name="Text 0"/>
          <p:cNvSpPr/>
          <p:nvPr>
            <p:ph idx="100" type="title" hasCustomPrompt="1"/>
          </p:nvPr>
        </p:nvSpPr>
        <p:spPr>
          <a:xfrm>
            <a:off x="548640" y="749808"/>
            <a:ext cx="11091672" cy="713232"/>
          </a:xfrm>
          <a:prstGeom prst="rect">
            <a:avLst/>
          </a:prstGeom>
          <a:noFill/>
          <a:ln/>
        </p:spPr>
        <p:txBody>
          <a:bodyPr wrap="square" lIns="0" tIns="0" rIns="0" bIns="0" rtlCol="0" anchor="ctr"/>
          <a:lstStyle/>
          <a:p>
            <a:pPr algn="l" indent="0" marL="0">
              <a:buNone/>
            </a:pPr>
            <a:r>
              <a:rPr lang="en-US" sz="3600" b="1" dirty="0">
                <a:solidFill>
                  <a:schemeClr val="tx1"/>
                </a:solidFill>
              </a:rPr>
              <a:t>Props and State</a:t>
            </a:r>
            <a:endParaRPr lang="en-US" sz="3600" dirty="0"/>
          </a:p>
        </p:txBody>
      </p:sp>
      <p:sp>
        <p:nvSpPr>
          <p:cNvPr id="5" name="Text 3"/>
          <p:cNvSpPr txBox="1"/>
          <p:nvPr/>
        </p:nvSpPr>
        <p:spPr>
          <a:xfrm>
            <a:off x="548640" y="1691640"/>
            <a:ext cx="5394960" cy="411480"/>
          </a:xfrm>
          <a:prstGeom prst="rect">
            <a:avLst/>
          </a:prstGeom>
          <a:noFill/>
          <a:ln/>
        </p:spPr>
        <p:txBody>
          <a:bodyPr wrap="square" lIns="0" tIns="0" rIns="0" bIns="0" rtlCol="0" anchor="ctr"/>
          <a:lstStyle/>
          <a:p>
            <a:pPr indent="0" marL="0">
              <a:buNone/>
            </a:pPr>
            <a:r>
              <a:rPr lang="en-US" sz="2000" b="1" dirty="0">
                <a:solidFill>
                  <a:schemeClr val="accent1"/>
                </a:solidFill>
              </a:rPr>
              <a:t>Props: data passed in</a:t>
            </a:r>
            <a:endParaRPr lang="en-US" sz="2000" dirty="0"/>
          </a:p>
        </p:txBody>
      </p:sp>
      <p:sp>
        <p:nvSpPr>
          <p:cNvPr id="6" name="Text 4"/>
          <p:cNvSpPr txBox="1"/>
          <p:nvPr/>
        </p:nvSpPr>
        <p:spPr>
          <a:xfrm>
            <a:off x="548640" y="2103120"/>
            <a:ext cx="5394960" cy="640080"/>
          </a:xfrm>
          <a:prstGeom prst="rect">
            <a:avLst/>
          </a:prstGeom>
          <a:noFill/>
          <a:ln/>
        </p:spPr>
        <p:txBody>
          <a:bodyPr wrap="square" lIns="0" tIns="0" rIns="0" bIns="0" rtlCol="0" anchor="t"/>
          <a:lstStyle/>
          <a:p>
            <a:pPr indent="0" marL="0">
              <a:buNone/>
            </a:pPr>
            <a:r>
              <a:rPr lang="en-US" sz="1500" dirty="0">
                <a:solidFill>
                  <a:schemeClr val="tx1"/>
                </a:solidFill>
              </a:rPr>
              <a:t>A parent sends data to a child component. The child reads props but does not change them.</a:t>
            </a:r>
            <a:endParaRPr lang="en-US" sz="1500" dirty="0"/>
          </a:p>
        </p:txBody>
      </p:sp>
      <p:sp>
        <p:nvSpPr>
          <p:cNvPr id="7" name="Code panel"/>
          <p:cNvSpPr/>
          <p:nvPr/>
        </p:nvSpPr>
        <p:spPr>
          <a:xfrm>
            <a:off x="548640" y="2788920"/>
            <a:ext cx="5394960" cy="1828800"/>
          </a:xfrm>
          <a:prstGeom prst="roundRect">
            <a:avLst>
              <a:gd name="adj" fmla="val 5000"/>
            </a:avLst>
          </a:prstGeom>
          <a:solidFill>
            <a:schemeClr val="bg2"/>
          </a:solidFill>
          <a:ln w="12700">
            <a:solidFill>
              <a:schemeClr val="accent6"/>
            </a:solidFill>
            <a:prstDash val="solid"/>
          </a:ln>
        </p:spPr>
      </p:sp>
      <p:sp>
        <p:nvSpPr>
          <p:cNvPr id="8" name="Code panel code"/>
          <p:cNvSpPr txBox="1"/>
          <p:nvPr/>
        </p:nvSpPr>
        <p:spPr>
          <a:xfrm>
            <a:off x="685800" y="2898648"/>
            <a:ext cx="5120640" cy="1645920"/>
          </a:xfrm>
          <a:prstGeom prst="rect">
            <a:avLst/>
          </a:prstGeom>
          <a:noFill/>
          <a:ln/>
        </p:spPr>
        <p:txBody>
          <a:bodyPr wrap="square" lIns="0" tIns="635" rIns="635" bIns="0" rtlCol="0" anchor="t"/>
          <a:lstStyle/>
          <a:p>
            <a:pPr indent="0" marL="0">
              <a:buNone/>
            </a:pPr>
            <a:r>
              <a:rPr lang="en-US" sz="1300" dirty="0">
                <a:solidFill>
                  <a:schemeClr val="accent1"/>
                </a:solidFill>
                <a:latin typeface="Consolas" pitchFamily="34" charset="0"/>
                <a:ea typeface="Consolas" pitchFamily="34" charset="-122"/>
                <a:cs typeface="Consolas" pitchFamily="34" charset="-120"/>
              </a:rPr>
              <a:t>function</a:t>
            </a:r>
            <a:r>
              <a:rPr lang="en-US" sz="1300" dirty="0">
                <a:solidFill>
                  <a:schemeClr val="tx1"/>
                </a:solidFill>
                <a:latin typeface="Consolas" pitchFamily="34" charset="0"/>
                <a:ea typeface="Consolas" pitchFamily="34" charset="-122"/>
                <a:cs typeface="Consolas" pitchFamily="34" charset="-120"/>
              </a:rPr>
              <a:t> Greeting(props) {</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a:t>
            </a:r>
            <a:r>
              <a:rPr lang="en-US" sz="1300" dirty="0">
                <a:solidFill>
                  <a:schemeClr val="accent1"/>
                </a:solidFill>
                <a:latin typeface="Consolas" pitchFamily="34" charset="0"/>
                <a:ea typeface="Consolas" pitchFamily="34" charset="-122"/>
                <a:cs typeface="Consolas" pitchFamily="34" charset="-120"/>
              </a:rPr>
              <a:t>return</a:t>
            </a:r>
            <a:r>
              <a:rPr lang="en-US" sz="1300" dirty="0">
                <a:solidFill>
                  <a:schemeClr val="tx1"/>
                </a:solidFill>
                <a:latin typeface="Consolas" pitchFamily="34" charset="0"/>
                <a:ea typeface="Consolas" pitchFamily="34" charset="-122"/>
                <a:cs typeface="Consolas" pitchFamily="34" charset="-120"/>
              </a:rPr>
              <a:t> </a:t>
            </a:r>
            <a:r>
              <a:rPr lang="en-US" sz="1300" dirty="0">
                <a:solidFill>
                  <a:schemeClr val="accent5"/>
                </a:solidFill>
                <a:latin typeface="Consolas" pitchFamily="34" charset="0"/>
                <a:ea typeface="Consolas" pitchFamily="34" charset="-122"/>
                <a:cs typeface="Consolas" pitchFamily="34" charset="-120"/>
              </a:rPr>
              <a:t>&lt;Text</a:t>
            </a:r>
            <a:r>
              <a:rPr lang="en-US" sz="1300" dirty="0">
                <a:solidFill>
                  <a:schemeClr val="tx1"/>
                </a:solidFill>
                <a:latin typeface="Consolas" pitchFamily="34" charset="0"/>
                <a:ea typeface="Consolas" pitchFamily="34" charset="-122"/>
                <a:cs typeface="Consolas" pitchFamily="34" charset="-120"/>
              </a:rPr>
              <a:t>&gt;Hello, {props.name}!</a:t>
            </a:r>
            <a:r>
              <a:rPr lang="en-US" sz="1300" dirty="0">
                <a:solidFill>
                  <a:schemeClr val="accent5"/>
                </a:solidFill>
                <a:latin typeface="Consolas" pitchFamily="34" charset="0"/>
                <a:ea typeface="Consolas" pitchFamily="34" charset="-122"/>
                <a:cs typeface="Consolas" pitchFamily="34" charset="-120"/>
              </a:rPr>
              <a:t>&lt;/Text</a:t>
            </a:r>
            <a:r>
              <a:rPr lang="en-US" sz="1300" dirty="0">
                <a:solidFill>
                  <a:schemeClr val="tx1"/>
                </a:solidFill>
                <a:latin typeface="Consolas" pitchFamily="34" charset="0"/>
                <a:ea typeface="Consolas" pitchFamily="34" charset="-122"/>
                <a:cs typeface="Consolas" pitchFamily="34" charset="-120"/>
              </a:rPr>
              <a:t>&gt;;</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indent="0" marL="0">
              <a:buNone/>
            </a:pPr>
            <a:r>
              <a:rPr lang="en-US" sz="1300" i="1" dirty="0">
                <a:solidFill>
                  <a:schemeClr val="tx2"/>
                </a:solidFill>
                <a:latin typeface="Consolas" pitchFamily="34" charset="0"/>
                <a:ea typeface="Consolas" pitchFamily="34" charset="-122"/>
                <a:cs typeface="Consolas" pitchFamily="34" charset="-120"/>
              </a:rPr>
              <a:t>// Use it with different props:</a:t>
            </a:r>
            <a:endParaRPr lang="en-US" sz="1300" dirty="0"/>
          </a:p>
          <a:p>
            <a:pPr indent="0" marL="0">
              <a:buNone/>
            </a:pPr>
            <a:r>
              <a:rPr lang="en-US" sz="1300" dirty="0">
                <a:solidFill>
                  <a:schemeClr val="accent5"/>
                </a:solidFill>
                <a:latin typeface="Consolas" pitchFamily="34" charset="0"/>
                <a:ea typeface="Consolas" pitchFamily="34" charset="-122"/>
                <a:cs typeface="Consolas" pitchFamily="34" charset="-120"/>
              </a:rPr>
              <a:t>&lt;Greeting</a:t>
            </a:r>
            <a:r>
              <a:rPr lang="en-US" sz="1300" dirty="0">
                <a:solidFill>
                  <a:schemeClr val="tx1"/>
                </a:solidFill>
                <a:latin typeface="Consolas" pitchFamily="34" charset="0"/>
                <a:ea typeface="Consolas" pitchFamily="34" charset="-122"/>
                <a:cs typeface="Consolas" pitchFamily="34" charset="-120"/>
              </a:rPr>
              <a:t> name=</a:t>
            </a:r>
            <a:r>
              <a:rPr lang="en-US" sz="1300" dirty="0">
                <a:solidFill>
                  <a:schemeClr val="accent3"/>
                </a:solidFill>
                <a:latin typeface="Consolas" pitchFamily="34" charset="0"/>
                <a:ea typeface="Consolas" pitchFamily="34" charset="-122"/>
                <a:cs typeface="Consolas" pitchFamily="34" charset="-120"/>
              </a:rPr>
              <a:t>"Ali"</a:t>
            </a:r>
            <a:r>
              <a:rPr lang="en-US" sz="1300" dirty="0">
                <a:solidFill>
                  <a:schemeClr val="tx1"/>
                </a:solidFill>
                <a:latin typeface="Consolas" pitchFamily="34" charset="0"/>
                <a:ea typeface="Consolas" pitchFamily="34" charset="-122"/>
                <a:cs typeface="Consolas" pitchFamily="34" charset="-120"/>
              </a:rPr>
              <a:t> </a:t>
            </a:r>
            <a:r>
              <a:rPr lang="en-US" sz="1300" dirty="0">
                <a:solidFill>
                  <a:schemeClr val="accent5"/>
                </a:solidFill>
                <a:latin typeface="Consolas" pitchFamily="34" charset="0"/>
                <a:ea typeface="Consolas" pitchFamily="34" charset="-122"/>
                <a:cs typeface="Consolas" pitchFamily="34" charset="-120"/>
              </a:rPr>
              <a:t>/&gt;</a:t>
            </a:r>
            <a:endParaRPr lang="en-US" sz="1300" dirty="0"/>
          </a:p>
          <a:p>
            <a:pPr indent="0" marL="0">
              <a:buNone/>
            </a:pPr>
            <a:r>
              <a:rPr lang="en-US" sz="1300" dirty="0">
                <a:solidFill>
                  <a:schemeClr val="accent5"/>
                </a:solidFill>
                <a:latin typeface="Consolas" pitchFamily="34" charset="0"/>
                <a:ea typeface="Consolas" pitchFamily="34" charset="-122"/>
                <a:cs typeface="Consolas" pitchFamily="34" charset="-120"/>
              </a:rPr>
              <a:t>&lt;Greeting</a:t>
            </a:r>
            <a:r>
              <a:rPr lang="en-US" sz="1300" dirty="0">
                <a:solidFill>
                  <a:schemeClr val="tx1"/>
                </a:solidFill>
                <a:latin typeface="Consolas" pitchFamily="34" charset="0"/>
                <a:ea typeface="Consolas" pitchFamily="34" charset="-122"/>
                <a:cs typeface="Consolas" pitchFamily="34" charset="-120"/>
              </a:rPr>
              <a:t> name=</a:t>
            </a:r>
            <a:r>
              <a:rPr lang="en-US" sz="1300" dirty="0">
                <a:solidFill>
                  <a:schemeClr val="accent3"/>
                </a:solidFill>
                <a:latin typeface="Consolas" pitchFamily="34" charset="0"/>
                <a:ea typeface="Consolas" pitchFamily="34" charset="-122"/>
                <a:cs typeface="Consolas" pitchFamily="34" charset="-120"/>
              </a:rPr>
              <a:t>"Sara"</a:t>
            </a:r>
            <a:r>
              <a:rPr lang="en-US" sz="1300" dirty="0">
                <a:solidFill>
                  <a:schemeClr val="tx1"/>
                </a:solidFill>
                <a:latin typeface="Consolas" pitchFamily="34" charset="0"/>
                <a:ea typeface="Consolas" pitchFamily="34" charset="-122"/>
                <a:cs typeface="Consolas" pitchFamily="34" charset="-120"/>
              </a:rPr>
              <a:t> </a:t>
            </a:r>
            <a:r>
              <a:rPr lang="en-US" sz="1300" dirty="0">
                <a:solidFill>
                  <a:schemeClr val="accent5"/>
                </a:solidFill>
                <a:latin typeface="Consolas" pitchFamily="34" charset="0"/>
                <a:ea typeface="Consolas" pitchFamily="34" charset="-122"/>
                <a:cs typeface="Consolas" pitchFamily="34" charset="-120"/>
              </a:rPr>
              <a:t>/&gt;</a:t>
            </a:r>
            <a:endParaRPr lang="en-US" sz="1300" dirty="0"/>
          </a:p>
        </p:txBody>
      </p:sp>
      <p:sp>
        <p:nvSpPr>
          <p:cNvPr id="9" name="Text 7"/>
          <p:cNvSpPr txBox="1"/>
          <p:nvPr/>
        </p:nvSpPr>
        <p:spPr>
          <a:xfrm>
            <a:off x="548640" y="5870448"/>
            <a:ext cx="5394960" cy="320040"/>
          </a:xfrm>
          <a:prstGeom prst="rect">
            <a:avLst/>
          </a:prstGeom>
          <a:noFill/>
          <a:ln/>
        </p:spPr>
        <p:txBody>
          <a:bodyPr wrap="square" lIns="0" tIns="0" rIns="0" bIns="0" rtlCol="0" anchor="ctr"/>
          <a:lstStyle/>
          <a:p>
            <a:pPr indent="0" marL="0">
              <a:buNone/>
            </a:pPr>
            <a:r>
              <a:rPr lang="en-US" sz="1400" i="1" dirty="0">
                <a:solidFill>
                  <a:schemeClr val="tx2"/>
                </a:solidFill>
              </a:rPr>
              <a:t>Think of props as function arguments.</a:t>
            </a:r>
            <a:endParaRPr lang="en-US" sz="1400" dirty="0"/>
          </a:p>
        </p:txBody>
      </p:sp>
      <p:sp>
        <p:nvSpPr>
          <p:cNvPr id="10" name="Text 8"/>
          <p:cNvSpPr txBox="1"/>
          <p:nvPr/>
        </p:nvSpPr>
        <p:spPr>
          <a:xfrm>
            <a:off x="6245352" y="1691640"/>
            <a:ext cx="5394960" cy="411480"/>
          </a:xfrm>
          <a:prstGeom prst="rect">
            <a:avLst/>
          </a:prstGeom>
          <a:noFill/>
          <a:ln/>
        </p:spPr>
        <p:txBody>
          <a:bodyPr wrap="square" lIns="0" tIns="0" rIns="0" bIns="0" rtlCol="0" anchor="ctr"/>
          <a:lstStyle/>
          <a:p>
            <a:pPr indent="0" marL="0">
              <a:buNone/>
            </a:pPr>
            <a:r>
              <a:rPr lang="en-US" sz="2000" b="1" dirty="0">
                <a:solidFill>
                  <a:schemeClr val="accent1"/>
                </a:solidFill>
              </a:rPr>
              <a:t>State: data that changes</a:t>
            </a:r>
            <a:endParaRPr lang="en-US" sz="2000" dirty="0"/>
          </a:p>
        </p:txBody>
      </p:sp>
      <p:sp>
        <p:nvSpPr>
          <p:cNvPr id="11" name="Text 9"/>
          <p:cNvSpPr txBox="1"/>
          <p:nvPr/>
        </p:nvSpPr>
        <p:spPr>
          <a:xfrm>
            <a:off x="6245352" y="2103120"/>
            <a:ext cx="5394960" cy="640080"/>
          </a:xfrm>
          <a:prstGeom prst="rect">
            <a:avLst/>
          </a:prstGeom>
          <a:noFill/>
          <a:ln/>
        </p:spPr>
        <p:txBody>
          <a:bodyPr wrap="square" lIns="0" tIns="0" rIns="0" bIns="0" rtlCol="0" anchor="t"/>
          <a:lstStyle/>
          <a:p>
            <a:pPr indent="0" marL="0">
              <a:buNone/>
            </a:pPr>
            <a:r>
              <a:rPr lang="en-US" sz="1500" dirty="0">
                <a:solidFill>
                  <a:schemeClr val="tx1"/>
                </a:solidFill>
              </a:rPr>
              <a:t>A component keeps its own state. When state changes, the screen updates automatically.</a:t>
            </a:r>
            <a:endParaRPr lang="en-US" sz="1500" dirty="0"/>
          </a:p>
        </p:txBody>
      </p:sp>
      <p:sp>
        <p:nvSpPr>
          <p:cNvPr id="12" name="Code panel"/>
          <p:cNvSpPr/>
          <p:nvPr/>
        </p:nvSpPr>
        <p:spPr>
          <a:xfrm>
            <a:off x="6245352" y="2788920"/>
            <a:ext cx="5394960" cy="3017520"/>
          </a:xfrm>
          <a:prstGeom prst="roundRect">
            <a:avLst>
              <a:gd name="adj" fmla="val 3030"/>
            </a:avLst>
          </a:prstGeom>
          <a:solidFill>
            <a:schemeClr val="bg2"/>
          </a:solidFill>
          <a:ln w="12700">
            <a:solidFill>
              <a:schemeClr val="accent6"/>
            </a:solidFill>
            <a:prstDash val="solid"/>
          </a:ln>
        </p:spPr>
      </p:sp>
      <p:sp>
        <p:nvSpPr>
          <p:cNvPr id="13" name="Code panel code"/>
          <p:cNvSpPr txBox="1"/>
          <p:nvPr/>
        </p:nvSpPr>
        <p:spPr>
          <a:xfrm>
            <a:off x="6382512" y="2898648"/>
            <a:ext cx="5120640" cy="2834640"/>
          </a:xfrm>
          <a:prstGeom prst="rect">
            <a:avLst/>
          </a:prstGeom>
          <a:noFill/>
          <a:ln/>
        </p:spPr>
        <p:txBody>
          <a:bodyPr wrap="square" lIns="0" tIns="635" rIns="635" bIns="0" rtlCol="0" anchor="t"/>
          <a:lstStyle/>
          <a:p>
            <a:pPr indent="0" marL="0">
              <a:buNone/>
            </a:pPr>
            <a:r>
              <a:rPr lang="en-US" sz="1300" dirty="0">
                <a:solidFill>
                  <a:schemeClr val="accent1"/>
                </a:solidFill>
                <a:latin typeface="Consolas" pitchFamily="34" charset="0"/>
                <a:ea typeface="Consolas" pitchFamily="34" charset="-122"/>
                <a:cs typeface="Consolas" pitchFamily="34" charset="-120"/>
              </a:rPr>
              <a:t>import</a:t>
            </a:r>
            <a:r>
              <a:rPr lang="en-US" sz="1300" dirty="0">
                <a:solidFill>
                  <a:schemeClr val="tx1"/>
                </a:solidFill>
                <a:latin typeface="Consolas" pitchFamily="34" charset="0"/>
                <a:ea typeface="Consolas" pitchFamily="34" charset="-122"/>
                <a:cs typeface="Consolas" pitchFamily="34" charset="-120"/>
              </a:rPr>
              <a:t> { useState } </a:t>
            </a:r>
            <a:r>
              <a:rPr lang="en-US" sz="1300" dirty="0">
                <a:solidFill>
                  <a:schemeClr val="accent1"/>
                </a:solidFill>
                <a:latin typeface="Consolas" pitchFamily="34" charset="0"/>
                <a:ea typeface="Consolas" pitchFamily="34" charset="-122"/>
                <a:cs typeface="Consolas" pitchFamily="34" charset="-120"/>
              </a:rPr>
              <a:t>from</a:t>
            </a:r>
            <a:r>
              <a:rPr lang="en-US" sz="1300" dirty="0">
                <a:solidFill>
                  <a:schemeClr val="tx1"/>
                </a:solidFill>
                <a:latin typeface="Consolas" pitchFamily="34" charset="0"/>
                <a:ea typeface="Consolas" pitchFamily="34" charset="-122"/>
                <a:cs typeface="Consolas" pitchFamily="34" charset="-120"/>
              </a:rPr>
              <a:t> </a:t>
            </a:r>
            <a:r>
              <a:rPr lang="en-US" sz="1300" dirty="0">
                <a:solidFill>
                  <a:schemeClr val="accent3"/>
                </a:solidFill>
                <a:latin typeface="Consolas" pitchFamily="34" charset="0"/>
                <a:ea typeface="Consolas" pitchFamily="34" charset="-122"/>
                <a:cs typeface="Consolas" pitchFamily="34" charset="-120"/>
              </a:rPr>
              <a:t>"react"</a:t>
            </a:r>
            <a:r>
              <a:rPr lang="en-US" sz="1300" dirty="0">
                <a:solidFill>
                  <a:schemeClr val="tx1"/>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chemeClr val="accent1"/>
                </a:solidFill>
                <a:latin typeface="Consolas" pitchFamily="34" charset="0"/>
                <a:ea typeface="Consolas" pitchFamily="34" charset="-122"/>
                <a:cs typeface="Consolas" pitchFamily="34" charset="-120"/>
              </a:rPr>
              <a:t>import</a:t>
            </a:r>
            <a:r>
              <a:rPr lang="en-US" sz="1300" dirty="0">
                <a:solidFill>
                  <a:schemeClr val="tx1"/>
                </a:solidFill>
                <a:latin typeface="Consolas" pitchFamily="34" charset="0"/>
                <a:ea typeface="Consolas" pitchFamily="34" charset="-122"/>
                <a:cs typeface="Consolas" pitchFamily="34" charset="-120"/>
              </a:rPr>
              <a:t> { Button, Text, View } </a:t>
            </a:r>
            <a:r>
              <a:rPr lang="en-US" sz="1300" dirty="0">
                <a:solidFill>
                  <a:schemeClr val="accent1"/>
                </a:solidFill>
                <a:latin typeface="Consolas" pitchFamily="34" charset="0"/>
                <a:ea typeface="Consolas" pitchFamily="34" charset="-122"/>
                <a:cs typeface="Consolas" pitchFamily="34" charset="-120"/>
              </a:rPr>
              <a:t>from</a:t>
            </a:r>
            <a:r>
              <a:rPr lang="en-US" sz="1300" dirty="0">
                <a:solidFill>
                  <a:schemeClr val="tx1"/>
                </a:solidFill>
                <a:latin typeface="Consolas" pitchFamily="34" charset="0"/>
                <a:ea typeface="Consolas" pitchFamily="34" charset="-122"/>
                <a:cs typeface="Consolas" pitchFamily="34" charset="-120"/>
              </a:rPr>
              <a:t> </a:t>
            </a:r>
            <a:r>
              <a:rPr lang="en-US" sz="1300" dirty="0">
                <a:solidFill>
                  <a:schemeClr val="accent3"/>
                </a:solidFill>
                <a:latin typeface="Consolas" pitchFamily="34" charset="0"/>
                <a:ea typeface="Consolas" pitchFamily="34" charset="-122"/>
                <a:cs typeface="Consolas" pitchFamily="34" charset="-120"/>
              </a:rPr>
              <a:t>"react-native"</a:t>
            </a:r>
            <a:r>
              <a:rPr lang="en-US" sz="1300" dirty="0">
                <a:solidFill>
                  <a:schemeClr val="tx1"/>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indent="0" marL="0">
              <a:buNone/>
            </a:pPr>
            <a:r>
              <a:rPr lang="en-US" sz="1300" dirty="0">
                <a:solidFill>
                  <a:schemeClr val="accent1"/>
                </a:solidFill>
                <a:latin typeface="Consolas" pitchFamily="34" charset="0"/>
                <a:ea typeface="Consolas" pitchFamily="34" charset="-122"/>
                <a:cs typeface="Consolas" pitchFamily="34" charset="-120"/>
              </a:rPr>
              <a:t>function</a:t>
            </a:r>
            <a:r>
              <a:rPr lang="en-US" sz="1300" dirty="0">
                <a:solidFill>
                  <a:schemeClr val="tx1"/>
                </a:solidFill>
                <a:latin typeface="Consolas" pitchFamily="34" charset="0"/>
                <a:ea typeface="Consolas" pitchFamily="34" charset="-122"/>
                <a:cs typeface="Consolas" pitchFamily="34" charset="-120"/>
              </a:rPr>
              <a:t> Counter() {</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a:t>
            </a:r>
            <a:r>
              <a:rPr lang="en-US" sz="1300" dirty="0">
                <a:solidFill>
                  <a:schemeClr val="accent1"/>
                </a:solidFill>
                <a:latin typeface="Consolas" pitchFamily="34" charset="0"/>
                <a:ea typeface="Consolas" pitchFamily="34" charset="-122"/>
                <a:cs typeface="Consolas" pitchFamily="34" charset="-120"/>
              </a:rPr>
              <a:t>const</a:t>
            </a:r>
            <a:r>
              <a:rPr lang="en-US" sz="1300" dirty="0">
                <a:solidFill>
                  <a:schemeClr val="tx1"/>
                </a:solidFill>
                <a:latin typeface="Consolas" pitchFamily="34" charset="0"/>
                <a:ea typeface="Consolas" pitchFamily="34" charset="-122"/>
                <a:cs typeface="Consolas" pitchFamily="34" charset="-120"/>
              </a:rPr>
              <a:t> [count, setCount] = useState(</a:t>
            </a:r>
            <a:r>
              <a:rPr lang="en-US" sz="1300" dirty="0">
                <a:solidFill>
                  <a:schemeClr val="accent2"/>
                </a:solidFill>
                <a:latin typeface="Consolas" pitchFamily="34" charset="0"/>
                <a:ea typeface="Consolas" pitchFamily="34" charset="-122"/>
                <a:cs typeface="Consolas" pitchFamily="34" charset="-120"/>
              </a:rPr>
              <a:t>0</a:t>
            </a:r>
            <a:r>
              <a:rPr lang="en-US" sz="1300" dirty="0">
                <a:solidFill>
                  <a:schemeClr val="tx1"/>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a:t>
            </a:r>
            <a:r>
              <a:rPr lang="en-US" sz="1300" dirty="0">
                <a:solidFill>
                  <a:schemeClr val="accent1"/>
                </a:solidFill>
                <a:latin typeface="Consolas" pitchFamily="34" charset="0"/>
                <a:ea typeface="Consolas" pitchFamily="34" charset="-122"/>
                <a:cs typeface="Consolas" pitchFamily="34" charset="-120"/>
              </a:rPr>
              <a:t>return</a:t>
            </a:r>
            <a:r>
              <a:rPr lang="en-US" sz="1300" dirty="0">
                <a:solidFill>
                  <a:schemeClr val="tx1"/>
                </a:solidFill>
                <a:latin typeface="Consolas" pitchFamily="34" charset="0"/>
                <a:ea typeface="Consolas" pitchFamily="34" charset="-122"/>
                <a:cs typeface="Consolas" pitchFamily="34" charset="-120"/>
              </a:rPr>
              <a:t> (</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a:t>
            </a:r>
            <a:r>
              <a:rPr lang="en-US" sz="1300" dirty="0">
                <a:solidFill>
                  <a:schemeClr val="accent5"/>
                </a:solidFill>
                <a:latin typeface="Consolas" pitchFamily="34" charset="0"/>
                <a:ea typeface="Consolas" pitchFamily="34" charset="-122"/>
                <a:cs typeface="Consolas" pitchFamily="34" charset="-120"/>
              </a:rPr>
              <a:t>&lt;View</a:t>
            </a:r>
            <a:r>
              <a:rPr lang="en-US" sz="1300" dirty="0">
                <a:solidFill>
                  <a:schemeClr val="tx1"/>
                </a:solidFill>
                <a:latin typeface="Consolas" pitchFamily="34" charset="0"/>
                <a:ea typeface="Consolas" pitchFamily="34" charset="-122"/>
                <a:cs typeface="Consolas" pitchFamily="34" charset="-120"/>
              </a:rPr>
              <a:t>&gt;</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a:t>
            </a:r>
            <a:r>
              <a:rPr lang="en-US" sz="1300" dirty="0">
                <a:solidFill>
                  <a:schemeClr val="accent5"/>
                </a:solidFill>
                <a:latin typeface="Consolas" pitchFamily="34" charset="0"/>
                <a:ea typeface="Consolas" pitchFamily="34" charset="-122"/>
                <a:cs typeface="Consolas" pitchFamily="34" charset="-120"/>
              </a:rPr>
              <a:t>&lt;Text</a:t>
            </a:r>
            <a:r>
              <a:rPr lang="en-US" sz="1300" dirty="0">
                <a:solidFill>
                  <a:schemeClr val="tx1"/>
                </a:solidFill>
                <a:latin typeface="Consolas" pitchFamily="34" charset="0"/>
                <a:ea typeface="Consolas" pitchFamily="34" charset="-122"/>
                <a:cs typeface="Consolas" pitchFamily="34" charset="-120"/>
              </a:rPr>
              <a:t>&gt;Count: {count}</a:t>
            </a:r>
            <a:r>
              <a:rPr lang="en-US" sz="1300" dirty="0">
                <a:solidFill>
                  <a:schemeClr val="accent5"/>
                </a:solidFill>
                <a:latin typeface="Consolas" pitchFamily="34" charset="0"/>
                <a:ea typeface="Consolas" pitchFamily="34" charset="-122"/>
                <a:cs typeface="Consolas" pitchFamily="34" charset="-120"/>
              </a:rPr>
              <a:t>&lt;/Text</a:t>
            </a:r>
            <a:r>
              <a:rPr lang="en-US" sz="1300" dirty="0">
                <a:solidFill>
                  <a:schemeClr val="tx1"/>
                </a:solidFill>
                <a:latin typeface="Consolas" pitchFamily="34" charset="0"/>
                <a:ea typeface="Consolas" pitchFamily="34" charset="-122"/>
                <a:cs typeface="Consolas" pitchFamily="34" charset="-120"/>
              </a:rPr>
              <a:t>&gt;</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a:t>
            </a:r>
            <a:r>
              <a:rPr lang="en-US" sz="1300" dirty="0">
                <a:solidFill>
                  <a:schemeClr val="accent5"/>
                </a:solidFill>
                <a:latin typeface="Consolas" pitchFamily="34" charset="0"/>
                <a:ea typeface="Consolas" pitchFamily="34" charset="-122"/>
                <a:cs typeface="Consolas" pitchFamily="34" charset="-120"/>
              </a:rPr>
              <a:t>&lt;Button</a:t>
            </a:r>
            <a:r>
              <a:rPr lang="en-US" sz="1300" dirty="0">
                <a:solidFill>
                  <a:schemeClr val="tx1"/>
                </a:solidFill>
                <a:latin typeface="Consolas" pitchFamily="34" charset="0"/>
                <a:ea typeface="Consolas" pitchFamily="34" charset="-122"/>
                <a:cs typeface="Consolas" pitchFamily="34" charset="-120"/>
              </a:rPr>
              <a:t> title=</a:t>
            </a:r>
            <a:r>
              <a:rPr lang="en-US" sz="1300" dirty="0">
                <a:solidFill>
                  <a:schemeClr val="accent3"/>
                </a:solidFill>
                <a:latin typeface="Consolas" pitchFamily="34" charset="0"/>
                <a:ea typeface="Consolas" pitchFamily="34" charset="-122"/>
                <a:cs typeface="Consolas" pitchFamily="34" charset="-120"/>
              </a:rPr>
              <a:t>"Add 1"</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onPress={() =&gt; setCount(count + </a:t>
            </a:r>
            <a:r>
              <a:rPr lang="en-US" sz="1300" dirty="0">
                <a:solidFill>
                  <a:schemeClr val="accent2"/>
                </a:solidFill>
                <a:latin typeface="Consolas" pitchFamily="34" charset="0"/>
                <a:ea typeface="Consolas" pitchFamily="34" charset="-122"/>
                <a:cs typeface="Consolas" pitchFamily="34" charset="-120"/>
              </a:rPr>
              <a:t>1</a:t>
            </a:r>
            <a:r>
              <a:rPr lang="en-US" sz="1300" dirty="0">
                <a:solidFill>
                  <a:schemeClr val="tx1"/>
                </a:solidFill>
                <a:latin typeface="Consolas" pitchFamily="34" charset="0"/>
                <a:ea typeface="Consolas" pitchFamily="34" charset="-122"/>
                <a:cs typeface="Consolas" pitchFamily="34" charset="-120"/>
              </a:rPr>
              <a:t>)} </a:t>
            </a:r>
            <a:r>
              <a:rPr lang="en-US" sz="1300" dirty="0">
                <a:solidFill>
                  <a:schemeClr val="accent5"/>
                </a:solidFill>
                <a:latin typeface="Consolas" pitchFamily="34" charset="0"/>
                <a:ea typeface="Consolas" pitchFamily="34" charset="-122"/>
                <a:cs typeface="Consolas" pitchFamily="34" charset="-120"/>
              </a:rPr>
              <a:t>/&gt;</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a:t>
            </a:r>
            <a:r>
              <a:rPr lang="en-US" sz="1300" dirty="0">
                <a:solidFill>
                  <a:schemeClr val="accent5"/>
                </a:solidFill>
                <a:latin typeface="Consolas" pitchFamily="34" charset="0"/>
                <a:ea typeface="Consolas" pitchFamily="34" charset="-122"/>
                <a:cs typeface="Consolas" pitchFamily="34" charset="-120"/>
              </a:rPr>
              <a:t>&lt;/View</a:t>
            </a:r>
            <a:r>
              <a:rPr lang="en-US" sz="1300" dirty="0">
                <a:solidFill>
                  <a:schemeClr val="tx1"/>
                </a:solidFill>
                <a:latin typeface="Consolas" pitchFamily="34" charset="0"/>
                <a:ea typeface="Consolas" pitchFamily="34" charset="-122"/>
                <a:cs typeface="Consolas" pitchFamily="34" charset="-120"/>
              </a:rPr>
              <a:t>&gt;</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a:t>
            </a:r>
            <a:endParaRPr lang="en-US" sz="1300" dirty="0"/>
          </a:p>
        </p:txBody>
      </p:sp>
      <p:sp>
        <p:nvSpPr>
          <p:cNvPr id="14" name="Text 12"/>
          <p:cNvSpPr txBox="1"/>
          <p:nvPr/>
        </p:nvSpPr>
        <p:spPr>
          <a:xfrm>
            <a:off x="6245352" y="5870448"/>
            <a:ext cx="5394960" cy="320040"/>
          </a:xfrm>
          <a:prstGeom prst="rect">
            <a:avLst/>
          </a:prstGeom>
          <a:noFill/>
          <a:ln/>
        </p:spPr>
        <p:txBody>
          <a:bodyPr wrap="square" lIns="0" tIns="0" rIns="0" bIns="0" rtlCol="0" anchor="ctr"/>
          <a:lstStyle/>
          <a:p>
            <a:pPr indent="0" marL="0">
              <a:buNone/>
            </a:pPr>
            <a:r>
              <a:rPr lang="en-US" sz="1400" i="1" dirty="0">
                <a:solidFill>
                  <a:schemeClr val="tx2"/>
                </a:solidFill>
              </a:rPr>
              <a:t>Think of state as a variable the screen remembers.</a:t>
            </a:r>
            <a:endParaRPr lang="en-US" sz="1400" dirty="0"/>
          </a:p>
        </p:txBody>
      </p:sp>
      <p:sp>
        <p:nvSpPr>
          <p:cNvPr id="15" name="Card"/>
          <p:cNvSpPr/>
          <p:nvPr/>
        </p:nvSpPr>
        <p:spPr>
          <a:xfrm>
            <a:off x="548640" y="4754880"/>
            <a:ext cx="5394960" cy="1051560"/>
          </a:xfrm>
          <a:prstGeom prst="roundRect">
            <a:avLst>
              <a:gd name="adj" fmla="val 10435"/>
            </a:avLst>
          </a:prstGeom>
          <a:solidFill>
            <a:schemeClr val="bg1"/>
          </a:solidFill>
          <a:ln w="15875">
            <a:solidFill>
              <a:schemeClr val="accent6"/>
            </a:solidFill>
            <a:prstDash val="solid"/>
          </a:ln>
        </p:spPr>
      </p:sp>
      <p:sp>
        <p:nvSpPr>
          <p:cNvPr id="16" name="Text 14"/>
          <p:cNvSpPr txBox="1"/>
          <p:nvPr/>
        </p:nvSpPr>
        <p:spPr>
          <a:xfrm>
            <a:off x="777240" y="4846320"/>
            <a:ext cx="1828800" cy="274320"/>
          </a:xfrm>
          <a:prstGeom prst="rect">
            <a:avLst/>
          </a:prstGeom>
          <a:noFill/>
          <a:ln/>
        </p:spPr>
        <p:txBody>
          <a:bodyPr wrap="square" lIns="0" tIns="0" rIns="0" bIns="0" rtlCol="0" anchor="ctr"/>
          <a:lstStyle/>
          <a:p>
            <a:pPr indent="0" marL="0">
              <a:buNone/>
            </a:pPr>
            <a:r>
              <a:rPr lang="en-US" sz="1100" b="1" spc="150" kern="0" dirty="0">
                <a:solidFill>
                  <a:schemeClr val="tx2"/>
                </a:solidFill>
              </a:rPr>
              <a:t>ON SCREEN</a:t>
            </a:r>
            <a:endParaRPr lang="en-US" sz="1100" dirty="0"/>
          </a:p>
        </p:txBody>
      </p:sp>
      <p:sp>
        <p:nvSpPr>
          <p:cNvPr id="17" name="Text 15"/>
          <p:cNvSpPr txBox="1"/>
          <p:nvPr/>
        </p:nvSpPr>
        <p:spPr>
          <a:xfrm>
            <a:off x="777240" y="5120640"/>
            <a:ext cx="4937760" cy="640080"/>
          </a:xfrm>
          <a:prstGeom prst="rect">
            <a:avLst/>
          </a:prstGeom>
          <a:noFill/>
          <a:ln/>
        </p:spPr>
        <p:txBody>
          <a:bodyPr wrap="square" lIns="0" tIns="0" rIns="0" bIns="0" rtlCol="0" anchor="t"/>
          <a:lstStyle/>
          <a:p>
            <a:pPr indent="0" marL="0">
              <a:buNone/>
            </a:pPr>
            <a:r>
              <a:rPr lang="en-US" sz="1600" dirty="0">
                <a:solidFill>
                  <a:schemeClr val="tx1"/>
                </a:solidFill>
              </a:rPr>
              <a:t>Hello, Ali!</a:t>
            </a:r>
            <a:endParaRPr lang="en-US" sz="1600" dirty="0"/>
          </a:p>
          <a:p>
            <a:pPr indent="0" marL="0">
              <a:buNone/>
            </a:pPr>
            <a:r>
              <a:rPr lang="en-US" sz="1600" dirty="0">
                <a:solidFill>
                  <a:schemeClr val="tx1"/>
                </a:solidFill>
              </a:rPr>
              <a:t>Hello, Sara!</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ection tag"/>
          <p:cNvSpPr/>
          <p:nvPr/>
        </p:nvSpPr>
        <p:spPr>
          <a:xfrm>
            <a:off x="548640" y="365760"/>
            <a:ext cx="850392" cy="310896"/>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spc="150" kern="0" dirty="0">
                <a:solidFill>
                  <a:schemeClr val="bg1"/>
                </a:solidFill>
              </a:rPr>
              <a:t>THEORY</a:t>
            </a:r>
            <a:endParaRPr lang="en-US" sz="1100" dirty="0"/>
          </a:p>
        </p:txBody>
      </p:sp>
      <p:sp>
        <p:nvSpPr>
          <p:cNvPr id="3" name="Tag context"/>
          <p:cNvSpPr txBox="1"/>
          <p:nvPr/>
        </p:nvSpPr>
        <p:spPr>
          <a:xfrm>
            <a:off x="1581912" y="365760"/>
            <a:ext cx="10058400" cy="310896"/>
          </a:xfrm>
          <a:prstGeom prst="rect">
            <a:avLst/>
          </a:prstGeom>
          <a:noFill/>
          <a:ln/>
        </p:spPr>
        <p:txBody>
          <a:bodyPr wrap="square" lIns="0" tIns="0" rIns="0" bIns="0" rtlCol="0" anchor="ctr"/>
          <a:lstStyle/>
          <a:p>
            <a:pPr indent="0" marL="0">
              <a:buNone/>
            </a:pPr>
            <a:r>
              <a:rPr lang="en-US" sz="1300" dirty="0">
                <a:solidFill>
                  <a:schemeClr val="tx2"/>
                </a:solidFill>
              </a:rPr>
              <a:t>Part 3: React Native fundamentals</a:t>
            </a:r>
            <a:endParaRPr lang="en-US" sz="1300" dirty="0"/>
          </a:p>
        </p:txBody>
      </p:sp>
      <p:sp>
        <p:nvSpPr>
          <p:cNvPr id="4" name="Text 0"/>
          <p:cNvSpPr/>
          <p:nvPr>
            <p:ph idx="100" type="title" hasCustomPrompt="1"/>
          </p:nvPr>
        </p:nvSpPr>
        <p:spPr>
          <a:xfrm>
            <a:off x="548640" y="749808"/>
            <a:ext cx="11091672" cy="713232"/>
          </a:xfrm>
          <a:prstGeom prst="rect">
            <a:avLst/>
          </a:prstGeom>
          <a:noFill/>
          <a:ln/>
        </p:spPr>
        <p:txBody>
          <a:bodyPr wrap="square" lIns="0" tIns="0" rIns="0" bIns="0" rtlCol="0" anchor="ctr"/>
          <a:lstStyle/>
          <a:p>
            <a:pPr algn="l" indent="0" marL="0">
              <a:buNone/>
            </a:pPr>
            <a:r>
              <a:rPr lang="en-US" sz="3600" b="1" dirty="0">
                <a:solidFill>
                  <a:schemeClr val="tx1"/>
                </a:solidFill>
              </a:rPr>
              <a:t>Basic Styling</a:t>
            </a:r>
            <a:endParaRPr lang="en-US" sz="3600" dirty="0"/>
          </a:p>
        </p:txBody>
      </p:sp>
      <p:sp>
        <p:nvSpPr>
          <p:cNvPr id="5" name="Code panel"/>
          <p:cNvSpPr/>
          <p:nvPr/>
        </p:nvSpPr>
        <p:spPr>
          <a:xfrm>
            <a:off x="548640" y="1691640"/>
            <a:ext cx="6126480" cy="4434840"/>
          </a:xfrm>
          <a:prstGeom prst="roundRect">
            <a:avLst>
              <a:gd name="adj" fmla="val 2062"/>
            </a:avLst>
          </a:prstGeom>
          <a:solidFill>
            <a:schemeClr val="bg2"/>
          </a:solidFill>
          <a:ln w="12700">
            <a:solidFill>
              <a:schemeClr val="accent6"/>
            </a:solidFill>
            <a:prstDash val="solid"/>
          </a:ln>
        </p:spPr>
      </p:sp>
      <p:sp>
        <p:nvSpPr>
          <p:cNvPr id="6" name="Code panel label"/>
          <p:cNvSpPr txBox="1"/>
          <p:nvPr/>
        </p:nvSpPr>
        <p:spPr>
          <a:xfrm>
            <a:off x="731520" y="1783080"/>
            <a:ext cx="5760720" cy="274320"/>
          </a:xfrm>
          <a:prstGeom prst="rect">
            <a:avLst/>
          </a:prstGeom>
          <a:noFill/>
          <a:ln/>
        </p:spPr>
        <p:txBody>
          <a:bodyPr wrap="square" lIns="0" tIns="0" rIns="0" bIns="0" rtlCol="0" anchor="ctr"/>
          <a:lstStyle/>
          <a:p>
            <a:pPr indent="0" marL="0">
              <a:buNone/>
            </a:pPr>
            <a:r>
              <a:rPr lang="en-US" sz="1100" b="1" dirty="0">
                <a:solidFill>
                  <a:schemeClr val="tx2"/>
                </a:solidFill>
                <a:latin typeface="Consolas" pitchFamily="34" charset="0"/>
                <a:ea typeface="Consolas" pitchFamily="34" charset="-122"/>
                <a:cs typeface="Consolas" pitchFamily="34" charset="-120"/>
              </a:rPr>
              <a:t>Card.tsx</a:t>
            </a:r>
            <a:endParaRPr lang="en-US" sz="1100" dirty="0"/>
          </a:p>
        </p:txBody>
      </p:sp>
      <p:sp>
        <p:nvSpPr>
          <p:cNvPr id="7" name="Code panel code"/>
          <p:cNvSpPr txBox="1"/>
          <p:nvPr/>
        </p:nvSpPr>
        <p:spPr>
          <a:xfrm>
            <a:off x="685800" y="2103120"/>
            <a:ext cx="5852160" cy="3950208"/>
          </a:xfrm>
          <a:prstGeom prst="rect">
            <a:avLst/>
          </a:prstGeom>
          <a:noFill/>
          <a:ln/>
        </p:spPr>
        <p:txBody>
          <a:bodyPr wrap="square" lIns="0" tIns="635" rIns="635" bIns="0" rtlCol="0" anchor="t"/>
          <a:lstStyle/>
          <a:p>
            <a:pPr indent="0" marL="0">
              <a:buNone/>
            </a:pPr>
            <a:r>
              <a:rPr lang="en-US" sz="1300" dirty="0">
                <a:solidFill>
                  <a:schemeClr val="accent1"/>
                </a:solidFill>
                <a:latin typeface="Consolas" pitchFamily="34" charset="0"/>
                <a:ea typeface="Consolas" pitchFamily="34" charset="-122"/>
                <a:cs typeface="Consolas" pitchFamily="34" charset="-120"/>
              </a:rPr>
              <a:t>import</a:t>
            </a:r>
            <a:r>
              <a:rPr lang="en-US" sz="1300" dirty="0">
                <a:solidFill>
                  <a:schemeClr val="tx1"/>
                </a:solidFill>
                <a:latin typeface="Consolas" pitchFamily="34" charset="0"/>
                <a:ea typeface="Consolas" pitchFamily="34" charset="-122"/>
                <a:cs typeface="Consolas" pitchFamily="34" charset="-120"/>
              </a:rPr>
              <a:t> { StyleSheet, Text, View } </a:t>
            </a:r>
            <a:r>
              <a:rPr lang="en-US" sz="1300" dirty="0">
                <a:solidFill>
                  <a:schemeClr val="accent1"/>
                </a:solidFill>
                <a:latin typeface="Consolas" pitchFamily="34" charset="0"/>
                <a:ea typeface="Consolas" pitchFamily="34" charset="-122"/>
                <a:cs typeface="Consolas" pitchFamily="34" charset="-120"/>
              </a:rPr>
              <a:t>from</a:t>
            </a:r>
            <a:r>
              <a:rPr lang="en-US" sz="1300" dirty="0">
                <a:solidFill>
                  <a:schemeClr val="tx1"/>
                </a:solidFill>
                <a:latin typeface="Consolas" pitchFamily="34" charset="0"/>
                <a:ea typeface="Consolas" pitchFamily="34" charset="-122"/>
                <a:cs typeface="Consolas" pitchFamily="34" charset="-120"/>
              </a:rPr>
              <a:t> </a:t>
            </a:r>
            <a:r>
              <a:rPr lang="en-US" sz="1300" dirty="0">
                <a:solidFill>
                  <a:schemeClr val="accent3"/>
                </a:solidFill>
                <a:latin typeface="Consolas" pitchFamily="34" charset="0"/>
                <a:ea typeface="Consolas" pitchFamily="34" charset="-122"/>
                <a:cs typeface="Consolas" pitchFamily="34" charset="-120"/>
              </a:rPr>
              <a:t>"react-native"</a:t>
            </a:r>
            <a:r>
              <a:rPr lang="en-US" sz="1300" dirty="0">
                <a:solidFill>
                  <a:schemeClr val="tx1"/>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indent="0" marL="0">
              <a:buNone/>
            </a:pPr>
            <a:r>
              <a:rPr lang="en-US" sz="1300" dirty="0">
                <a:solidFill>
                  <a:schemeClr val="accent1"/>
                </a:solidFill>
                <a:latin typeface="Consolas" pitchFamily="34" charset="0"/>
                <a:ea typeface="Consolas" pitchFamily="34" charset="-122"/>
                <a:cs typeface="Consolas" pitchFamily="34" charset="-120"/>
              </a:rPr>
              <a:t>export</a:t>
            </a:r>
            <a:r>
              <a:rPr lang="en-US" sz="1300" dirty="0">
                <a:solidFill>
                  <a:schemeClr val="tx1"/>
                </a:solidFill>
                <a:latin typeface="Consolas" pitchFamily="34" charset="0"/>
                <a:ea typeface="Consolas" pitchFamily="34" charset="-122"/>
                <a:cs typeface="Consolas" pitchFamily="34" charset="-120"/>
              </a:rPr>
              <a:t> </a:t>
            </a:r>
            <a:r>
              <a:rPr lang="en-US" sz="1300" dirty="0">
                <a:solidFill>
                  <a:schemeClr val="accent1"/>
                </a:solidFill>
                <a:latin typeface="Consolas" pitchFamily="34" charset="0"/>
                <a:ea typeface="Consolas" pitchFamily="34" charset="-122"/>
                <a:cs typeface="Consolas" pitchFamily="34" charset="-120"/>
              </a:rPr>
              <a:t>default</a:t>
            </a:r>
            <a:r>
              <a:rPr lang="en-US" sz="1300" dirty="0">
                <a:solidFill>
                  <a:schemeClr val="tx1"/>
                </a:solidFill>
                <a:latin typeface="Consolas" pitchFamily="34" charset="0"/>
                <a:ea typeface="Consolas" pitchFamily="34" charset="-122"/>
                <a:cs typeface="Consolas" pitchFamily="34" charset="-120"/>
              </a:rPr>
              <a:t> </a:t>
            </a:r>
            <a:r>
              <a:rPr lang="en-US" sz="1300" dirty="0">
                <a:solidFill>
                  <a:schemeClr val="accent1"/>
                </a:solidFill>
                <a:latin typeface="Consolas" pitchFamily="34" charset="0"/>
                <a:ea typeface="Consolas" pitchFamily="34" charset="-122"/>
                <a:cs typeface="Consolas" pitchFamily="34" charset="-120"/>
              </a:rPr>
              <a:t>function</a:t>
            </a:r>
            <a:r>
              <a:rPr lang="en-US" sz="1300" dirty="0">
                <a:solidFill>
                  <a:schemeClr val="tx1"/>
                </a:solidFill>
                <a:latin typeface="Consolas" pitchFamily="34" charset="0"/>
                <a:ea typeface="Consolas" pitchFamily="34" charset="-122"/>
                <a:cs typeface="Consolas" pitchFamily="34" charset="-120"/>
              </a:rPr>
              <a:t> Card() {</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a:t>
            </a:r>
            <a:r>
              <a:rPr lang="en-US" sz="1300" dirty="0">
                <a:solidFill>
                  <a:schemeClr val="accent1"/>
                </a:solidFill>
                <a:latin typeface="Consolas" pitchFamily="34" charset="0"/>
                <a:ea typeface="Consolas" pitchFamily="34" charset="-122"/>
                <a:cs typeface="Consolas" pitchFamily="34" charset="-120"/>
              </a:rPr>
              <a:t>return</a:t>
            </a:r>
            <a:r>
              <a:rPr lang="en-US" sz="1300" dirty="0">
                <a:solidFill>
                  <a:schemeClr val="tx1"/>
                </a:solidFill>
                <a:latin typeface="Consolas" pitchFamily="34" charset="0"/>
                <a:ea typeface="Consolas" pitchFamily="34" charset="-122"/>
                <a:cs typeface="Consolas" pitchFamily="34" charset="-120"/>
              </a:rPr>
              <a:t> (</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a:t>
            </a:r>
            <a:r>
              <a:rPr lang="en-US" sz="1300" dirty="0">
                <a:solidFill>
                  <a:schemeClr val="accent5"/>
                </a:solidFill>
                <a:latin typeface="Consolas" pitchFamily="34" charset="0"/>
                <a:ea typeface="Consolas" pitchFamily="34" charset="-122"/>
                <a:cs typeface="Consolas" pitchFamily="34" charset="-120"/>
              </a:rPr>
              <a:t>&lt;View</a:t>
            </a:r>
            <a:r>
              <a:rPr lang="en-US" sz="1300" dirty="0">
                <a:solidFill>
                  <a:schemeClr val="tx1"/>
                </a:solidFill>
                <a:latin typeface="Consolas" pitchFamily="34" charset="0"/>
                <a:ea typeface="Consolas" pitchFamily="34" charset="-122"/>
                <a:cs typeface="Consolas" pitchFamily="34" charset="-120"/>
              </a:rPr>
              <a:t> style={styles.box}&gt;</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a:t>
            </a:r>
            <a:r>
              <a:rPr lang="en-US" sz="1300" dirty="0">
                <a:solidFill>
                  <a:schemeClr val="accent5"/>
                </a:solidFill>
                <a:latin typeface="Consolas" pitchFamily="34" charset="0"/>
                <a:ea typeface="Consolas" pitchFamily="34" charset="-122"/>
                <a:cs typeface="Consolas" pitchFamily="34" charset="-120"/>
              </a:rPr>
              <a:t>&lt;Text</a:t>
            </a:r>
            <a:r>
              <a:rPr lang="en-US" sz="1300" dirty="0">
                <a:solidFill>
                  <a:schemeClr val="tx1"/>
                </a:solidFill>
                <a:latin typeface="Consolas" pitchFamily="34" charset="0"/>
                <a:ea typeface="Consolas" pitchFamily="34" charset="-122"/>
                <a:cs typeface="Consolas" pitchFamily="34" charset="-120"/>
              </a:rPr>
              <a:t> style={styles.title}&gt;Styled text</a:t>
            </a:r>
            <a:r>
              <a:rPr lang="en-US" sz="1300" dirty="0">
                <a:solidFill>
                  <a:schemeClr val="accent5"/>
                </a:solidFill>
                <a:latin typeface="Consolas" pitchFamily="34" charset="0"/>
                <a:ea typeface="Consolas" pitchFamily="34" charset="-122"/>
                <a:cs typeface="Consolas" pitchFamily="34" charset="-120"/>
              </a:rPr>
              <a:t>&lt;/Text</a:t>
            </a:r>
            <a:r>
              <a:rPr lang="en-US" sz="1300" dirty="0">
                <a:solidFill>
                  <a:schemeClr val="tx1"/>
                </a:solidFill>
                <a:latin typeface="Consolas" pitchFamily="34" charset="0"/>
                <a:ea typeface="Consolas" pitchFamily="34" charset="-122"/>
                <a:cs typeface="Consolas" pitchFamily="34" charset="-120"/>
              </a:rPr>
              <a:t>&gt;</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a:t>
            </a:r>
            <a:r>
              <a:rPr lang="en-US" sz="1300" dirty="0">
                <a:solidFill>
                  <a:schemeClr val="accent5"/>
                </a:solidFill>
                <a:latin typeface="Consolas" pitchFamily="34" charset="0"/>
                <a:ea typeface="Consolas" pitchFamily="34" charset="-122"/>
                <a:cs typeface="Consolas" pitchFamily="34" charset="-120"/>
              </a:rPr>
              <a:t>&lt;/View</a:t>
            </a:r>
            <a:r>
              <a:rPr lang="en-US" sz="1300" dirty="0">
                <a:solidFill>
                  <a:schemeClr val="tx1"/>
                </a:solidFill>
                <a:latin typeface="Consolas" pitchFamily="34" charset="0"/>
                <a:ea typeface="Consolas" pitchFamily="34" charset="-122"/>
                <a:cs typeface="Consolas" pitchFamily="34" charset="-120"/>
              </a:rPr>
              <a:t>&gt;</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indent="0" marL="0">
              <a:buNone/>
            </a:pPr>
            <a:r>
              <a:rPr lang="en-US" sz="1300" dirty="0">
                <a:solidFill>
                  <a:schemeClr val="accent1"/>
                </a:solidFill>
                <a:latin typeface="Consolas" pitchFamily="34" charset="0"/>
                <a:ea typeface="Consolas" pitchFamily="34" charset="-122"/>
                <a:cs typeface="Consolas" pitchFamily="34" charset="-120"/>
              </a:rPr>
              <a:t>const</a:t>
            </a:r>
            <a:r>
              <a:rPr lang="en-US" sz="1300" dirty="0">
                <a:solidFill>
                  <a:schemeClr val="tx1"/>
                </a:solidFill>
                <a:latin typeface="Consolas" pitchFamily="34" charset="0"/>
                <a:ea typeface="Consolas" pitchFamily="34" charset="-122"/>
                <a:cs typeface="Consolas" pitchFamily="34" charset="-120"/>
              </a:rPr>
              <a:t> styles = StyleSheet.create({</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box: {</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flex: </a:t>
            </a:r>
            <a:r>
              <a:rPr lang="en-US" sz="1300" dirty="0">
                <a:solidFill>
                  <a:schemeClr val="accent2"/>
                </a:solidFill>
                <a:latin typeface="Consolas" pitchFamily="34" charset="0"/>
                <a:ea typeface="Consolas" pitchFamily="34" charset="-122"/>
                <a:cs typeface="Consolas" pitchFamily="34" charset="-120"/>
              </a:rPr>
              <a:t>1</a:t>
            </a:r>
            <a:r>
              <a:rPr lang="en-US" sz="1300" dirty="0">
                <a:solidFill>
                  <a:schemeClr val="tx1"/>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justifyContent: </a:t>
            </a:r>
            <a:r>
              <a:rPr lang="en-US" sz="1300" dirty="0">
                <a:solidFill>
                  <a:schemeClr val="accent3"/>
                </a:solidFill>
                <a:latin typeface="Consolas" pitchFamily="34" charset="0"/>
                <a:ea typeface="Consolas" pitchFamily="34" charset="-122"/>
                <a:cs typeface="Consolas" pitchFamily="34" charset="-120"/>
              </a:rPr>
              <a:t>"center"</a:t>
            </a:r>
            <a:r>
              <a:rPr lang="en-US" sz="1300" dirty="0">
                <a:solidFill>
                  <a:schemeClr val="tx1"/>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alignItems: </a:t>
            </a:r>
            <a:r>
              <a:rPr lang="en-US" sz="1300" dirty="0">
                <a:solidFill>
                  <a:schemeClr val="accent3"/>
                </a:solidFill>
                <a:latin typeface="Consolas" pitchFamily="34" charset="0"/>
                <a:ea typeface="Consolas" pitchFamily="34" charset="-122"/>
                <a:cs typeface="Consolas" pitchFamily="34" charset="-120"/>
              </a:rPr>
              <a:t>"center"</a:t>
            </a:r>
            <a:r>
              <a:rPr lang="en-US" sz="1300" dirty="0">
                <a:solidFill>
                  <a:schemeClr val="tx1"/>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backgroundColor: </a:t>
            </a:r>
            <a:r>
              <a:rPr lang="en-US" sz="1300" dirty="0">
                <a:solidFill>
                  <a:schemeClr val="accent3"/>
                </a:solidFill>
                <a:latin typeface="Consolas" pitchFamily="34" charset="0"/>
                <a:ea typeface="Consolas" pitchFamily="34" charset="-122"/>
                <a:cs typeface="Consolas" pitchFamily="34" charset="-120"/>
              </a:rPr>
              <a:t>"#E8F5E9"</a:t>
            </a:r>
            <a:r>
              <a:rPr lang="en-US" sz="1300" dirty="0">
                <a:solidFill>
                  <a:schemeClr val="tx1"/>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title: { fontSize: </a:t>
            </a:r>
            <a:r>
              <a:rPr lang="en-US" sz="1300" dirty="0">
                <a:solidFill>
                  <a:schemeClr val="accent2"/>
                </a:solidFill>
                <a:latin typeface="Consolas" pitchFamily="34" charset="0"/>
                <a:ea typeface="Consolas" pitchFamily="34" charset="-122"/>
                <a:cs typeface="Consolas" pitchFamily="34" charset="-120"/>
              </a:rPr>
              <a:t>24</a:t>
            </a:r>
            <a:r>
              <a:rPr lang="en-US" sz="1300" dirty="0">
                <a:solidFill>
                  <a:schemeClr val="tx1"/>
                </a:solidFill>
                <a:latin typeface="Consolas" pitchFamily="34" charset="0"/>
                <a:ea typeface="Consolas" pitchFamily="34" charset="-122"/>
                <a:cs typeface="Consolas" pitchFamily="34" charset="-120"/>
              </a:rPr>
              <a:t>, color: </a:t>
            </a:r>
            <a:r>
              <a:rPr lang="en-US" sz="1300" dirty="0">
                <a:solidFill>
                  <a:schemeClr val="accent3"/>
                </a:solidFill>
                <a:latin typeface="Consolas" pitchFamily="34" charset="0"/>
                <a:ea typeface="Consolas" pitchFamily="34" charset="-122"/>
                <a:cs typeface="Consolas" pitchFamily="34" charset="-120"/>
              </a:rPr>
              <a:t>"#1B5E20"</a:t>
            </a:r>
            <a:r>
              <a:rPr lang="en-US" sz="1300" dirty="0">
                <a:solidFill>
                  <a:schemeClr val="tx1"/>
                </a:solidFill>
                <a:latin typeface="Consolas" pitchFamily="34" charset="0"/>
                <a:ea typeface="Consolas" pitchFamily="34" charset="-122"/>
                <a:cs typeface="Consolas" pitchFamily="34" charset="-120"/>
              </a:rPr>
              <a:t> },</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a:t>
            </a:r>
            <a:endParaRPr lang="en-US" sz="1300" dirty="0"/>
          </a:p>
        </p:txBody>
      </p:sp>
      <p:pic>
        <p:nvPicPr>
          <p:cNvPr id="8" name="Check icon" descr="check">    </p:cNvPr>
          <p:cNvPicPr>
            <a:picLocks noChangeAspect="1"/>
          </p:cNvPicPr>
          <p:nvPr/>
        </p:nvPicPr>
        <p:blipFill>
          <a:blip r:embed="rId1"/>
          <a:stretch>
            <a:fillRect/>
          </a:stretch>
        </p:blipFill>
        <p:spPr>
          <a:xfrm>
            <a:off x="6995160" y="1773936"/>
            <a:ext cx="274320" cy="274320"/>
          </a:xfrm>
          <a:prstGeom prst="rect">
            <a:avLst/>
          </a:prstGeom>
        </p:spPr>
      </p:pic>
      <p:sp>
        <p:nvSpPr>
          <p:cNvPr id="9" name="Text 6"/>
          <p:cNvSpPr txBox="1"/>
          <p:nvPr/>
        </p:nvSpPr>
        <p:spPr>
          <a:xfrm>
            <a:off x="7406640" y="1737360"/>
            <a:ext cx="4233672" cy="548640"/>
          </a:xfrm>
          <a:prstGeom prst="rect">
            <a:avLst/>
          </a:prstGeom>
          <a:noFill/>
          <a:ln/>
        </p:spPr>
        <p:txBody>
          <a:bodyPr wrap="square" lIns="0" tIns="0" rIns="0" bIns="0" rtlCol="0" anchor="t"/>
          <a:lstStyle/>
          <a:p>
            <a:pPr indent="0" marL="0">
              <a:buNone/>
            </a:pPr>
            <a:r>
              <a:rPr lang="en-US" sz="1500" dirty="0">
                <a:solidFill>
                  <a:schemeClr val="tx1"/>
                </a:solidFill>
              </a:rPr>
              <a:t>Styles are JavaScript objects, similar to CSS.</a:t>
            </a:r>
            <a:endParaRPr lang="en-US" sz="1500" dirty="0"/>
          </a:p>
        </p:txBody>
      </p:sp>
      <p:pic>
        <p:nvPicPr>
          <p:cNvPr id="10" name="Check icon" descr="check">    </p:cNvPr>
          <p:cNvPicPr>
            <a:picLocks noChangeAspect="1"/>
          </p:cNvPicPr>
          <p:nvPr/>
        </p:nvPicPr>
        <p:blipFill>
          <a:blip r:embed="rId2"/>
          <a:stretch>
            <a:fillRect/>
          </a:stretch>
        </p:blipFill>
        <p:spPr>
          <a:xfrm>
            <a:off x="6995160" y="2340864"/>
            <a:ext cx="274320" cy="274320"/>
          </a:xfrm>
          <a:prstGeom prst="rect">
            <a:avLst/>
          </a:prstGeom>
        </p:spPr>
      </p:pic>
      <p:sp>
        <p:nvSpPr>
          <p:cNvPr id="11" name="Text 7"/>
          <p:cNvSpPr txBox="1"/>
          <p:nvPr/>
        </p:nvSpPr>
        <p:spPr>
          <a:xfrm>
            <a:off x="7406640" y="2304288"/>
            <a:ext cx="4233672" cy="548640"/>
          </a:xfrm>
          <a:prstGeom prst="rect">
            <a:avLst/>
          </a:prstGeom>
          <a:noFill/>
          <a:ln/>
        </p:spPr>
        <p:txBody>
          <a:bodyPr wrap="square" lIns="0" tIns="0" rIns="0" bIns="0" rtlCol="0" anchor="t"/>
          <a:lstStyle/>
          <a:p>
            <a:pPr indent="0" marL="0">
              <a:buNone/>
            </a:pPr>
            <a:r>
              <a:rPr lang="en-US" sz="1500" dirty="0">
                <a:solidFill>
                  <a:schemeClr val="tx1"/>
                </a:solidFill>
              </a:rPr>
              <a:t>Names use camelCase: </a:t>
            </a:r>
            <a:r>
              <a:rPr lang="en-US" sz="1500" dirty="0">
                <a:solidFill>
                  <a:schemeClr val="accent5"/>
                </a:solidFill>
                <a:latin typeface="Consolas" pitchFamily="34" charset="0"/>
                <a:ea typeface="Consolas" pitchFamily="34" charset="-122"/>
                <a:cs typeface="Consolas" pitchFamily="34" charset="-120"/>
              </a:rPr>
              <a:t>backgroundColor</a:t>
            </a:r>
            <a:r>
              <a:rPr lang="en-US" sz="1500" dirty="0">
                <a:solidFill>
                  <a:schemeClr val="tx1"/>
                </a:solidFill>
              </a:rPr>
              <a:t>, not </a:t>
            </a:r>
            <a:r>
              <a:rPr lang="en-US" sz="1500" dirty="0">
                <a:solidFill>
                  <a:schemeClr val="accent5"/>
                </a:solidFill>
                <a:latin typeface="Consolas" pitchFamily="34" charset="0"/>
                <a:ea typeface="Consolas" pitchFamily="34" charset="-122"/>
                <a:cs typeface="Consolas" pitchFamily="34" charset="-120"/>
              </a:rPr>
              <a:t>background-color</a:t>
            </a:r>
            <a:r>
              <a:rPr lang="en-US" sz="1500" dirty="0">
                <a:solidFill>
                  <a:schemeClr val="tx1"/>
                </a:solidFill>
              </a:rPr>
              <a:t>.</a:t>
            </a:r>
            <a:endParaRPr lang="en-US" sz="1500" dirty="0"/>
          </a:p>
        </p:txBody>
      </p:sp>
      <p:pic>
        <p:nvPicPr>
          <p:cNvPr id="12" name="Check icon" descr="check">    </p:cNvPr>
          <p:cNvPicPr>
            <a:picLocks noChangeAspect="1"/>
          </p:cNvPicPr>
          <p:nvPr/>
        </p:nvPicPr>
        <p:blipFill>
          <a:blip r:embed="rId3"/>
          <a:stretch>
            <a:fillRect/>
          </a:stretch>
        </p:blipFill>
        <p:spPr>
          <a:xfrm>
            <a:off x="6995160" y="2907792"/>
            <a:ext cx="274320" cy="274320"/>
          </a:xfrm>
          <a:prstGeom prst="rect">
            <a:avLst/>
          </a:prstGeom>
        </p:spPr>
      </p:pic>
      <p:sp>
        <p:nvSpPr>
          <p:cNvPr id="13" name="Text 8"/>
          <p:cNvSpPr txBox="1"/>
          <p:nvPr/>
        </p:nvSpPr>
        <p:spPr>
          <a:xfrm>
            <a:off x="7406640" y="2871216"/>
            <a:ext cx="4233672" cy="548640"/>
          </a:xfrm>
          <a:prstGeom prst="rect">
            <a:avLst/>
          </a:prstGeom>
          <a:noFill/>
          <a:ln/>
        </p:spPr>
        <p:txBody>
          <a:bodyPr wrap="square" lIns="0" tIns="0" rIns="0" bIns="0" rtlCol="0" anchor="t"/>
          <a:lstStyle/>
          <a:p>
            <a:pPr indent="0" marL="0">
              <a:buNone/>
            </a:pPr>
            <a:r>
              <a:rPr lang="en-US" sz="1500" dirty="0">
                <a:solidFill>
                  <a:schemeClr val="tx1"/>
                </a:solidFill>
              </a:rPr>
              <a:t>Sizes are numbers with no "px": </a:t>
            </a:r>
            <a:r>
              <a:rPr lang="en-US" sz="1500" dirty="0">
                <a:solidFill>
                  <a:schemeClr val="accent5"/>
                </a:solidFill>
                <a:latin typeface="Consolas" pitchFamily="34" charset="0"/>
                <a:ea typeface="Consolas" pitchFamily="34" charset="-122"/>
                <a:cs typeface="Consolas" pitchFamily="34" charset="-120"/>
              </a:rPr>
              <a:t>fontSize: 24</a:t>
            </a:r>
            <a:endParaRPr lang="en-US" sz="1500" dirty="0"/>
          </a:p>
        </p:txBody>
      </p:sp>
      <p:pic>
        <p:nvPicPr>
          <p:cNvPr id="14" name="Check icon" descr="check">    </p:cNvPr>
          <p:cNvPicPr>
            <a:picLocks noChangeAspect="1"/>
          </p:cNvPicPr>
          <p:nvPr/>
        </p:nvPicPr>
        <p:blipFill>
          <a:blip r:embed="rId4"/>
          <a:stretch>
            <a:fillRect/>
          </a:stretch>
        </p:blipFill>
        <p:spPr>
          <a:xfrm>
            <a:off x="6995160" y="3474720"/>
            <a:ext cx="274320" cy="274320"/>
          </a:xfrm>
          <a:prstGeom prst="rect">
            <a:avLst/>
          </a:prstGeom>
        </p:spPr>
      </p:pic>
      <p:sp>
        <p:nvSpPr>
          <p:cNvPr id="15" name="Text 9"/>
          <p:cNvSpPr txBox="1"/>
          <p:nvPr/>
        </p:nvSpPr>
        <p:spPr>
          <a:xfrm>
            <a:off x="7406640" y="3438144"/>
            <a:ext cx="4233672" cy="548640"/>
          </a:xfrm>
          <a:prstGeom prst="rect">
            <a:avLst/>
          </a:prstGeom>
          <a:noFill/>
          <a:ln/>
        </p:spPr>
        <p:txBody>
          <a:bodyPr wrap="square" lIns="0" tIns="0" rIns="0" bIns="0" rtlCol="0" anchor="t"/>
          <a:lstStyle/>
          <a:p>
            <a:pPr indent="0" marL="0">
              <a:buNone/>
            </a:pPr>
            <a:r>
              <a:rPr lang="en-US" sz="1500" dirty="0">
                <a:solidFill>
                  <a:schemeClr val="tx1"/>
                </a:solidFill>
              </a:rPr>
              <a:t>Layout uses Flexbox. Items stack top to bottom by default.</a:t>
            </a:r>
            <a:endParaRPr lang="en-US" sz="1500" dirty="0"/>
          </a:p>
        </p:txBody>
      </p:sp>
      <p:sp>
        <p:nvSpPr>
          <p:cNvPr id="16" name="Flex screen"/>
          <p:cNvSpPr/>
          <p:nvPr/>
        </p:nvSpPr>
        <p:spPr>
          <a:xfrm>
            <a:off x="6995160" y="4114800"/>
            <a:ext cx="1600200" cy="2011680"/>
          </a:xfrm>
          <a:prstGeom prst="roundRect">
            <a:avLst>
              <a:gd name="adj" fmla="val 10286"/>
            </a:avLst>
          </a:prstGeom>
          <a:solidFill>
            <a:schemeClr val="bg2"/>
          </a:solidFill>
          <a:ln w="15875">
            <a:solidFill>
              <a:schemeClr val="accent6"/>
            </a:solidFill>
            <a:prstDash val="solid"/>
          </a:ln>
        </p:spPr>
      </p:sp>
      <p:sp>
        <p:nvSpPr>
          <p:cNvPr id="17" name="Arrow"/>
          <p:cNvSpPr/>
          <p:nvPr/>
        </p:nvSpPr>
        <p:spPr>
          <a:xfrm>
            <a:off x="7795260" y="4224528"/>
            <a:ext cx="914" cy="1792224"/>
          </a:xfrm>
          <a:prstGeom prst="line">
            <a:avLst/>
          </a:prstGeom>
          <a:noFill/>
          <a:ln w="25400">
            <a:solidFill>
              <a:schemeClr val="accent2"/>
            </a:solidFill>
            <a:prstDash val="solid"/>
            <a:headEnd type="triangle"/>
            <a:tailEnd type="triangle"/>
          </a:ln>
        </p:spPr>
      </p:sp>
      <p:sp>
        <p:nvSpPr>
          <p:cNvPr id="18" name="Arrow"/>
          <p:cNvSpPr/>
          <p:nvPr/>
        </p:nvSpPr>
        <p:spPr>
          <a:xfrm>
            <a:off x="7086600" y="5120640"/>
            <a:ext cx="1417320" cy="914"/>
          </a:xfrm>
          <a:prstGeom prst="line">
            <a:avLst/>
          </a:prstGeom>
          <a:noFill/>
          <a:ln w="25400">
            <a:solidFill>
              <a:schemeClr val="accent5"/>
            </a:solidFill>
            <a:prstDash val="solid"/>
            <a:headEnd type="triangle"/>
            <a:tailEnd type="triangle"/>
          </a:ln>
        </p:spPr>
      </p:sp>
      <p:sp>
        <p:nvSpPr>
          <p:cNvPr id="19" name="Flex item"/>
          <p:cNvSpPr/>
          <p:nvPr/>
        </p:nvSpPr>
        <p:spPr>
          <a:xfrm>
            <a:off x="7411212" y="4919472"/>
            <a:ext cx="768096" cy="402336"/>
          </a:xfrm>
          <a:prstGeom prst="roundRect">
            <a:avLst>
              <a:gd name="adj" fmla="val 13636"/>
            </a:avLst>
          </a:prstGeom>
          <a:solidFill>
            <a:schemeClr val="accent1"/>
          </a:solidFill>
          <a:ln/>
        </p:spPr>
        <p:txBody>
          <a:bodyPr wrap="square" lIns="0" tIns="0" rIns="0" bIns="0" rtlCol="0" anchor="ctr"/>
          <a:lstStyle/>
          <a:p>
            <a:pPr algn="ctr" indent="0" marL="0">
              <a:buNone/>
            </a:pPr>
            <a:r>
              <a:rPr lang="en-US" sz="1300" b="1" dirty="0">
                <a:solidFill>
                  <a:schemeClr val="bg1"/>
                </a:solidFill>
              </a:rPr>
              <a:t>Text</a:t>
            </a:r>
            <a:endParaRPr lang="en-US" sz="1300" dirty="0"/>
          </a:p>
        </p:txBody>
      </p:sp>
      <p:sp>
        <p:nvSpPr>
          <p:cNvPr id="20" name="Text 14"/>
          <p:cNvSpPr txBox="1"/>
          <p:nvPr/>
        </p:nvSpPr>
        <p:spPr>
          <a:xfrm>
            <a:off x="8823960" y="4206240"/>
            <a:ext cx="2816352" cy="777240"/>
          </a:xfrm>
          <a:prstGeom prst="rect">
            <a:avLst/>
          </a:prstGeom>
          <a:noFill/>
          <a:ln/>
        </p:spPr>
        <p:txBody>
          <a:bodyPr wrap="square" lIns="0" tIns="0" rIns="0" bIns="0" rtlCol="0" anchor="t"/>
          <a:lstStyle/>
          <a:p>
            <a:pPr indent="0" marL="0">
              <a:buNone/>
            </a:pPr>
            <a:r>
              <a:rPr lang="en-US" sz="1400" b="1" dirty="0">
                <a:solidFill>
                  <a:schemeClr val="accent2"/>
                </a:solidFill>
                <a:latin typeface="Consolas" pitchFamily="34" charset="0"/>
                <a:ea typeface="Consolas" pitchFamily="34" charset="-122"/>
                <a:cs typeface="Consolas" pitchFamily="34" charset="-120"/>
              </a:rPr>
              <a:t>justifyContent</a:t>
            </a:r>
            <a:endParaRPr lang="en-US" sz="1400" dirty="0"/>
          </a:p>
          <a:p>
            <a:pPr indent="0" marL="0">
              <a:buNone/>
            </a:pPr>
            <a:r>
              <a:rPr lang="en-US" sz="1400" dirty="0">
                <a:solidFill>
                  <a:schemeClr val="tx1"/>
                </a:solidFill>
              </a:rPr>
              <a:t>moves items up / down (main axis)</a:t>
            </a:r>
            <a:endParaRPr lang="en-US" sz="1400" dirty="0"/>
          </a:p>
        </p:txBody>
      </p:sp>
      <p:sp>
        <p:nvSpPr>
          <p:cNvPr id="21" name="Text 15"/>
          <p:cNvSpPr txBox="1"/>
          <p:nvPr/>
        </p:nvSpPr>
        <p:spPr>
          <a:xfrm>
            <a:off x="8823960" y="5120640"/>
            <a:ext cx="2816352" cy="777240"/>
          </a:xfrm>
          <a:prstGeom prst="rect">
            <a:avLst/>
          </a:prstGeom>
          <a:noFill/>
          <a:ln/>
        </p:spPr>
        <p:txBody>
          <a:bodyPr wrap="square" lIns="0" tIns="0" rIns="0" bIns="0" rtlCol="0" anchor="t"/>
          <a:lstStyle/>
          <a:p>
            <a:pPr indent="0" marL="0">
              <a:buNone/>
            </a:pPr>
            <a:r>
              <a:rPr lang="en-US" sz="1400" b="1" dirty="0">
                <a:solidFill>
                  <a:schemeClr val="accent5"/>
                </a:solidFill>
                <a:latin typeface="Consolas" pitchFamily="34" charset="0"/>
                <a:ea typeface="Consolas" pitchFamily="34" charset="-122"/>
                <a:cs typeface="Consolas" pitchFamily="34" charset="-120"/>
              </a:rPr>
              <a:t>alignItems</a:t>
            </a:r>
            <a:endParaRPr lang="en-US" sz="1400" dirty="0"/>
          </a:p>
          <a:p>
            <a:pPr indent="0" marL="0">
              <a:buNone/>
            </a:pPr>
            <a:r>
              <a:rPr lang="en-US" sz="1400" dirty="0">
                <a:solidFill>
                  <a:schemeClr val="tx1"/>
                </a:solidFill>
              </a:rPr>
              <a:t>moves items left / right (cross axis)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ection tag"/>
          <p:cNvSpPr/>
          <p:nvPr/>
        </p:nvSpPr>
        <p:spPr>
          <a:xfrm>
            <a:off x="548640" y="365760"/>
            <a:ext cx="850392" cy="310896"/>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spc="150" kern="0" dirty="0">
                <a:solidFill>
                  <a:schemeClr val="bg1"/>
                </a:solidFill>
              </a:rPr>
              <a:t>THEORY</a:t>
            </a:r>
            <a:endParaRPr lang="en-US" sz="1100" dirty="0"/>
          </a:p>
        </p:txBody>
      </p:sp>
      <p:sp>
        <p:nvSpPr>
          <p:cNvPr id="3" name="Tag context"/>
          <p:cNvSpPr txBox="1"/>
          <p:nvPr/>
        </p:nvSpPr>
        <p:spPr>
          <a:xfrm>
            <a:off x="1581912" y="365760"/>
            <a:ext cx="10058400" cy="310896"/>
          </a:xfrm>
          <a:prstGeom prst="rect">
            <a:avLst/>
          </a:prstGeom>
          <a:noFill/>
          <a:ln/>
        </p:spPr>
        <p:txBody>
          <a:bodyPr wrap="square" lIns="0" tIns="0" rIns="0" bIns="0" rtlCol="0" anchor="ctr"/>
          <a:lstStyle/>
          <a:p>
            <a:pPr indent="0" marL="0">
              <a:buNone/>
            </a:pPr>
            <a:r>
              <a:rPr lang="en-US" sz="1300" dirty="0">
                <a:solidFill>
                  <a:schemeClr val="tx2"/>
                </a:solidFill>
              </a:rPr>
              <a:t>Part 4: JavaScript prerequisites · Covered in previous classes</a:t>
            </a:r>
            <a:endParaRPr lang="en-US" sz="1300" dirty="0"/>
          </a:p>
        </p:txBody>
      </p:sp>
      <p:sp>
        <p:nvSpPr>
          <p:cNvPr id="4" name="Text 0"/>
          <p:cNvSpPr/>
          <p:nvPr>
            <p:ph idx="100" type="title" hasCustomPrompt="1"/>
          </p:nvPr>
        </p:nvSpPr>
        <p:spPr>
          <a:xfrm>
            <a:off x="548640" y="749808"/>
            <a:ext cx="11091672" cy="713232"/>
          </a:xfrm>
          <a:prstGeom prst="rect">
            <a:avLst/>
          </a:prstGeom>
          <a:noFill/>
          <a:ln/>
        </p:spPr>
        <p:txBody>
          <a:bodyPr wrap="square" lIns="0" tIns="0" rIns="0" bIns="0" rtlCol="0" anchor="ctr"/>
          <a:lstStyle/>
          <a:p>
            <a:pPr algn="l" indent="0" marL="0">
              <a:buNone/>
            </a:pPr>
            <a:r>
              <a:rPr lang="en-US" sz="3600" b="1" dirty="0">
                <a:solidFill>
                  <a:schemeClr val="tx1"/>
                </a:solidFill>
              </a:rPr>
              <a:t>JavaScript Revision (1/2)</a:t>
            </a:r>
            <a:endParaRPr lang="en-US" sz="3600" dirty="0"/>
          </a:p>
        </p:txBody>
      </p:sp>
      <p:sp>
        <p:nvSpPr>
          <p:cNvPr id="5" name="Card"/>
          <p:cNvSpPr/>
          <p:nvPr/>
        </p:nvSpPr>
        <p:spPr>
          <a:xfrm>
            <a:off x="548640" y="1645920"/>
            <a:ext cx="11091672" cy="548640"/>
          </a:xfrm>
          <a:prstGeom prst="roundRect">
            <a:avLst>
              <a:gd name="adj" fmla="val 20000"/>
            </a:avLst>
          </a:prstGeom>
          <a:solidFill>
            <a:schemeClr val="bg2"/>
          </a:solidFill>
          <a:ln/>
        </p:spPr>
      </p:sp>
      <p:pic>
        <p:nvPicPr>
          <p:cNvPr id="6" name="Book icon" descr="book">    </p:cNvPr>
          <p:cNvPicPr>
            <a:picLocks noChangeAspect="1"/>
          </p:cNvPicPr>
          <p:nvPr/>
        </p:nvPicPr>
        <p:blipFill>
          <a:blip r:embed="rId1"/>
          <a:stretch>
            <a:fillRect/>
          </a:stretch>
        </p:blipFill>
        <p:spPr>
          <a:xfrm>
            <a:off x="777240" y="1764792"/>
            <a:ext cx="310896" cy="310896"/>
          </a:xfrm>
          <a:prstGeom prst="rect">
            <a:avLst/>
          </a:prstGeom>
        </p:spPr>
      </p:pic>
      <p:sp>
        <p:nvSpPr>
          <p:cNvPr id="7" name="Text 4"/>
          <p:cNvSpPr txBox="1"/>
          <p:nvPr/>
        </p:nvSpPr>
        <p:spPr>
          <a:xfrm>
            <a:off x="1234440" y="1645920"/>
            <a:ext cx="10241280" cy="548640"/>
          </a:xfrm>
          <a:prstGeom prst="rect">
            <a:avLst/>
          </a:prstGeom>
          <a:noFill/>
          <a:ln/>
        </p:spPr>
        <p:txBody>
          <a:bodyPr wrap="square" lIns="0" tIns="0" rIns="0" bIns="0" rtlCol="0" anchor="ctr"/>
          <a:lstStyle/>
          <a:p>
            <a:pPr indent="0" marL="0">
              <a:buNone/>
            </a:pPr>
            <a:r>
              <a:rPr lang="en-US" sz="1500" b="1" dirty="0">
                <a:solidFill>
                  <a:schemeClr val="tx1"/>
                </a:solidFill>
              </a:rPr>
              <a:t>Already covered in previous classes. </a:t>
            </a:r>
            <a:r>
              <a:rPr lang="en-US" sz="1500" dirty="0">
                <a:solidFill>
                  <a:schemeClr val="tx1"/>
                </a:solidFill>
              </a:rPr>
              <a:t>Revise these when needed: React Native uses them in almost every file.</a:t>
            </a:r>
            <a:endParaRPr lang="en-US" sz="1500" dirty="0"/>
          </a:p>
        </p:txBody>
      </p:sp>
      <p:sp>
        <p:nvSpPr>
          <p:cNvPr id="8" name="Card"/>
          <p:cNvSpPr/>
          <p:nvPr/>
        </p:nvSpPr>
        <p:spPr>
          <a:xfrm>
            <a:off x="548640" y="2377440"/>
            <a:ext cx="3547872" cy="1810512"/>
          </a:xfrm>
          <a:prstGeom prst="roundRect">
            <a:avLst>
              <a:gd name="adj" fmla="val 6061"/>
            </a:avLst>
          </a:prstGeom>
          <a:solidFill>
            <a:schemeClr val="bg2"/>
          </a:solidFill>
          <a:ln/>
        </p:spPr>
      </p:sp>
      <p:sp>
        <p:nvSpPr>
          <p:cNvPr id="9" name="Text 6"/>
          <p:cNvSpPr txBox="1"/>
          <p:nvPr/>
        </p:nvSpPr>
        <p:spPr>
          <a:xfrm>
            <a:off x="731520" y="2487168"/>
            <a:ext cx="3182112" cy="329184"/>
          </a:xfrm>
          <a:prstGeom prst="rect">
            <a:avLst/>
          </a:prstGeom>
          <a:noFill/>
          <a:ln/>
        </p:spPr>
        <p:txBody>
          <a:bodyPr wrap="square" lIns="0" tIns="0" rIns="0" bIns="0" rtlCol="0" anchor="ctr"/>
          <a:lstStyle/>
          <a:p>
            <a:pPr indent="0" marL="0">
              <a:buNone/>
            </a:pPr>
            <a:r>
              <a:rPr lang="en-US" sz="1500" b="1" dirty="0">
                <a:solidFill>
                  <a:schemeClr val="tx1"/>
                </a:solidFill>
              </a:rPr>
              <a:t>let and const</a:t>
            </a:r>
            <a:endParaRPr lang="en-US" sz="1500" dirty="0"/>
          </a:p>
        </p:txBody>
      </p:sp>
      <p:sp>
        <p:nvSpPr>
          <p:cNvPr id="10" name="Code panel"/>
          <p:cNvSpPr/>
          <p:nvPr/>
        </p:nvSpPr>
        <p:spPr>
          <a:xfrm>
            <a:off x="685800" y="2880360"/>
            <a:ext cx="3273552" cy="1170432"/>
          </a:xfrm>
          <a:prstGeom prst="roundRect">
            <a:avLst>
              <a:gd name="adj" fmla="val 7813"/>
            </a:avLst>
          </a:prstGeom>
          <a:solidFill>
            <a:schemeClr val="bg1"/>
          </a:solidFill>
          <a:ln w="12700">
            <a:solidFill>
              <a:schemeClr val="accent6"/>
            </a:solidFill>
            <a:prstDash val="solid"/>
          </a:ln>
        </p:spPr>
      </p:sp>
      <p:sp>
        <p:nvSpPr>
          <p:cNvPr id="11" name="Code panel code"/>
          <p:cNvSpPr txBox="1"/>
          <p:nvPr/>
        </p:nvSpPr>
        <p:spPr>
          <a:xfrm>
            <a:off x="822960" y="2990088"/>
            <a:ext cx="2999232" cy="987552"/>
          </a:xfrm>
          <a:prstGeom prst="rect">
            <a:avLst/>
          </a:prstGeom>
          <a:noFill/>
          <a:ln/>
        </p:spPr>
        <p:txBody>
          <a:bodyPr wrap="square" lIns="0" tIns="635" rIns="635" bIns="0" rtlCol="0" anchor="t"/>
          <a:lstStyle/>
          <a:p>
            <a:pPr indent="0" marL="0">
              <a:buNone/>
            </a:pPr>
            <a:r>
              <a:rPr lang="en-US" sz="1200" dirty="0">
                <a:solidFill>
                  <a:schemeClr val="accent1"/>
                </a:solidFill>
                <a:latin typeface="Consolas" pitchFamily="34" charset="0"/>
                <a:ea typeface="Consolas" pitchFamily="34" charset="-122"/>
                <a:cs typeface="Consolas" pitchFamily="34" charset="-120"/>
              </a:rPr>
              <a:t>const</a:t>
            </a:r>
            <a:r>
              <a:rPr lang="en-US" sz="1200" dirty="0">
                <a:solidFill>
                  <a:schemeClr val="tx1"/>
                </a:solidFill>
                <a:latin typeface="Consolas" pitchFamily="34" charset="0"/>
                <a:ea typeface="Consolas" pitchFamily="34" charset="-122"/>
                <a:cs typeface="Consolas" pitchFamily="34" charset="-120"/>
              </a:rPr>
              <a:t> pi = </a:t>
            </a:r>
            <a:r>
              <a:rPr lang="en-US" sz="1200" dirty="0">
                <a:solidFill>
                  <a:schemeClr val="accent2"/>
                </a:solidFill>
                <a:latin typeface="Consolas" pitchFamily="34" charset="0"/>
                <a:ea typeface="Consolas" pitchFamily="34" charset="-122"/>
                <a:cs typeface="Consolas" pitchFamily="34" charset="-120"/>
              </a:rPr>
              <a:t>3.14</a:t>
            </a:r>
            <a:r>
              <a:rPr lang="en-US" sz="1200" dirty="0">
                <a:solidFill>
                  <a:schemeClr val="tx1"/>
                </a:solidFill>
                <a:latin typeface="Consolas" pitchFamily="34" charset="0"/>
                <a:ea typeface="Consolas" pitchFamily="34" charset="-122"/>
                <a:cs typeface="Consolas" pitchFamily="34" charset="-120"/>
              </a:rPr>
              <a:t>; </a:t>
            </a:r>
            <a:r>
              <a:rPr lang="en-US" sz="1200" i="1" dirty="0">
                <a:solidFill>
                  <a:schemeClr val="tx2"/>
                </a:solidFill>
                <a:latin typeface="Consolas" pitchFamily="34" charset="0"/>
                <a:ea typeface="Consolas" pitchFamily="34" charset="-122"/>
                <a:cs typeface="Consolas" pitchFamily="34" charset="-120"/>
              </a:rPr>
              <a:t>// fixed</a:t>
            </a:r>
            <a:endParaRPr lang="en-US" sz="1200" dirty="0"/>
          </a:p>
          <a:p>
            <a:pPr indent="0" marL="0">
              <a:buNone/>
            </a:pPr>
            <a:r>
              <a:rPr lang="en-US" sz="1200" dirty="0">
                <a:solidFill>
                  <a:schemeClr val="accent1"/>
                </a:solidFill>
                <a:latin typeface="Consolas" pitchFamily="34" charset="0"/>
                <a:ea typeface="Consolas" pitchFamily="34" charset="-122"/>
                <a:cs typeface="Consolas" pitchFamily="34" charset="-120"/>
              </a:rPr>
              <a:t>let</a:t>
            </a:r>
            <a:r>
              <a:rPr lang="en-US" sz="1200" dirty="0">
                <a:solidFill>
                  <a:schemeClr val="tx1"/>
                </a:solidFill>
                <a:latin typeface="Consolas" pitchFamily="34" charset="0"/>
                <a:ea typeface="Consolas" pitchFamily="34" charset="-122"/>
                <a:cs typeface="Consolas" pitchFamily="34" charset="-120"/>
              </a:rPr>
              <a:t> score = </a:t>
            </a:r>
            <a:r>
              <a:rPr lang="en-US" sz="1200" dirty="0">
                <a:solidFill>
                  <a:schemeClr val="accent2"/>
                </a:solidFill>
                <a:latin typeface="Consolas" pitchFamily="34" charset="0"/>
                <a:ea typeface="Consolas" pitchFamily="34" charset="-122"/>
                <a:cs typeface="Consolas" pitchFamily="34" charset="-120"/>
              </a:rPr>
              <a:t>10</a:t>
            </a:r>
            <a:r>
              <a:rPr lang="en-US" sz="1200" dirty="0">
                <a:solidFill>
                  <a:schemeClr val="tx1"/>
                </a:solidFill>
                <a:latin typeface="Consolas" pitchFamily="34" charset="0"/>
                <a:ea typeface="Consolas" pitchFamily="34" charset="-122"/>
                <a:cs typeface="Consolas" pitchFamily="34" charset="-120"/>
              </a:rPr>
              <a:t>;  </a:t>
            </a:r>
            <a:r>
              <a:rPr lang="en-US" sz="1200" i="1" dirty="0">
                <a:solidFill>
                  <a:schemeClr val="tx2"/>
                </a:solidFill>
                <a:latin typeface="Consolas" pitchFamily="34" charset="0"/>
                <a:ea typeface="Consolas" pitchFamily="34" charset="-122"/>
                <a:cs typeface="Consolas" pitchFamily="34" charset="-120"/>
              </a:rPr>
              <a:t>// changes</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score = </a:t>
            </a:r>
            <a:r>
              <a:rPr lang="en-US" sz="1200" dirty="0">
                <a:solidFill>
                  <a:schemeClr val="accent2"/>
                </a:solidFill>
                <a:latin typeface="Consolas" pitchFamily="34" charset="0"/>
                <a:ea typeface="Consolas" pitchFamily="34" charset="-122"/>
                <a:cs typeface="Consolas" pitchFamily="34" charset="-120"/>
              </a:rPr>
              <a:t>15</a:t>
            </a:r>
            <a:r>
              <a:rPr lang="en-US" sz="1200" dirty="0">
                <a:solidFill>
                  <a:schemeClr val="tx1"/>
                </a:solidFill>
                <a:latin typeface="Consolas" pitchFamily="34" charset="0"/>
                <a:ea typeface="Consolas" pitchFamily="34" charset="-122"/>
                <a:cs typeface="Consolas" pitchFamily="34" charset="-120"/>
              </a:rPr>
              <a:t>;      </a:t>
            </a:r>
            <a:r>
              <a:rPr lang="en-US" sz="1200" i="1" dirty="0">
                <a:solidFill>
                  <a:schemeClr val="tx2"/>
                </a:solidFill>
                <a:latin typeface="Consolas" pitchFamily="34" charset="0"/>
                <a:ea typeface="Consolas" pitchFamily="34" charset="-122"/>
                <a:cs typeface="Consolas" pitchFamily="34" charset="-120"/>
              </a:rPr>
              <a:t>// OK</a:t>
            </a:r>
            <a:endParaRPr lang="en-US" sz="1200" dirty="0"/>
          </a:p>
        </p:txBody>
      </p:sp>
      <p:sp>
        <p:nvSpPr>
          <p:cNvPr id="12" name="Card"/>
          <p:cNvSpPr/>
          <p:nvPr/>
        </p:nvSpPr>
        <p:spPr>
          <a:xfrm>
            <a:off x="4320540" y="2377440"/>
            <a:ext cx="3547872" cy="1810512"/>
          </a:xfrm>
          <a:prstGeom prst="roundRect">
            <a:avLst>
              <a:gd name="adj" fmla="val 6061"/>
            </a:avLst>
          </a:prstGeom>
          <a:solidFill>
            <a:schemeClr val="bg2"/>
          </a:solidFill>
          <a:ln/>
        </p:spPr>
      </p:sp>
      <p:sp>
        <p:nvSpPr>
          <p:cNvPr id="13" name="Text 10"/>
          <p:cNvSpPr txBox="1"/>
          <p:nvPr/>
        </p:nvSpPr>
        <p:spPr>
          <a:xfrm>
            <a:off x="4503420" y="2487168"/>
            <a:ext cx="3182112" cy="329184"/>
          </a:xfrm>
          <a:prstGeom prst="rect">
            <a:avLst/>
          </a:prstGeom>
          <a:noFill/>
          <a:ln/>
        </p:spPr>
        <p:txBody>
          <a:bodyPr wrap="square" lIns="0" tIns="0" rIns="0" bIns="0" rtlCol="0" anchor="ctr"/>
          <a:lstStyle/>
          <a:p>
            <a:pPr indent="0" marL="0">
              <a:buNone/>
            </a:pPr>
            <a:r>
              <a:rPr lang="en-US" sz="1500" b="1" dirty="0">
                <a:solidFill>
                  <a:schemeClr val="tx1"/>
                </a:solidFill>
              </a:rPr>
              <a:t>Data types and functions</a:t>
            </a:r>
            <a:endParaRPr lang="en-US" sz="1500" dirty="0"/>
          </a:p>
        </p:txBody>
      </p:sp>
      <p:sp>
        <p:nvSpPr>
          <p:cNvPr id="14" name="Code panel"/>
          <p:cNvSpPr/>
          <p:nvPr/>
        </p:nvSpPr>
        <p:spPr>
          <a:xfrm>
            <a:off x="4457700" y="2880360"/>
            <a:ext cx="3273552" cy="1170432"/>
          </a:xfrm>
          <a:prstGeom prst="roundRect">
            <a:avLst>
              <a:gd name="adj" fmla="val 7813"/>
            </a:avLst>
          </a:prstGeom>
          <a:solidFill>
            <a:schemeClr val="bg1"/>
          </a:solidFill>
          <a:ln w="12700">
            <a:solidFill>
              <a:schemeClr val="accent6"/>
            </a:solidFill>
            <a:prstDash val="solid"/>
          </a:ln>
        </p:spPr>
      </p:sp>
      <p:sp>
        <p:nvSpPr>
          <p:cNvPr id="15" name="Code panel code"/>
          <p:cNvSpPr txBox="1"/>
          <p:nvPr/>
        </p:nvSpPr>
        <p:spPr>
          <a:xfrm>
            <a:off x="4594860" y="2990088"/>
            <a:ext cx="2999232" cy="987552"/>
          </a:xfrm>
          <a:prstGeom prst="rect">
            <a:avLst/>
          </a:prstGeom>
          <a:noFill/>
          <a:ln/>
        </p:spPr>
        <p:txBody>
          <a:bodyPr wrap="square" lIns="0" tIns="635" rIns="635" bIns="0" rtlCol="0" anchor="t"/>
          <a:lstStyle/>
          <a:p>
            <a:pPr indent="0" marL="0">
              <a:buNone/>
            </a:pPr>
            <a:r>
              <a:rPr lang="en-US" sz="1200" i="1" dirty="0">
                <a:solidFill>
                  <a:schemeClr val="tx2"/>
                </a:solidFill>
                <a:latin typeface="Consolas" pitchFamily="34" charset="0"/>
                <a:ea typeface="Consolas" pitchFamily="34" charset="-122"/>
                <a:cs typeface="Consolas" pitchFamily="34" charset="-120"/>
              </a:rPr>
              <a:t>// string, number, boolean,</a:t>
            </a:r>
            <a:endParaRPr lang="en-US" sz="1200" dirty="0"/>
          </a:p>
          <a:p>
            <a:pPr indent="0" marL="0">
              <a:buNone/>
            </a:pPr>
            <a:r>
              <a:rPr lang="en-US" sz="1200" i="1" dirty="0">
                <a:solidFill>
                  <a:schemeClr val="tx2"/>
                </a:solidFill>
                <a:latin typeface="Consolas" pitchFamily="34" charset="0"/>
                <a:ea typeface="Consolas" pitchFamily="34" charset="-122"/>
                <a:cs typeface="Consolas" pitchFamily="34" charset="-120"/>
              </a:rPr>
              <a:t>// null, undefined, object</a:t>
            </a:r>
            <a:endParaRPr lang="en-US" sz="1200" dirty="0"/>
          </a:p>
          <a:p>
            <a:pPr indent="0" marL="0">
              <a:buNone/>
            </a:pPr>
            <a:r>
              <a:rPr lang="en-US" sz="1200" dirty="0">
                <a:solidFill>
                  <a:schemeClr val="accent1"/>
                </a:solidFill>
                <a:latin typeface="Consolas" pitchFamily="34" charset="0"/>
                <a:ea typeface="Consolas" pitchFamily="34" charset="-122"/>
                <a:cs typeface="Consolas" pitchFamily="34" charset="-120"/>
              </a:rPr>
              <a:t>function</a:t>
            </a:r>
            <a:r>
              <a:rPr lang="en-US" sz="1200" dirty="0">
                <a:solidFill>
                  <a:schemeClr val="tx1"/>
                </a:solidFill>
                <a:latin typeface="Consolas" pitchFamily="34" charset="0"/>
                <a:ea typeface="Consolas" pitchFamily="34" charset="-122"/>
                <a:cs typeface="Consolas" pitchFamily="34" charset="-120"/>
              </a:rPr>
              <a:t> add(a, b) {</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a:t>
            </a:r>
            <a:r>
              <a:rPr lang="en-US" sz="1200" dirty="0">
                <a:solidFill>
                  <a:schemeClr val="accent1"/>
                </a:solidFill>
                <a:latin typeface="Consolas" pitchFamily="34" charset="0"/>
                <a:ea typeface="Consolas" pitchFamily="34" charset="-122"/>
                <a:cs typeface="Consolas" pitchFamily="34" charset="-120"/>
              </a:rPr>
              <a:t>return</a:t>
            </a:r>
            <a:r>
              <a:rPr lang="en-US" sz="1200" dirty="0">
                <a:solidFill>
                  <a:schemeClr val="tx1"/>
                </a:solidFill>
                <a:latin typeface="Consolas" pitchFamily="34" charset="0"/>
                <a:ea typeface="Consolas" pitchFamily="34" charset="-122"/>
                <a:cs typeface="Consolas" pitchFamily="34" charset="-120"/>
              </a:rPr>
              <a:t> a + b;</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a:t>
            </a:r>
            <a:endParaRPr lang="en-US" sz="1200" dirty="0"/>
          </a:p>
        </p:txBody>
      </p:sp>
      <p:sp>
        <p:nvSpPr>
          <p:cNvPr id="16" name="Card"/>
          <p:cNvSpPr/>
          <p:nvPr/>
        </p:nvSpPr>
        <p:spPr>
          <a:xfrm>
            <a:off x="8092440" y="2377440"/>
            <a:ext cx="3547872" cy="1810512"/>
          </a:xfrm>
          <a:prstGeom prst="roundRect">
            <a:avLst>
              <a:gd name="adj" fmla="val 6061"/>
            </a:avLst>
          </a:prstGeom>
          <a:solidFill>
            <a:schemeClr val="bg2"/>
          </a:solidFill>
          <a:ln/>
        </p:spPr>
      </p:sp>
      <p:sp>
        <p:nvSpPr>
          <p:cNvPr id="17" name="Text 14"/>
          <p:cNvSpPr txBox="1"/>
          <p:nvPr/>
        </p:nvSpPr>
        <p:spPr>
          <a:xfrm>
            <a:off x="8275320" y="2487168"/>
            <a:ext cx="3182112" cy="329184"/>
          </a:xfrm>
          <a:prstGeom prst="rect">
            <a:avLst/>
          </a:prstGeom>
          <a:noFill/>
          <a:ln/>
        </p:spPr>
        <p:txBody>
          <a:bodyPr wrap="square" lIns="0" tIns="0" rIns="0" bIns="0" rtlCol="0" anchor="ctr"/>
          <a:lstStyle/>
          <a:p>
            <a:pPr indent="0" marL="0">
              <a:buNone/>
            </a:pPr>
            <a:r>
              <a:rPr lang="en-US" sz="1500" b="1" dirty="0">
                <a:solidFill>
                  <a:schemeClr val="tx1"/>
                </a:solidFill>
              </a:rPr>
              <a:t>Arrow functions</a:t>
            </a:r>
            <a:endParaRPr lang="en-US" sz="1500" dirty="0"/>
          </a:p>
        </p:txBody>
      </p:sp>
      <p:sp>
        <p:nvSpPr>
          <p:cNvPr id="18" name="Code panel"/>
          <p:cNvSpPr/>
          <p:nvPr/>
        </p:nvSpPr>
        <p:spPr>
          <a:xfrm>
            <a:off x="8229600" y="2880360"/>
            <a:ext cx="3273552" cy="1170432"/>
          </a:xfrm>
          <a:prstGeom prst="roundRect">
            <a:avLst>
              <a:gd name="adj" fmla="val 7813"/>
            </a:avLst>
          </a:prstGeom>
          <a:solidFill>
            <a:schemeClr val="bg1"/>
          </a:solidFill>
          <a:ln w="12700">
            <a:solidFill>
              <a:schemeClr val="accent6"/>
            </a:solidFill>
            <a:prstDash val="solid"/>
          </a:ln>
        </p:spPr>
      </p:sp>
      <p:sp>
        <p:nvSpPr>
          <p:cNvPr id="19" name="Code panel code"/>
          <p:cNvSpPr txBox="1"/>
          <p:nvPr/>
        </p:nvSpPr>
        <p:spPr>
          <a:xfrm>
            <a:off x="8366760" y="2990088"/>
            <a:ext cx="2999232" cy="987552"/>
          </a:xfrm>
          <a:prstGeom prst="rect">
            <a:avLst/>
          </a:prstGeom>
          <a:noFill/>
          <a:ln/>
        </p:spPr>
        <p:txBody>
          <a:bodyPr wrap="square" lIns="0" tIns="635" rIns="635" bIns="0" rtlCol="0" anchor="t"/>
          <a:lstStyle/>
          <a:p>
            <a:pPr indent="0" marL="0">
              <a:buNone/>
            </a:pPr>
            <a:r>
              <a:rPr lang="en-US" sz="1200" dirty="0">
                <a:solidFill>
                  <a:schemeClr val="accent1"/>
                </a:solidFill>
                <a:latin typeface="Consolas" pitchFamily="34" charset="0"/>
                <a:ea typeface="Consolas" pitchFamily="34" charset="-122"/>
                <a:cs typeface="Consolas" pitchFamily="34" charset="-120"/>
              </a:rPr>
              <a:t>const</a:t>
            </a:r>
            <a:r>
              <a:rPr lang="en-US" sz="1200" dirty="0">
                <a:solidFill>
                  <a:schemeClr val="tx1"/>
                </a:solidFill>
                <a:latin typeface="Consolas" pitchFamily="34" charset="0"/>
                <a:ea typeface="Consolas" pitchFamily="34" charset="-122"/>
                <a:cs typeface="Consolas" pitchFamily="34" charset="-120"/>
              </a:rPr>
              <a:t> add = (a, b) =&gt; a + b;</a:t>
            </a:r>
            <a:endParaRPr lang="en-US" sz="1200" dirty="0"/>
          </a:p>
          <a:p>
            <a:pPr indent="0" marL="0">
              <a:buNone/>
            </a:pPr>
            <a:r>
              <a:rPr lang="en-US" sz="1200" dirty="0">
                <a:solidFill>
                  <a:schemeClr val="accent1"/>
                </a:solidFill>
                <a:latin typeface="Consolas" pitchFamily="34" charset="0"/>
                <a:ea typeface="Consolas" pitchFamily="34" charset="-122"/>
                <a:cs typeface="Consolas" pitchFamily="34" charset="-120"/>
              </a:rPr>
              <a:t>const</a:t>
            </a:r>
            <a:r>
              <a:rPr lang="en-US" sz="1200" dirty="0">
                <a:solidFill>
                  <a:schemeClr val="tx1"/>
                </a:solidFill>
                <a:latin typeface="Consolas" pitchFamily="34" charset="0"/>
                <a:ea typeface="Consolas" pitchFamily="34" charset="-122"/>
                <a:cs typeface="Consolas" pitchFamily="34" charset="-120"/>
              </a:rPr>
              <a:t> hi = (name) =&gt; {</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a:t>
            </a:r>
            <a:r>
              <a:rPr lang="en-US" sz="1200" dirty="0">
                <a:solidFill>
                  <a:schemeClr val="accent1"/>
                </a:solidFill>
                <a:latin typeface="Consolas" pitchFamily="34" charset="0"/>
                <a:ea typeface="Consolas" pitchFamily="34" charset="-122"/>
                <a:cs typeface="Consolas" pitchFamily="34" charset="-120"/>
              </a:rPr>
              <a:t>return</a:t>
            </a:r>
            <a:r>
              <a:rPr lang="en-US" sz="1200" dirty="0">
                <a:solidFill>
                  <a:schemeClr val="tx1"/>
                </a:solidFill>
                <a:latin typeface="Consolas" pitchFamily="34" charset="0"/>
                <a:ea typeface="Consolas" pitchFamily="34" charset="-122"/>
                <a:cs typeface="Consolas" pitchFamily="34" charset="-120"/>
              </a:rPr>
              <a:t> </a:t>
            </a:r>
            <a:r>
              <a:rPr lang="en-US" sz="1200" dirty="0">
                <a:solidFill>
                  <a:schemeClr val="accent3"/>
                </a:solidFill>
                <a:latin typeface="Consolas" pitchFamily="34" charset="0"/>
                <a:ea typeface="Consolas" pitchFamily="34" charset="-122"/>
                <a:cs typeface="Consolas" pitchFamily="34" charset="-120"/>
              </a:rPr>
              <a:t>`Hi ${name}`</a:t>
            </a:r>
            <a:r>
              <a:rPr lang="en-US" sz="1200" dirty="0">
                <a:solidFill>
                  <a:schemeClr val="tx1"/>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a:t>
            </a:r>
            <a:endParaRPr lang="en-US" sz="1200" dirty="0"/>
          </a:p>
        </p:txBody>
      </p:sp>
      <p:sp>
        <p:nvSpPr>
          <p:cNvPr id="20" name="Card"/>
          <p:cNvSpPr/>
          <p:nvPr/>
        </p:nvSpPr>
        <p:spPr>
          <a:xfrm>
            <a:off x="548640" y="4370832"/>
            <a:ext cx="3547872" cy="1810512"/>
          </a:xfrm>
          <a:prstGeom prst="roundRect">
            <a:avLst>
              <a:gd name="adj" fmla="val 6061"/>
            </a:avLst>
          </a:prstGeom>
          <a:solidFill>
            <a:schemeClr val="bg2"/>
          </a:solidFill>
          <a:ln/>
        </p:spPr>
      </p:sp>
      <p:sp>
        <p:nvSpPr>
          <p:cNvPr id="21" name="Text 18"/>
          <p:cNvSpPr txBox="1"/>
          <p:nvPr/>
        </p:nvSpPr>
        <p:spPr>
          <a:xfrm>
            <a:off x="731520" y="4480560"/>
            <a:ext cx="3182112" cy="329184"/>
          </a:xfrm>
          <a:prstGeom prst="rect">
            <a:avLst/>
          </a:prstGeom>
          <a:noFill/>
          <a:ln/>
        </p:spPr>
        <p:txBody>
          <a:bodyPr wrap="square" lIns="0" tIns="0" rIns="0" bIns="0" rtlCol="0" anchor="ctr"/>
          <a:lstStyle/>
          <a:p>
            <a:pPr indent="0" marL="0">
              <a:buNone/>
            </a:pPr>
            <a:r>
              <a:rPr lang="en-US" sz="1500" b="1" dirty="0">
                <a:solidFill>
                  <a:schemeClr val="tx1"/>
                </a:solidFill>
              </a:rPr>
              <a:t>Objects and arrays</a:t>
            </a:r>
            <a:endParaRPr lang="en-US" sz="1500" dirty="0"/>
          </a:p>
        </p:txBody>
      </p:sp>
      <p:sp>
        <p:nvSpPr>
          <p:cNvPr id="22" name="Code panel"/>
          <p:cNvSpPr/>
          <p:nvPr/>
        </p:nvSpPr>
        <p:spPr>
          <a:xfrm>
            <a:off x="685800" y="4873752"/>
            <a:ext cx="3273552" cy="1170432"/>
          </a:xfrm>
          <a:prstGeom prst="roundRect">
            <a:avLst>
              <a:gd name="adj" fmla="val 7813"/>
            </a:avLst>
          </a:prstGeom>
          <a:solidFill>
            <a:schemeClr val="bg1"/>
          </a:solidFill>
          <a:ln w="12700">
            <a:solidFill>
              <a:schemeClr val="accent6"/>
            </a:solidFill>
            <a:prstDash val="solid"/>
          </a:ln>
        </p:spPr>
      </p:sp>
      <p:sp>
        <p:nvSpPr>
          <p:cNvPr id="23" name="Code panel code"/>
          <p:cNvSpPr txBox="1"/>
          <p:nvPr/>
        </p:nvSpPr>
        <p:spPr>
          <a:xfrm>
            <a:off x="822960" y="4983480"/>
            <a:ext cx="2999232" cy="987552"/>
          </a:xfrm>
          <a:prstGeom prst="rect">
            <a:avLst/>
          </a:prstGeom>
          <a:noFill/>
          <a:ln/>
        </p:spPr>
        <p:txBody>
          <a:bodyPr wrap="square" lIns="0" tIns="635" rIns="635" bIns="0" rtlCol="0" anchor="t"/>
          <a:lstStyle/>
          <a:p>
            <a:pPr indent="0" marL="0">
              <a:buNone/>
            </a:pPr>
            <a:r>
              <a:rPr lang="en-US" sz="1200" dirty="0">
                <a:solidFill>
                  <a:schemeClr val="accent1"/>
                </a:solidFill>
                <a:latin typeface="Consolas" pitchFamily="34" charset="0"/>
                <a:ea typeface="Consolas" pitchFamily="34" charset="-122"/>
                <a:cs typeface="Consolas" pitchFamily="34" charset="-120"/>
              </a:rPr>
              <a:t>const</a:t>
            </a:r>
            <a:r>
              <a:rPr lang="en-US" sz="1200" dirty="0">
                <a:solidFill>
                  <a:schemeClr val="tx1"/>
                </a:solidFill>
                <a:latin typeface="Consolas" pitchFamily="34" charset="0"/>
                <a:ea typeface="Consolas" pitchFamily="34" charset="-122"/>
                <a:cs typeface="Consolas" pitchFamily="34" charset="-120"/>
              </a:rPr>
              <a:t> user = { name: </a:t>
            </a:r>
            <a:r>
              <a:rPr lang="en-US" sz="1200" dirty="0">
                <a:solidFill>
                  <a:schemeClr val="accent3"/>
                </a:solidFill>
                <a:latin typeface="Consolas" pitchFamily="34" charset="0"/>
                <a:ea typeface="Consolas" pitchFamily="34" charset="-122"/>
                <a:cs typeface="Consolas" pitchFamily="34" charset="-120"/>
              </a:rPr>
              <a:t>"Sara"</a:t>
            </a:r>
            <a:r>
              <a:rPr lang="en-US" sz="1200" dirty="0">
                <a:solidFill>
                  <a:schemeClr val="tx1"/>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chemeClr val="accent1"/>
                </a:solidFill>
                <a:latin typeface="Consolas" pitchFamily="34" charset="0"/>
                <a:ea typeface="Consolas" pitchFamily="34" charset="-122"/>
                <a:cs typeface="Consolas" pitchFamily="34" charset="-120"/>
              </a:rPr>
              <a:t>const</a:t>
            </a:r>
            <a:r>
              <a:rPr lang="en-US" sz="1200" dirty="0">
                <a:solidFill>
                  <a:schemeClr val="tx1"/>
                </a:solidFill>
                <a:latin typeface="Consolas" pitchFamily="34" charset="0"/>
                <a:ea typeface="Consolas" pitchFamily="34" charset="-122"/>
                <a:cs typeface="Consolas" pitchFamily="34" charset="-120"/>
              </a:rPr>
              <a:t> marks = [</a:t>
            </a:r>
            <a:r>
              <a:rPr lang="en-US" sz="1200" dirty="0">
                <a:solidFill>
                  <a:schemeClr val="accent2"/>
                </a:solidFill>
                <a:latin typeface="Consolas" pitchFamily="34" charset="0"/>
                <a:ea typeface="Consolas" pitchFamily="34" charset="-122"/>
                <a:cs typeface="Consolas" pitchFamily="34" charset="-120"/>
              </a:rPr>
              <a:t>80</a:t>
            </a:r>
            <a:r>
              <a:rPr lang="en-US" sz="1200" dirty="0">
                <a:solidFill>
                  <a:schemeClr val="tx1"/>
                </a:solidFill>
                <a:latin typeface="Consolas" pitchFamily="34" charset="0"/>
                <a:ea typeface="Consolas" pitchFamily="34" charset="-122"/>
                <a:cs typeface="Consolas" pitchFamily="34" charset="-120"/>
              </a:rPr>
              <a:t>, </a:t>
            </a:r>
            <a:r>
              <a:rPr lang="en-US" sz="1200" dirty="0">
                <a:solidFill>
                  <a:schemeClr val="accent2"/>
                </a:solidFill>
                <a:latin typeface="Consolas" pitchFamily="34" charset="0"/>
                <a:ea typeface="Consolas" pitchFamily="34" charset="-122"/>
                <a:cs typeface="Consolas" pitchFamily="34" charset="-120"/>
              </a:rPr>
              <a:t>92</a:t>
            </a:r>
            <a:r>
              <a:rPr lang="en-US" sz="1200" dirty="0">
                <a:solidFill>
                  <a:schemeClr val="tx1"/>
                </a:solidFill>
                <a:latin typeface="Consolas" pitchFamily="34" charset="0"/>
                <a:ea typeface="Consolas" pitchFamily="34" charset="-122"/>
                <a:cs typeface="Consolas" pitchFamily="34" charset="-120"/>
              </a:rPr>
              <a:t>, </a:t>
            </a:r>
            <a:r>
              <a:rPr lang="en-US" sz="1200" dirty="0">
                <a:solidFill>
                  <a:schemeClr val="accent2"/>
                </a:solidFill>
                <a:latin typeface="Consolas" pitchFamily="34" charset="0"/>
                <a:ea typeface="Consolas" pitchFamily="34" charset="-122"/>
                <a:cs typeface="Consolas" pitchFamily="34" charset="-120"/>
              </a:rPr>
              <a:t>75</a:t>
            </a:r>
            <a:r>
              <a:rPr lang="en-US" sz="1200" dirty="0">
                <a:solidFill>
                  <a:schemeClr val="tx1"/>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user.name; </a:t>
            </a:r>
            <a:r>
              <a:rPr lang="en-US" sz="1200" i="1" dirty="0">
                <a:solidFill>
                  <a:schemeClr val="tx2"/>
                </a:solidFill>
                <a:latin typeface="Consolas" pitchFamily="34" charset="0"/>
                <a:ea typeface="Consolas" pitchFamily="34" charset="-122"/>
                <a:cs typeface="Consolas" pitchFamily="34" charset="-120"/>
              </a:rPr>
              <a:t>// "Sara"</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marks[</a:t>
            </a:r>
            <a:r>
              <a:rPr lang="en-US" sz="1200" dirty="0">
                <a:solidFill>
                  <a:schemeClr val="accent2"/>
                </a:solidFill>
                <a:latin typeface="Consolas" pitchFamily="34" charset="0"/>
                <a:ea typeface="Consolas" pitchFamily="34" charset="-122"/>
                <a:cs typeface="Consolas" pitchFamily="34" charset="-120"/>
              </a:rPr>
              <a:t>0</a:t>
            </a:r>
            <a:r>
              <a:rPr lang="en-US" sz="1200" dirty="0">
                <a:solidFill>
                  <a:schemeClr val="tx1"/>
                </a:solidFill>
                <a:latin typeface="Consolas" pitchFamily="34" charset="0"/>
                <a:ea typeface="Consolas" pitchFamily="34" charset="-122"/>
                <a:cs typeface="Consolas" pitchFamily="34" charset="-120"/>
              </a:rPr>
              <a:t>];  </a:t>
            </a:r>
            <a:r>
              <a:rPr lang="en-US" sz="1200" i="1" dirty="0">
                <a:solidFill>
                  <a:schemeClr val="tx2"/>
                </a:solidFill>
                <a:latin typeface="Consolas" pitchFamily="34" charset="0"/>
                <a:ea typeface="Consolas" pitchFamily="34" charset="-122"/>
                <a:cs typeface="Consolas" pitchFamily="34" charset="-120"/>
              </a:rPr>
              <a:t>// 80</a:t>
            </a:r>
            <a:endParaRPr lang="en-US" sz="1200" dirty="0"/>
          </a:p>
        </p:txBody>
      </p:sp>
      <p:sp>
        <p:nvSpPr>
          <p:cNvPr id="24" name="Card"/>
          <p:cNvSpPr/>
          <p:nvPr/>
        </p:nvSpPr>
        <p:spPr>
          <a:xfrm>
            <a:off x="4320540" y="4370832"/>
            <a:ext cx="3547872" cy="1810512"/>
          </a:xfrm>
          <a:prstGeom prst="roundRect">
            <a:avLst>
              <a:gd name="adj" fmla="val 6061"/>
            </a:avLst>
          </a:prstGeom>
          <a:solidFill>
            <a:schemeClr val="bg2"/>
          </a:solidFill>
          <a:ln/>
        </p:spPr>
      </p:sp>
      <p:sp>
        <p:nvSpPr>
          <p:cNvPr id="25" name="Text 22"/>
          <p:cNvSpPr txBox="1"/>
          <p:nvPr/>
        </p:nvSpPr>
        <p:spPr>
          <a:xfrm>
            <a:off x="4503420" y="4480560"/>
            <a:ext cx="3182112" cy="329184"/>
          </a:xfrm>
          <a:prstGeom prst="rect">
            <a:avLst/>
          </a:prstGeom>
          <a:noFill/>
          <a:ln/>
        </p:spPr>
        <p:txBody>
          <a:bodyPr wrap="square" lIns="0" tIns="0" rIns="0" bIns="0" rtlCol="0" anchor="ctr"/>
          <a:lstStyle/>
          <a:p>
            <a:pPr indent="0" marL="0">
              <a:buNone/>
            </a:pPr>
            <a:r>
              <a:rPr lang="en-US" sz="1500" b="1" dirty="0">
                <a:solidFill>
                  <a:schemeClr val="tx1"/>
                </a:solidFill>
              </a:rPr>
              <a:t>Destructuring and spread</a:t>
            </a:r>
            <a:endParaRPr lang="en-US" sz="1500" dirty="0"/>
          </a:p>
        </p:txBody>
      </p:sp>
      <p:sp>
        <p:nvSpPr>
          <p:cNvPr id="26" name="Code panel"/>
          <p:cNvSpPr/>
          <p:nvPr/>
        </p:nvSpPr>
        <p:spPr>
          <a:xfrm>
            <a:off x="4457700" y="4873752"/>
            <a:ext cx="3273552" cy="1170432"/>
          </a:xfrm>
          <a:prstGeom prst="roundRect">
            <a:avLst>
              <a:gd name="adj" fmla="val 7813"/>
            </a:avLst>
          </a:prstGeom>
          <a:solidFill>
            <a:schemeClr val="bg1"/>
          </a:solidFill>
          <a:ln w="12700">
            <a:solidFill>
              <a:schemeClr val="accent6"/>
            </a:solidFill>
            <a:prstDash val="solid"/>
          </a:ln>
        </p:spPr>
      </p:sp>
      <p:sp>
        <p:nvSpPr>
          <p:cNvPr id="27" name="Code panel code"/>
          <p:cNvSpPr txBox="1"/>
          <p:nvPr/>
        </p:nvSpPr>
        <p:spPr>
          <a:xfrm>
            <a:off x="4594860" y="4983480"/>
            <a:ext cx="2999232" cy="987552"/>
          </a:xfrm>
          <a:prstGeom prst="rect">
            <a:avLst/>
          </a:prstGeom>
          <a:noFill/>
          <a:ln/>
        </p:spPr>
        <p:txBody>
          <a:bodyPr wrap="square" lIns="0" tIns="635" rIns="635" bIns="0" rtlCol="0" anchor="t"/>
          <a:lstStyle/>
          <a:p>
            <a:pPr indent="0" marL="0">
              <a:buNone/>
            </a:pPr>
            <a:r>
              <a:rPr lang="en-US" sz="1200" dirty="0">
                <a:solidFill>
                  <a:schemeClr val="accent1"/>
                </a:solidFill>
                <a:latin typeface="Consolas" pitchFamily="34" charset="0"/>
                <a:ea typeface="Consolas" pitchFamily="34" charset="-122"/>
                <a:cs typeface="Consolas" pitchFamily="34" charset="-120"/>
              </a:rPr>
              <a:t>const</a:t>
            </a:r>
            <a:r>
              <a:rPr lang="en-US" sz="1200" dirty="0">
                <a:solidFill>
                  <a:schemeClr val="tx1"/>
                </a:solidFill>
                <a:latin typeface="Consolas" pitchFamily="34" charset="0"/>
                <a:ea typeface="Consolas" pitchFamily="34" charset="-122"/>
                <a:cs typeface="Consolas" pitchFamily="34" charset="-120"/>
              </a:rPr>
              <a:t> { name } = user;</a:t>
            </a:r>
            <a:endParaRPr lang="en-US" sz="1200" dirty="0"/>
          </a:p>
          <a:p>
            <a:pPr indent="0" marL="0">
              <a:buNone/>
            </a:pPr>
            <a:r>
              <a:rPr lang="en-US" sz="1200" dirty="0">
                <a:solidFill>
                  <a:schemeClr val="accent1"/>
                </a:solidFill>
                <a:latin typeface="Consolas" pitchFamily="34" charset="0"/>
                <a:ea typeface="Consolas" pitchFamily="34" charset="-122"/>
                <a:cs typeface="Consolas" pitchFamily="34" charset="-120"/>
              </a:rPr>
              <a:t>const</a:t>
            </a:r>
            <a:r>
              <a:rPr lang="en-US" sz="1200" dirty="0">
                <a:solidFill>
                  <a:schemeClr val="tx1"/>
                </a:solidFill>
                <a:latin typeface="Consolas" pitchFamily="34" charset="0"/>
                <a:ea typeface="Consolas" pitchFamily="34" charset="-122"/>
                <a:cs typeface="Consolas" pitchFamily="34" charset="-120"/>
              </a:rPr>
              <a:t> [first] = marks;</a:t>
            </a:r>
            <a:endParaRPr lang="en-US" sz="1200" dirty="0"/>
          </a:p>
          <a:p>
            <a:pPr indent="0" marL="0">
              <a:buNone/>
            </a:pPr>
            <a:r>
              <a:rPr lang="en-US" sz="1200" dirty="0">
                <a:solidFill>
                  <a:schemeClr val="accent1"/>
                </a:solidFill>
                <a:latin typeface="Consolas" pitchFamily="34" charset="0"/>
                <a:ea typeface="Consolas" pitchFamily="34" charset="-122"/>
                <a:cs typeface="Consolas" pitchFamily="34" charset="-120"/>
              </a:rPr>
              <a:t>const</a:t>
            </a:r>
            <a:r>
              <a:rPr lang="en-US" sz="1200" dirty="0">
                <a:solidFill>
                  <a:schemeClr val="tx1"/>
                </a:solidFill>
                <a:latin typeface="Consolas" pitchFamily="34" charset="0"/>
                <a:ea typeface="Consolas" pitchFamily="34" charset="-122"/>
                <a:cs typeface="Consolas" pitchFamily="34" charset="-120"/>
              </a:rPr>
              <a:t> u2 = { ...user, id: </a:t>
            </a:r>
            <a:r>
              <a:rPr lang="en-US" sz="1200" dirty="0">
                <a:solidFill>
                  <a:schemeClr val="accent2"/>
                </a:solidFill>
                <a:latin typeface="Consolas" pitchFamily="34" charset="0"/>
                <a:ea typeface="Consolas" pitchFamily="34" charset="-122"/>
                <a:cs typeface="Consolas" pitchFamily="34" charset="-120"/>
              </a:rPr>
              <a:t>1</a:t>
            </a:r>
            <a:r>
              <a:rPr lang="en-US" sz="1200" dirty="0">
                <a:solidFill>
                  <a:schemeClr val="tx1"/>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chemeClr val="accent1"/>
                </a:solidFill>
                <a:latin typeface="Consolas" pitchFamily="34" charset="0"/>
                <a:ea typeface="Consolas" pitchFamily="34" charset="-122"/>
                <a:cs typeface="Consolas" pitchFamily="34" charset="-120"/>
              </a:rPr>
              <a:t>const</a:t>
            </a:r>
            <a:r>
              <a:rPr lang="en-US" sz="1200" dirty="0">
                <a:solidFill>
                  <a:schemeClr val="tx1"/>
                </a:solidFill>
                <a:latin typeface="Consolas" pitchFamily="34" charset="0"/>
                <a:ea typeface="Consolas" pitchFamily="34" charset="-122"/>
                <a:cs typeface="Consolas" pitchFamily="34" charset="-120"/>
              </a:rPr>
              <a:t> all = [...marks, </a:t>
            </a:r>
            <a:r>
              <a:rPr lang="en-US" sz="1200" dirty="0">
                <a:solidFill>
                  <a:schemeClr val="accent2"/>
                </a:solidFill>
                <a:latin typeface="Consolas" pitchFamily="34" charset="0"/>
                <a:ea typeface="Consolas" pitchFamily="34" charset="-122"/>
                <a:cs typeface="Consolas" pitchFamily="34" charset="-120"/>
              </a:rPr>
              <a:t>88</a:t>
            </a:r>
            <a:r>
              <a:rPr lang="en-US" sz="1200" dirty="0">
                <a:solidFill>
                  <a:schemeClr val="tx1"/>
                </a:solidFill>
                <a:latin typeface="Consolas" pitchFamily="34" charset="0"/>
                <a:ea typeface="Consolas" pitchFamily="34" charset="-122"/>
                <a:cs typeface="Consolas" pitchFamily="34" charset="-120"/>
              </a:rPr>
              <a:t>];</a:t>
            </a:r>
            <a:endParaRPr lang="en-US" sz="1200" dirty="0"/>
          </a:p>
        </p:txBody>
      </p:sp>
      <p:sp>
        <p:nvSpPr>
          <p:cNvPr id="28" name="Card"/>
          <p:cNvSpPr/>
          <p:nvPr/>
        </p:nvSpPr>
        <p:spPr>
          <a:xfrm>
            <a:off x="8092440" y="4370832"/>
            <a:ext cx="3547872" cy="1810512"/>
          </a:xfrm>
          <a:prstGeom prst="roundRect">
            <a:avLst>
              <a:gd name="adj" fmla="val 6061"/>
            </a:avLst>
          </a:prstGeom>
          <a:solidFill>
            <a:schemeClr val="accent1"/>
          </a:solidFill>
          <a:ln/>
        </p:spPr>
      </p:sp>
      <p:sp>
        <p:nvSpPr>
          <p:cNvPr id="29" name="Text 26"/>
          <p:cNvSpPr txBox="1"/>
          <p:nvPr/>
        </p:nvSpPr>
        <p:spPr>
          <a:xfrm>
            <a:off x="8275320" y="4480560"/>
            <a:ext cx="3182112" cy="329184"/>
          </a:xfrm>
          <a:prstGeom prst="rect">
            <a:avLst/>
          </a:prstGeom>
          <a:noFill/>
          <a:ln/>
        </p:spPr>
        <p:txBody>
          <a:bodyPr wrap="square" lIns="0" tIns="0" rIns="0" bIns="0" rtlCol="0" anchor="ctr"/>
          <a:lstStyle/>
          <a:p>
            <a:pPr indent="0" marL="0">
              <a:buNone/>
            </a:pPr>
            <a:r>
              <a:rPr lang="en-US" sz="1500" b="1" dirty="0">
                <a:solidFill>
                  <a:schemeClr val="bg1"/>
                </a:solidFill>
              </a:rPr>
              <a:t>Where you will use them</a:t>
            </a:r>
            <a:endParaRPr lang="en-US" sz="1500" dirty="0"/>
          </a:p>
        </p:txBody>
      </p:sp>
      <p:sp>
        <p:nvSpPr>
          <p:cNvPr id="30" name="Text 27"/>
          <p:cNvSpPr txBox="1"/>
          <p:nvPr/>
        </p:nvSpPr>
        <p:spPr>
          <a:xfrm>
            <a:off x="8275320" y="4873752"/>
            <a:ext cx="3227832" cy="1216152"/>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bg1"/>
                </a:solidFill>
              </a:rPr>
              <a:t>Arrow functions → button events</a:t>
            </a:r>
            <a:endParaRPr lang="en-US" sz="1400" dirty="0"/>
          </a:p>
          <a:p>
            <a:pPr marL="342900" indent="-342900">
              <a:spcAft>
                <a:spcPts val="300"/>
              </a:spcAft>
              <a:buSzPct val="100000"/>
              <a:buChar char="•"/>
            </a:pPr>
            <a:r>
              <a:rPr lang="en-US" sz="1400" dirty="0">
                <a:solidFill>
                  <a:schemeClr val="bg1"/>
                </a:solidFill>
              </a:rPr>
              <a:t>Destructuring → props and useState</a:t>
            </a:r>
            <a:endParaRPr lang="en-US" sz="1400" dirty="0"/>
          </a:p>
          <a:p>
            <a:pPr marL="342900" indent="-342900">
              <a:spcAft>
                <a:spcPts val="300"/>
              </a:spcAft>
              <a:buSzPct val="100000"/>
              <a:buChar char="•"/>
            </a:pPr>
            <a:r>
              <a:rPr lang="en-US" sz="1400" dirty="0">
                <a:solidFill>
                  <a:schemeClr val="bg1"/>
                </a:solidFill>
              </a:rPr>
              <a:t>const → components and styles</a:t>
            </a:r>
            <a:endParaRPr lang="en-US" sz="1400" dirty="0"/>
          </a:p>
          <a:p>
            <a:pPr marL="342900" indent="-342900">
              <a:spcAft>
                <a:spcPts val="300"/>
              </a:spcAft>
              <a:buSzPct val="100000"/>
              <a:buChar char="•"/>
            </a:pPr>
            <a:r>
              <a:rPr lang="en-US" sz="1400" dirty="0">
                <a:solidFill>
                  <a:schemeClr val="bg1"/>
                </a:solidFill>
              </a:rPr>
              <a:t>Objects → style rules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ection tag"/>
          <p:cNvSpPr/>
          <p:nvPr/>
        </p:nvSpPr>
        <p:spPr>
          <a:xfrm>
            <a:off x="548640" y="365760"/>
            <a:ext cx="850392" cy="310896"/>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spc="150" kern="0" dirty="0">
                <a:solidFill>
                  <a:schemeClr val="bg1"/>
                </a:solidFill>
              </a:rPr>
              <a:t>THEORY</a:t>
            </a:r>
            <a:endParaRPr lang="en-US" sz="1100" dirty="0"/>
          </a:p>
        </p:txBody>
      </p:sp>
      <p:sp>
        <p:nvSpPr>
          <p:cNvPr id="3" name="Tag context"/>
          <p:cNvSpPr txBox="1"/>
          <p:nvPr/>
        </p:nvSpPr>
        <p:spPr>
          <a:xfrm>
            <a:off x="1581912" y="365760"/>
            <a:ext cx="10058400" cy="310896"/>
          </a:xfrm>
          <a:prstGeom prst="rect">
            <a:avLst/>
          </a:prstGeom>
          <a:noFill/>
          <a:ln/>
        </p:spPr>
        <p:txBody>
          <a:bodyPr wrap="square" lIns="0" tIns="0" rIns="0" bIns="0" rtlCol="0" anchor="ctr"/>
          <a:lstStyle/>
          <a:p>
            <a:pPr indent="0" marL="0">
              <a:buNone/>
            </a:pPr>
            <a:r>
              <a:rPr lang="en-US" sz="1300" dirty="0">
                <a:solidFill>
                  <a:schemeClr val="tx2"/>
                </a:solidFill>
              </a:rPr>
              <a:t>Part 4: JavaScript prerequisites · Covered in previous classes</a:t>
            </a:r>
            <a:endParaRPr lang="en-US" sz="1300" dirty="0"/>
          </a:p>
        </p:txBody>
      </p:sp>
      <p:sp>
        <p:nvSpPr>
          <p:cNvPr id="4" name="Text 0"/>
          <p:cNvSpPr/>
          <p:nvPr>
            <p:ph idx="100" type="title" hasCustomPrompt="1"/>
          </p:nvPr>
        </p:nvSpPr>
        <p:spPr>
          <a:xfrm>
            <a:off x="548640" y="749808"/>
            <a:ext cx="11091672" cy="713232"/>
          </a:xfrm>
          <a:prstGeom prst="rect">
            <a:avLst/>
          </a:prstGeom>
          <a:noFill/>
          <a:ln/>
        </p:spPr>
        <p:txBody>
          <a:bodyPr wrap="square" lIns="0" tIns="0" rIns="0" bIns="0" rtlCol="0" anchor="ctr"/>
          <a:lstStyle/>
          <a:p>
            <a:pPr algn="l" indent="0" marL="0">
              <a:buNone/>
            </a:pPr>
            <a:r>
              <a:rPr lang="en-US" sz="3600" b="1" dirty="0">
                <a:solidFill>
                  <a:schemeClr val="tx1"/>
                </a:solidFill>
              </a:rPr>
              <a:t>JavaScript Revision (2/2)</a:t>
            </a:r>
            <a:endParaRPr lang="en-US" sz="3600" dirty="0"/>
          </a:p>
        </p:txBody>
      </p:sp>
      <p:sp>
        <p:nvSpPr>
          <p:cNvPr id="5" name="Card"/>
          <p:cNvSpPr/>
          <p:nvPr/>
        </p:nvSpPr>
        <p:spPr>
          <a:xfrm>
            <a:off x="548640" y="1645920"/>
            <a:ext cx="5431536" cy="2057400"/>
          </a:xfrm>
          <a:prstGeom prst="roundRect">
            <a:avLst>
              <a:gd name="adj" fmla="val 5333"/>
            </a:avLst>
          </a:prstGeom>
          <a:solidFill>
            <a:schemeClr val="bg2"/>
          </a:solidFill>
          <a:ln/>
        </p:spPr>
      </p:sp>
      <p:sp>
        <p:nvSpPr>
          <p:cNvPr id="6" name="Text 4"/>
          <p:cNvSpPr txBox="1"/>
          <p:nvPr/>
        </p:nvSpPr>
        <p:spPr>
          <a:xfrm>
            <a:off x="731520" y="1755648"/>
            <a:ext cx="5065776" cy="329184"/>
          </a:xfrm>
          <a:prstGeom prst="rect">
            <a:avLst/>
          </a:prstGeom>
          <a:noFill/>
          <a:ln/>
        </p:spPr>
        <p:txBody>
          <a:bodyPr wrap="square" lIns="0" tIns="0" rIns="0" bIns="0" rtlCol="0" anchor="ctr"/>
          <a:lstStyle/>
          <a:p>
            <a:pPr indent="0" marL="0">
              <a:buNone/>
            </a:pPr>
            <a:r>
              <a:rPr lang="en-US" sz="1500" b="1" dirty="0">
                <a:solidFill>
                  <a:schemeClr val="tx1"/>
                </a:solidFill>
              </a:rPr>
              <a:t>Array methods: map and filter</a:t>
            </a:r>
            <a:endParaRPr lang="en-US" sz="1500" dirty="0"/>
          </a:p>
        </p:txBody>
      </p:sp>
      <p:sp>
        <p:nvSpPr>
          <p:cNvPr id="7" name="Code panel"/>
          <p:cNvSpPr/>
          <p:nvPr/>
        </p:nvSpPr>
        <p:spPr>
          <a:xfrm>
            <a:off x="685800" y="2148840"/>
            <a:ext cx="5157216" cy="822960"/>
          </a:xfrm>
          <a:prstGeom prst="roundRect">
            <a:avLst>
              <a:gd name="adj" fmla="val 11111"/>
            </a:avLst>
          </a:prstGeom>
          <a:solidFill>
            <a:schemeClr val="bg1"/>
          </a:solidFill>
          <a:ln w="12700">
            <a:solidFill>
              <a:schemeClr val="accent6"/>
            </a:solidFill>
            <a:prstDash val="solid"/>
          </a:ln>
        </p:spPr>
      </p:sp>
      <p:sp>
        <p:nvSpPr>
          <p:cNvPr id="8" name="Code panel code"/>
          <p:cNvSpPr txBox="1"/>
          <p:nvPr/>
        </p:nvSpPr>
        <p:spPr>
          <a:xfrm>
            <a:off x="822960" y="2258568"/>
            <a:ext cx="4882896" cy="640080"/>
          </a:xfrm>
          <a:prstGeom prst="rect">
            <a:avLst/>
          </a:prstGeom>
          <a:noFill/>
          <a:ln/>
        </p:spPr>
        <p:txBody>
          <a:bodyPr wrap="square" lIns="0" tIns="635" rIns="635" bIns="0" rtlCol="0" anchor="t"/>
          <a:lstStyle/>
          <a:p>
            <a:pPr indent="0" marL="0">
              <a:buNone/>
            </a:pPr>
            <a:r>
              <a:rPr lang="en-US" sz="1200" dirty="0">
                <a:solidFill>
                  <a:schemeClr val="accent1"/>
                </a:solidFill>
                <a:latin typeface="Consolas" pitchFamily="34" charset="0"/>
                <a:ea typeface="Consolas" pitchFamily="34" charset="-122"/>
                <a:cs typeface="Consolas" pitchFamily="34" charset="-120"/>
              </a:rPr>
              <a:t>const</a:t>
            </a:r>
            <a:r>
              <a:rPr lang="en-US" sz="1200" dirty="0">
                <a:solidFill>
                  <a:schemeClr val="tx1"/>
                </a:solidFill>
                <a:latin typeface="Consolas" pitchFamily="34" charset="0"/>
                <a:ea typeface="Consolas" pitchFamily="34" charset="-122"/>
                <a:cs typeface="Consolas" pitchFamily="34" charset="-120"/>
              </a:rPr>
              <a:t> nums = [</a:t>
            </a:r>
            <a:r>
              <a:rPr lang="en-US" sz="1200" dirty="0">
                <a:solidFill>
                  <a:schemeClr val="accent2"/>
                </a:solidFill>
                <a:latin typeface="Consolas" pitchFamily="34" charset="0"/>
                <a:ea typeface="Consolas" pitchFamily="34" charset="-122"/>
                <a:cs typeface="Consolas" pitchFamily="34" charset="-120"/>
              </a:rPr>
              <a:t>1</a:t>
            </a:r>
            <a:r>
              <a:rPr lang="en-US" sz="1200" dirty="0">
                <a:solidFill>
                  <a:schemeClr val="tx1"/>
                </a:solidFill>
                <a:latin typeface="Consolas" pitchFamily="34" charset="0"/>
                <a:ea typeface="Consolas" pitchFamily="34" charset="-122"/>
                <a:cs typeface="Consolas" pitchFamily="34" charset="-120"/>
              </a:rPr>
              <a:t>, </a:t>
            </a:r>
            <a:r>
              <a:rPr lang="en-US" sz="1200" dirty="0">
                <a:solidFill>
                  <a:schemeClr val="accent2"/>
                </a:solidFill>
                <a:latin typeface="Consolas" pitchFamily="34" charset="0"/>
                <a:ea typeface="Consolas" pitchFamily="34" charset="-122"/>
                <a:cs typeface="Consolas" pitchFamily="34" charset="-120"/>
              </a:rPr>
              <a:t>2</a:t>
            </a:r>
            <a:r>
              <a:rPr lang="en-US" sz="1200" dirty="0">
                <a:solidFill>
                  <a:schemeClr val="tx1"/>
                </a:solidFill>
                <a:latin typeface="Consolas" pitchFamily="34" charset="0"/>
                <a:ea typeface="Consolas" pitchFamily="34" charset="-122"/>
                <a:cs typeface="Consolas" pitchFamily="34" charset="-120"/>
              </a:rPr>
              <a:t>, </a:t>
            </a:r>
            <a:r>
              <a:rPr lang="en-US" sz="1200" dirty="0">
                <a:solidFill>
                  <a:schemeClr val="accent2"/>
                </a:solidFill>
                <a:latin typeface="Consolas" pitchFamily="34" charset="0"/>
                <a:ea typeface="Consolas" pitchFamily="34" charset="-122"/>
                <a:cs typeface="Consolas" pitchFamily="34" charset="-120"/>
              </a:rPr>
              <a:t>3</a:t>
            </a:r>
            <a:r>
              <a:rPr lang="en-US" sz="1200" dirty="0">
                <a:solidFill>
                  <a:schemeClr val="tx1"/>
                </a:solidFill>
                <a:latin typeface="Consolas" pitchFamily="34" charset="0"/>
                <a:ea typeface="Consolas" pitchFamily="34" charset="-122"/>
                <a:cs typeface="Consolas" pitchFamily="34" charset="-120"/>
              </a:rPr>
              <a:t>, </a:t>
            </a:r>
            <a:r>
              <a:rPr lang="en-US" sz="1200" dirty="0">
                <a:solidFill>
                  <a:schemeClr val="accent2"/>
                </a:solidFill>
                <a:latin typeface="Consolas" pitchFamily="34" charset="0"/>
                <a:ea typeface="Consolas" pitchFamily="34" charset="-122"/>
                <a:cs typeface="Consolas" pitchFamily="34" charset="-120"/>
              </a:rPr>
              <a:t>4</a:t>
            </a:r>
            <a:r>
              <a:rPr lang="en-US" sz="1200" dirty="0">
                <a:solidFill>
                  <a:schemeClr val="tx1"/>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nums.map((n) =&gt; n * </a:t>
            </a:r>
            <a:r>
              <a:rPr lang="en-US" sz="1200" dirty="0">
                <a:solidFill>
                  <a:schemeClr val="accent2"/>
                </a:solidFill>
                <a:latin typeface="Consolas" pitchFamily="34" charset="0"/>
                <a:ea typeface="Consolas" pitchFamily="34" charset="-122"/>
                <a:cs typeface="Consolas" pitchFamily="34" charset="-120"/>
              </a:rPr>
              <a:t>2</a:t>
            </a:r>
            <a:r>
              <a:rPr lang="en-US" sz="1200" dirty="0">
                <a:solidFill>
                  <a:schemeClr val="tx1"/>
                </a:solidFill>
                <a:latin typeface="Consolas" pitchFamily="34" charset="0"/>
                <a:ea typeface="Consolas" pitchFamily="34" charset="-122"/>
                <a:cs typeface="Consolas" pitchFamily="34" charset="-120"/>
              </a:rPr>
              <a:t>);    </a:t>
            </a:r>
            <a:r>
              <a:rPr lang="en-US" sz="1200" i="1" dirty="0">
                <a:solidFill>
                  <a:schemeClr val="tx2"/>
                </a:solidFill>
                <a:latin typeface="Consolas" pitchFamily="34" charset="0"/>
                <a:ea typeface="Consolas" pitchFamily="34" charset="-122"/>
                <a:cs typeface="Consolas" pitchFamily="34" charset="-120"/>
              </a:rPr>
              <a:t>// [2, 4, 6, 8]</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nums.filter((n) =&gt; n &gt; </a:t>
            </a:r>
            <a:r>
              <a:rPr lang="en-US" sz="1200" dirty="0">
                <a:solidFill>
                  <a:schemeClr val="accent2"/>
                </a:solidFill>
                <a:latin typeface="Consolas" pitchFamily="34" charset="0"/>
                <a:ea typeface="Consolas" pitchFamily="34" charset="-122"/>
                <a:cs typeface="Consolas" pitchFamily="34" charset="-120"/>
              </a:rPr>
              <a:t>2</a:t>
            </a:r>
            <a:r>
              <a:rPr lang="en-US" sz="1200" dirty="0">
                <a:solidFill>
                  <a:schemeClr val="tx1"/>
                </a:solidFill>
                <a:latin typeface="Consolas" pitchFamily="34" charset="0"/>
                <a:ea typeface="Consolas" pitchFamily="34" charset="-122"/>
                <a:cs typeface="Consolas" pitchFamily="34" charset="-120"/>
              </a:rPr>
              <a:t>); </a:t>
            </a:r>
            <a:r>
              <a:rPr lang="en-US" sz="1200" i="1" dirty="0">
                <a:solidFill>
                  <a:schemeClr val="tx2"/>
                </a:solidFill>
                <a:latin typeface="Consolas" pitchFamily="34" charset="0"/>
                <a:ea typeface="Consolas" pitchFamily="34" charset="-122"/>
                <a:cs typeface="Consolas" pitchFamily="34" charset="-120"/>
              </a:rPr>
              <a:t>// [3, 4]</a:t>
            </a:r>
            <a:endParaRPr lang="en-US" sz="1200" dirty="0"/>
          </a:p>
        </p:txBody>
      </p:sp>
      <p:sp>
        <p:nvSpPr>
          <p:cNvPr id="9" name="Text 7"/>
          <p:cNvSpPr txBox="1"/>
          <p:nvPr/>
        </p:nvSpPr>
        <p:spPr>
          <a:xfrm>
            <a:off x="731520" y="3017520"/>
            <a:ext cx="5065776" cy="612648"/>
          </a:xfrm>
          <a:prstGeom prst="rect">
            <a:avLst/>
          </a:prstGeom>
          <a:noFill/>
          <a:ln/>
        </p:spPr>
        <p:txBody>
          <a:bodyPr wrap="square" lIns="0" tIns="0" rIns="0" bIns="0" rtlCol="0" anchor="t"/>
          <a:lstStyle/>
          <a:p>
            <a:pPr indent="0" marL="0">
              <a:buNone/>
            </a:pPr>
            <a:r>
              <a:rPr lang="en-US" sz="1300" dirty="0">
                <a:solidFill>
                  <a:schemeClr val="tx1"/>
                </a:solidFill>
              </a:rPr>
              <a:t>In React Native, </a:t>
            </a:r>
            <a:r>
              <a:rPr lang="en-US" sz="1300" dirty="0">
                <a:solidFill>
                  <a:schemeClr val="accent5"/>
                </a:solidFill>
                <a:latin typeface="Consolas" pitchFamily="34" charset="0"/>
                <a:ea typeface="Consolas" pitchFamily="34" charset="-122"/>
                <a:cs typeface="Consolas" pitchFamily="34" charset="-120"/>
              </a:rPr>
              <a:t>map</a:t>
            </a:r>
            <a:r>
              <a:rPr lang="en-US" sz="1300" dirty="0">
                <a:solidFill>
                  <a:schemeClr val="tx1"/>
                </a:solidFill>
              </a:rPr>
              <a:t> turns a list of data into a list of components.</a:t>
            </a:r>
            <a:endParaRPr lang="en-US" sz="1300" dirty="0"/>
          </a:p>
        </p:txBody>
      </p:sp>
      <p:sp>
        <p:nvSpPr>
          <p:cNvPr id="10" name="Card"/>
          <p:cNvSpPr/>
          <p:nvPr/>
        </p:nvSpPr>
        <p:spPr>
          <a:xfrm>
            <a:off x="548640" y="3886200"/>
            <a:ext cx="5431536" cy="2286000"/>
          </a:xfrm>
          <a:prstGeom prst="roundRect">
            <a:avLst>
              <a:gd name="adj" fmla="val 4800"/>
            </a:avLst>
          </a:prstGeom>
          <a:solidFill>
            <a:schemeClr val="bg2"/>
          </a:solidFill>
          <a:ln/>
        </p:spPr>
      </p:sp>
      <p:sp>
        <p:nvSpPr>
          <p:cNvPr id="11" name="Text 9"/>
          <p:cNvSpPr txBox="1"/>
          <p:nvPr/>
        </p:nvSpPr>
        <p:spPr>
          <a:xfrm>
            <a:off x="731520" y="3995928"/>
            <a:ext cx="5065776" cy="329184"/>
          </a:xfrm>
          <a:prstGeom prst="rect">
            <a:avLst/>
          </a:prstGeom>
          <a:noFill/>
          <a:ln/>
        </p:spPr>
        <p:txBody>
          <a:bodyPr wrap="square" lIns="0" tIns="0" rIns="0" bIns="0" rtlCol="0" anchor="ctr"/>
          <a:lstStyle/>
          <a:p>
            <a:pPr indent="0" marL="0">
              <a:buNone/>
            </a:pPr>
            <a:r>
              <a:rPr lang="en-US" sz="1500" b="1" dirty="0">
                <a:solidFill>
                  <a:schemeClr val="tx1"/>
                </a:solidFill>
              </a:rPr>
              <a:t>import and export (modules)</a:t>
            </a:r>
            <a:endParaRPr lang="en-US" sz="1500" dirty="0"/>
          </a:p>
        </p:txBody>
      </p:sp>
      <p:sp>
        <p:nvSpPr>
          <p:cNvPr id="12" name="Code panel"/>
          <p:cNvSpPr/>
          <p:nvPr/>
        </p:nvSpPr>
        <p:spPr>
          <a:xfrm>
            <a:off x="685800" y="4389120"/>
            <a:ext cx="5157216" cy="1600200"/>
          </a:xfrm>
          <a:prstGeom prst="roundRect">
            <a:avLst>
              <a:gd name="adj" fmla="val 5714"/>
            </a:avLst>
          </a:prstGeom>
          <a:solidFill>
            <a:schemeClr val="bg1"/>
          </a:solidFill>
          <a:ln w="12700">
            <a:solidFill>
              <a:schemeClr val="accent6"/>
            </a:solidFill>
            <a:prstDash val="solid"/>
          </a:ln>
        </p:spPr>
      </p:sp>
      <p:sp>
        <p:nvSpPr>
          <p:cNvPr id="13" name="Code panel code"/>
          <p:cNvSpPr txBox="1"/>
          <p:nvPr/>
        </p:nvSpPr>
        <p:spPr>
          <a:xfrm>
            <a:off x="822960" y="4498848"/>
            <a:ext cx="4882896" cy="1417320"/>
          </a:xfrm>
          <a:prstGeom prst="rect">
            <a:avLst/>
          </a:prstGeom>
          <a:noFill/>
          <a:ln/>
        </p:spPr>
        <p:txBody>
          <a:bodyPr wrap="square" lIns="0" tIns="635" rIns="635" bIns="0" rtlCol="0" anchor="t"/>
          <a:lstStyle/>
          <a:p>
            <a:pPr indent="0" marL="0">
              <a:buNone/>
            </a:pPr>
            <a:r>
              <a:rPr lang="en-US" sz="1200" i="1" dirty="0">
                <a:solidFill>
                  <a:schemeClr val="tx2"/>
                </a:solidFill>
                <a:latin typeface="Consolas" pitchFamily="34" charset="0"/>
                <a:ea typeface="Consolas" pitchFamily="34" charset="-122"/>
                <a:cs typeface="Consolas" pitchFamily="34" charset="-120"/>
              </a:rPr>
              <a:t>// math.js</a:t>
            </a:r>
            <a:endParaRPr lang="en-US" sz="1200" dirty="0"/>
          </a:p>
          <a:p>
            <a:pPr indent="0" marL="0">
              <a:buNone/>
            </a:pPr>
            <a:r>
              <a:rPr lang="en-US" sz="1200" dirty="0">
                <a:solidFill>
                  <a:schemeClr val="accent1"/>
                </a:solidFill>
                <a:latin typeface="Consolas" pitchFamily="34" charset="0"/>
                <a:ea typeface="Consolas" pitchFamily="34" charset="-122"/>
                <a:cs typeface="Consolas" pitchFamily="34" charset="-120"/>
              </a:rPr>
              <a:t>export</a:t>
            </a:r>
            <a:r>
              <a:rPr lang="en-US" sz="1200" dirty="0">
                <a:solidFill>
                  <a:schemeClr val="tx1"/>
                </a:solidFill>
                <a:latin typeface="Consolas" pitchFamily="34" charset="0"/>
                <a:ea typeface="Consolas" pitchFamily="34" charset="-122"/>
                <a:cs typeface="Consolas" pitchFamily="34" charset="-120"/>
              </a:rPr>
              <a:t> </a:t>
            </a:r>
            <a:r>
              <a:rPr lang="en-US" sz="1200" dirty="0">
                <a:solidFill>
                  <a:schemeClr val="accent1"/>
                </a:solidFill>
                <a:latin typeface="Consolas" pitchFamily="34" charset="0"/>
                <a:ea typeface="Consolas" pitchFamily="34" charset="-122"/>
                <a:cs typeface="Consolas" pitchFamily="34" charset="-120"/>
              </a:rPr>
              <a:t>const</a:t>
            </a:r>
            <a:r>
              <a:rPr lang="en-US" sz="1200" dirty="0">
                <a:solidFill>
                  <a:schemeClr val="tx1"/>
                </a:solidFill>
                <a:latin typeface="Consolas" pitchFamily="34" charset="0"/>
                <a:ea typeface="Consolas" pitchFamily="34" charset="-122"/>
                <a:cs typeface="Consolas" pitchFamily="34" charset="-120"/>
              </a:rPr>
              <a:t> PI = </a:t>
            </a:r>
            <a:r>
              <a:rPr lang="en-US" sz="1200" dirty="0">
                <a:solidFill>
                  <a:schemeClr val="accent2"/>
                </a:solidFill>
                <a:latin typeface="Consolas" pitchFamily="34" charset="0"/>
                <a:ea typeface="Consolas" pitchFamily="34" charset="-122"/>
                <a:cs typeface="Consolas" pitchFamily="34" charset="-120"/>
              </a:rPr>
              <a:t>3.14</a:t>
            </a:r>
            <a:r>
              <a:rPr lang="en-US" sz="1200" dirty="0">
                <a:solidFill>
                  <a:schemeClr val="tx1"/>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chemeClr val="accent1"/>
                </a:solidFill>
                <a:latin typeface="Consolas" pitchFamily="34" charset="0"/>
                <a:ea typeface="Consolas" pitchFamily="34" charset="-122"/>
                <a:cs typeface="Consolas" pitchFamily="34" charset="-120"/>
              </a:rPr>
              <a:t>export</a:t>
            </a:r>
            <a:r>
              <a:rPr lang="en-US" sz="1200" dirty="0">
                <a:solidFill>
                  <a:schemeClr val="tx1"/>
                </a:solidFill>
                <a:latin typeface="Consolas" pitchFamily="34" charset="0"/>
                <a:ea typeface="Consolas" pitchFamily="34" charset="-122"/>
                <a:cs typeface="Consolas" pitchFamily="34" charset="-120"/>
              </a:rPr>
              <a:t> </a:t>
            </a:r>
            <a:r>
              <a:rPr lang="en-US" sz="1200" dirty="0">
                <a:solidFill>
                  <a:schemeClr val="accent1"/>
                </a:solidFill>
                <a:latin typeface="Consolas" pitchFamily="34" charset="0"/>
                <a:ea typeface="Consolas" pitchFamily="34" charset="-122"/>
                <a:cs typeface="Consolas" pitchFamily="34" charset="-120"/>
              </a:rPr>
              <a:t>default</a:t>
            </a:r>
            <a:r>
              <a:rPr lang="en-US" sz="1200" dirty="0">
                <a:solidFill>
                  <a:schemeClr val="tx1"/>
                </a:solidFill>
                <a:latin typeface="Consolas" pitchFamily="34" charset="0"/>
                <a:ea typeface="Consolas" pitchFamily="34" charset="-122"/>
                <a:cs typeface="Consolas" pitchFamily="34" charset="-120"/>
              </a:rPr>
              <a:t> </a:t>
            </a:r>
            <a:r>
              <a:rPr lang="en-US" sz="1200" dirty="0">
                <a:solidFill>
                  <a:schemeClr val="accent1"/>
                </a:solidFill>
                <a:latin typeface="Consolas" pitchFamily="34" charset="0"/>
                <a:ea typeface="Consolas" pitchFamily="34" charset="-122"/>
                <a:cs typeface="Consolas" pitchFamily="34" charset="-120"/>
              </a:rPr>
              <a:t>function</a:t>
            </a:r>
            <a:r>
              <a:rPr lang="en-US" sz="1200" dirty="0">
                <a:solidFill>
                  <a:schemeClr val="tx1"/>
                </a:solidFill>
                <a:latin typeface="Consolas" pitchFamily="34" charset="0"/>
                <a:ea typeface="Consolas" pitchFamily="34" charset="-122"/>
                <a:cs typeface="Consolas" pitchFamily="34" charset="-120"/>
              </a:rPr>
              <a:t> square(x) {</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a:t>
            </a:r>
            <a:r>
              <a:rPr lang="en-US" sz="1200" dirty="0">
                <a:solidFill>
                  <a:schemeClr val="accent1"/>
                </a:solidFill>
                <a:latin typeface="Consolas" pitchFamily="34" charset="0"/>
                <a:ea typeface="Consolas" pitchFamily="34" charset="-122"/>
                <a:cs typeface="Consolas" pitchFamily="34" charset="-120"/>
              </a:rPr>
              <a:t>return</a:t>
            </a:r>
            <a:r>
              <a:rPr lang="en-US" sz="1200" dirty="0">
                <a:solidFill>
                  <a:schemeClr val="tx1"/>
                </a:solidFill>
                <a:latin typeface="Consolas" pitchFamily="34" charset="0"/>
                <a:ea typeface="Consolas" pitchFamily="34" charset="-122"/>
                <a:cs typeface="Consolas" pitchFamily="34" charset="-120"/>
              </a:rPr>
              <a:t> x * x;</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indent="0" marL="0">
              <a:buNone/>
            </a:pPr>
            <a:r>
              <a:rPr lang="en-US" sz="1200" i="1" dirty="0">
                <a:solidFill>
                  <a:schemeClr val="tx2"/>
                </a:solidFill>
                <a:latin typeface="Consolas" pitchFamily="34" charset="0"/>
                <a:ea typeface="Consolas" pitchFamily="34" charset="-122"/>
                <a:cs typeface="Consolas" pitchFamily="34" charset="-120"/>
              </a:rPr>
              <a:t>// App.js</a:t>
            </a:r>
            <a:endParaRPr lang="en-US" sz="1200" dirty="0"/>
          </a:p>
          <a:p>
            <a:pPr indent="0" marL="0">
              <a:buNone/>
            </a:pPr>
            <a:r>
              <a:rPr lang="en-US" sz="1200" dirty="0">
                <a:solidFill>
                  <a:schemeClr val="accent1"/>
                </a:solidFill>
                <a:latin typeface="Consolas" pitchFamily="34" charset="0"/>
                <a:ea typeface="Consolas" pitchFamily="34" charset="-122"/>
                <a:cs typeface="Consolas" pitchFamily="34" charset="-120"/>
              </a:rPr>
              <a:t>import</a:t>
            </a:r>
            <a:r>
              <a:rPr lang="en-US" sz="1200" dirty="0">
                <a:solidFill>
                  <a:schemeClr val="tx1"/>
                </a:solidFill>
                <a:latin typeface="Consolas" pitchFamily="34" charset="0"/>
                <a:ea typeface="Consolas" pitchFamily="34" charset="-122"/>
                <a:cs typeface="Consolas" pitchFamily="34" charset="-120"/>
              </a:rPr>
              <a:t> square, { PI } </a:t>
            </a:r>
            <a:r>
              <a:rPr lang="en-US" sz="1200" dirty="0">
                <a:solidFill>
                  <a:schemeClr val="accent1"/>
                </a:solidFill>
                <a:latin typeface="Consolas" pitchFamily="34" charset="0"/>
                <a:ea typeface="Consolas" pitchFamily="34" charset="-122"/>
                <a:cs typeface="Consolas" pitchFamily="34" charset="-120"/>
              </a:rPr>
              <a:t>from</a:t>
            </a:r>
            <a:r>
              <a:rPr lang="en-US" sz="1200" dirty="0">
                <a:solidFill>
                  <a:schemeClr val="tx1"/>
                </a:solidFill>
                <a:latin typeface="Consolas" pitchFamily="34" charset="0"/>
                <a:ea typeface="Consolas" pitchFamily="34" charset="-122"/>
                <a:cs typeface="Consolas" pitchFamily="34" charset="-120"/>
              </a:rPr>
              <a:t> </a:t>
            </a:r>
            <a:r>
              <a:rPr lang="en-US" sz="1200" dirty="0">
                <a:solidFill>
                  <a:schemeClr val="accent3"/>
                </a:solidFill>
                <a:latin typeface="Consolas" pitchFamily="34" charset="0"/>
                <a:ea typeface="Consolas" pitchFamily="34" charset="-122"/>
                <a:cs typeface="Consolas" pitchFamily="34" charset="-120"/>
              </a:rPr>
              <a:t>"./math"</a:t>
            </a:r>
            <a:r>
              <a:rPr lang="en-US" sz="1200" dirty="0">
                <a:solidFill>
                  <a:schemeClr val="tx1"/>
                </a:solidFill>
                <a:latin typeface="Consolas" pitchFamily="34" charset="0"/>
                <a:ea typeface="Consolas" pitchFamily="34" charset="-122"/>
                <a:cs typeface="Consolas" pitchFamily="34" charset="-120"/>
              </a:rPr>
              <a:t>;</a:t>
            </a:r>
            <a:endParaRPr lang="en-US" sz="1200" dirty="0"/>
          </a:p>
        </p:txBody>
      </p:sp>
      <p:sp>
        <p:nvSpPr>
          <p:cNvPr id="14" name="Card"/>
          <p:cNvSpPr/>
          <p:nvPr/>
        </p:nvSpPr>
        <p:spPr>
          <a:xfrm>
            <a:off x="6208776" y="1645920"/>
            <a:ext cx="5431536" cy="2971800"/>
          </a:xfrm>
          <a:prstGeom prst="roundRect">
            <a:avLst>
              <a:gd name="adj" fmla="val 3692"/>
            </a:avLst>
          </a:prstGeom>
          <a:solidFill>
            <a:schemeClr val="bg2"/>
          </a:solidFill>
          <a:ln/>
        </p:spPr>
      </p:sp>
      <p:sp>
        <p:nvSpPr>
          <p:cNvPr id="15" name="Text 13"/>
          <p:cNvSpPr txBox="1"/>
          <p:nvPr/>
        </p:nvSpPr>
        <p:spPr>
          <a:xfrm>
            <a:off x="6391656" y="1755648"/>
            <a:ext cx="5065776" cy="329184"/>
          </a:xfrm>
          <a:prstGeom prst="rect">
            <a:avLst/>
          </a:prstGeom>
          <a:noFill/>
          <a:ln/>
        </p:spPr>
        <p:txBody>
          <a:bodyPr wrap="square" lIns="0" tIns="0" rIns="0" bIns="0" rtlCol="0" anchor="ctr"/>
          <a:lstStyle/>
          <a:p>
            <a:pPr indent="0" marL="0">
              <a:buNone/>
            </a:pPr>
            <a:r>
              <a:rPr lang="en-US" sz="1500" b="1" dirty="0">
                <a:solidFill>
                  <a:schemeClr val="tx1"/>
                </a:solidFill>
              </a:rPr>
              <a:t>Promises, async/await, and APIs</a:t>
            </a:r>
            <a:endParaRPr lang="en-US" sz="1500" dirty="0"/>
          </a:p>
        </p:txBody>
      </p:sp>
      <p:sp>
        <p:nvSpPr>
          <p:cNvPr id="16" name="Code panel"/>
          <p:cNvSpPr/>
          <p:nvPr/>
        </p:nvSpPr>
        <p:spPr>
          <a:xfrm>
            <a:off x="6345936" y="2148840"/>
            <a:ext cx="5157216" cy="2057400"/>
          </a:xfrm>
          <a:prstGeom prst="roundRect">
            <a:avLst>
              <a:gd name="adj" fmla="val 4444"/>
            </a:avLst>
          </a:prstGeom>
          <a:solidFill>
            <a:schemeClr val="bg1"/>
          </a:solidFill>
          <a:ln w="12700">
            <a:solidFill>
              <a:schemeClr val="accent6"/>
            </a:solidFill>
            <a:prstDash val="solid"/>
          </a:ln>
        </p:spPr>
      </p:sp>
      <p:sp>
        <p:nvSpPr>
          <p:cNvPr id="17" name="Code panel code"/>
          <p:cNvSpPr txBox="1"/>
          <p:nvPr/>
        </p:nvSpPr>
        <p:spPr>
          <a:xfrm>
            <a:off x="6483096" y="2258568"/>
            <a:ext cx="4882896" cy="1874520"/>
          </a:xfrm>
          <a:prstGeom prst="rect">
            <a:avLst/>
          </a:prstGeom>
          <a:noFill/>
          <a:ln/>
        </p:spPr>
        <p:txBody>
          <a:bodyPr wrap="square" lIns="0" tIns="635" rIns="635" bIns="0" rtlCol="0" anchor="t"/>
          <a:lstStyle/>
          <a:p>
            <a:pPr indent="0" marL="0">
              <a:buNone/>
            </a:pPr>
            <a:r>
              <a:rPr lang="en-US" sz="1200" i="1" dirty="0">
                <a:solidFill>
                  <a:schemeClr val="tx2"/>
                </a:solidFill>
                <a:latin typeface="Consolas" pitchFamily="34" charset="0"/>
                <a:ea typeface="Consolas" pitchFamily="34" charset="-122"/>
                <a:cs typeface="Consolas" pitchFamily="34" charset="-120"/>
              </a:rPr>
              <a:t>// fetch() returns a Promise; await waits for it</a:t>
            </a:r>
            <a:endParaRPr lang="en-US" sz="1200" dirty="0"/>
          </a:p>
          <a:p>
            <a:pPr indent="0" marL="0">
              <a:buNone/>
            </a:pPr>
            <a:r>
              <a:rPr lang="en-US" sz="1200" dirty="0">
                <a:solidFill>
                  <a:schemeClr val="accent1"/>
                </a:solidFill>
                <a:latin typeface="Consolas" pitchFamily="34" charset="0"/>
                <a:ea typeface="Consolas" pitchFamily="34" charset="-122"/>
                <a:cs typeface="Consolas" pitchFamily="34" charset="-120"/>
              </a:rPr>
              <a:t>async</a:t>
            </a:r>
            <a:r>
              <a:rPr lang="en-US" sz="1200" dirty="0">
                <a:solidFill>
                  <a:schemeClr val="tx1"/>
                </a:solidFill>
                <a:latin typeface="Consolas" pitchFamily="34" charset="0"/>
                <a:ea typeface="Consolas" pitchFamily="34" charset="-122"/>
                <a:cs typeface="Consolas" pitchFamily="34" charset="-120"/>
              </a:rPr>
              <a:t> </a:t>
            </a:r>
            <a:r>
              <a:rPr lang="en-US" sz="1200" dirty="0">
                <a:solidFill>
                  <a:schemeClr val="accent1"/>
                </a:solidFill>
                <a:latin typeface="Consolas" pitchFamily="34" charset="0"/>
                <a:ea typeface="Consolas" pitchFamily="34" charset="-122"/>
                <a:cs typeface="Consolas" pitchFamily="34" charset="-120"/>
              </a:rPr>
              <a:t>function</a:t>
            </a:r>
            <a:r>
              <a:rPr lang="en-US" sz="1200" dirty="0">
                <a:solidFill>
                  <a:schemeClr val="tx1"/>
                </a:solidFill>
                <a:latin typeface="Consolas" pitchFamily="34" charset="0"/>
                <a:ea typeface="Consolas" pitchFamily="34" charset="-122"/>
                <a:cs typeface="Consolas" pitchFamily="34" charset="-120"/>
              </a:rPr>
              <a:t> getUsers() {</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a:t>
            </a:r>
            <a:r>
              <a:rPr lang="en-US" sz="1200" dirty="0">
                <a:solidFill>
                  <a:schemeClr val="accent1"/>
                </a:solidFill>
                <a:latin typeface="Consolas" pitchFamily="34" charset="0"/>
                <a:ea typeface="Consolas" pitchFamily="34" charset="-122"/>
                <a:cs typeface="Consolas" pitchFamily="34" charset="-120"/>
              </a:rPr>
              <a:t>try</a:t>
            </a:r>
            <a:r>
              <a:rPr lang="en-US" sz="1200" dirty="0">
                <a:solidFill>
                  <a:schemeClr val="tx1"/>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a:t>
            </a:r>
            <a:r>
              <a:rPr lang="en-US" sz="1200" dirty="0">
                <a:solidFill>
                  <a:schemeClr val="accent1"/>
                </a:solidFill>
                <a:latin typeface="Consolas" pitchFamily="34" charset="0"/>
                <a:ea typeface="Consolas" pitchFamily="34" charset="-122"/>
                <a:cs typeface="Consolas" pitchFamily="34" charset="-120"/>
              </a:rPr>
              <a:t>const</a:t>
            </a:r>
            <a:r>
              <a:rPr lang="en-US" sz="1200" dirty="0">
                <a:solidFill>
                  <a:schemeClr val="tx1"/>
                </a:solidFill>
                <a:latin typeface="Consolas" pitchFamily="34" charset="0"/>
                <a:ea typeface="Consolas" pitchFamily="34" charset="-122"/>
                <a:cs typeface="Consolas" pitchFamily="34" charset="-120"/>
              </a:rPr>
              <a:t> res = </a:t>
            </a:r>
            <a:r>
              <a:rPr lang="en-US" sz="1200" dirty="0">
                <a:solidFill>
                  <a:schemeClr val="accent1"/>
                </a:solidFill>
                <a:latin typeface="Consolas" pitchFamily="34" charset="0"/>
                <a:ea typeface="Consolas" pitchFamily="34" charset="-122"/>
                <a:cs typeface="Consolas" pitchFamily="34" charset="-120"/>
              </a:rPr>
              <a:t>await</a:t>
            </a:r>
            <a:r>
              <a:rPr lang="en-US" sz="1200" dirty="0">
                <a:solidFill>
                  <a:schemeClr val="tx1"/>
                </a:solidFill>
                <a:latin typeface="Consolas" pitchFamily="34" charset="0"/>
                <a:ea typeface="Consolas" pitchFamily="34" charset="-122"/>
                <a:cs typeface="Consolas" pitchFamily="34" charset="-120"/>
              </a:rPr>
              <a:t> fetch(API_URL);</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a:t>
            </a:r>
            <a:r>
              <a:rPr lang="en-US" sz="1200" dirty="0">
                <a:solidFill>
                  <a:schemeClr val="accent1"/>
                </a:solidFill>
                <a:latin typeface="Consolas" pitchFamily="34" charset="0"/>
                <a:ea typeface="Consolas" pitchFamily="34" charset="-122"/>
                <a:cs typeface="Consolas" pitchFamily="34" charset="-120"/>
              </a:rPr>
              <a:t>const</a:t>
            </a:r>
            <a:r>
              <a:rPr lang="en-US" sz="1200" dirty="0">
                <a:solidFill>
                  <a:schemeClr val="tx1"/>
                </a:solidFill>
                <a:latin typeface="Consolas" pitchFamily="34" charset="0"/>
                <a:ea typeface="Consolas" pitchFamily="34" charset="-122"/>
                <a:cs typeface="Consolas" pitchFamily="34" charset="-120"/>
              </a:rPr>
              <a:t> users = </a:t>
            </a:r>
            <a:r>
              <a:rPr lang="en-US" sz="1200" dirty="0">
                <a:solidFill>
                  <a:schemeClr val="accent1"/>
                </a:solidFill>
                <a:latin typeface="Consolas" pitchFamily="34" charset="0"/>
                <a:ea typeface="Consolas" pitchFamily="34" charset="-122"/>
                <a:cs typeface="Consolas" pitchFamily="34" charset="-120"/>
              </a:rPr>
              <a:t>await</a:t>
            </a:r>
            <a:r>
              <a:rPr lang="en-US" sz="1200" dirty="0">
                <a:solidFill>
                  <a:schemeClr val="tx1"/>
                </a:solidFill>
                <a:latin typeface="Consolas" pitchFamily="34" charset="0"/>
                <a:ea typeface="Consolas" pitchFamily="34" charset="-122"/>
                <a:cs typeface="Consolas" pitchFamily="34" charset="-120"/>
              </a:rPr>
              <a:t> res.json();</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console.log(users);</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 </a:t>
            </a:r>
            <a:r>
              <a:rPr lang="en-US" sz="1200" dirty="0">
                <a:solidFill>
                  <a:schemeClr val="accent1"/>
                </a:solidFill>
                <a:latin typeface="Consolas" pitchFamily="34" charset="0"/>
                <a:ea typeface="Consolas" pitchFamily="34" charset="-122"/>
                <a:cs typeface="Consolas" pitchFamily="34" charset="-120"/>
              </a:rPr>
              <a:t>catch</a:t>
            </a:r>
            <a:r>
              <a:rPr lang="en-US" sz="1200" dirty="0">
                <a:solidFill>
                  <a:schemeClr val="tx1"/>
                </a:solidFill>
                <a:latin typeface="Consolas" pitchFamily="34" charset="0"/>
                <a:ea typeface="Consolas" pitchFamily="34" charset="-122"/>
                <a:cs typeface="Consolas" pitchFamily="34" charset="-120"/>
              </a:rPr>
              <a:t> (error) {</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console.log(</a:t>
            </a:r>
            <a:r>
              <a:rPr lang="en-US" sz="1200" dirty="0">
                <a:solidFill>
                  <a:schemeClr val="accent3"/>
                </a:solidFill>
                <a:latin typeface="Consolas" pitchFamily="34" charset="0"/>
                <a:ea typeface="Consolas" pitchFamily="34" charset="-122"/>
                <a:cs typeface="Consolas" pitchFamily="34" charset="-120"/>
              </a:rPr>
              <a:t>"Error:"</a:t>
            </a:r>
            <a:r>
              <a:rPr lang="en-US" sz="1200" dirty="0">
                <a:solidFill>
                  <a:schemeClr val="tx1"/>
                </a:solidFill>
                <a:latin typeface="Consolas" pitchFamily="34" charset="0"/>
                <a:ea typeface="Consolas" pitchFamily="34" charset="-122"/>
                <a:cs typeface="Consolas" pitchFamily="34" charset="-120"/>
              </a:rPr>
              <a:t>, error);</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a:t>
            </a:r>
            <a:endParaRPr lang="en-US" sz="1200" dirty="0"/>
          </a:p>
        </p:txBody>
      </p:sp>
      <p:sp>
        <p:nvSpPr>
          <p:cNvPr id="18" name="Text 16"/>
          <p:cNvSpPr txBox="1"/>
          <p:nvPr/>
        </p:nvSpPr>
        <p:spPr>
          <a:xfrm>
            <a:off x="6391656" y="4251960"/>
            <a:ext cx="5065776" cy="292608"/>
          </a:xfrm>
          <a:prstGeom prst="rect">
            <a:avLst/>
          </a:prstGeom>
          <a:noFill/>
          <a:ln/>
        </p:spPr>
        <p:txBody>
          <a:bodyPr wrap="square" lIns="0" tIns="0" rIns="0" bIns="0" rtlCol="0" anchor="t"/>
          <a:lstStyle/>
          <a:p>
            <a:pPr indent="0" marL="0">
              <a:buNone/>
            </a:pPr>
            <a:r>
              <a:rPr lang="en-US" sz="1300" dirty="0">
                <a:solidFill>
                  <a:schemeClr val="tx1"/>
                </a:solidFill>
              </a:rPr>
              <a:t>API: a web address that sends data (usually JSON) to your app.</a:t>
            </a:r>
            <a:endParaRPr lang="en-US" sz="1300" dirty="0"/>
          </a:p>
        </p:txBody>
      </p:sp>
      <p:sp>
        <p:nvSpPr>
          <p:cNvPr id="19" name="Card"/>
          <p:cNvSpPr/>
          <p:nvPr/>
        </p:nvSpPr>
        <p:spPr>
          <a:xfrm>
            <a:off x="6208776" y="4800600"/>
            <a:ext cx="5431536" cy="1371600"/>
          </a:xfrm>
          <a:prstGeom prst="roundRect">
            <a:avLst>
              <a:gd name="adj" fmla="val 8000"/>
            </a:avLst>
          </a:prstGeom>
          <a:solidFill>
            <a:schemeClr val="bg2"/>
          </a:solidFill>
          <a:ln/>
        </p:spPr>
      </p:sp>
      <p:sp>
        <p:nvSpPr>
          <p:cNvPr id="20" name="Text 18"/>
          <p:cNvSpPr txBox="1"/>
          <p:nvPr/>
        </p:nvSpPr>
        <p:spPr>
          <a:xfrm>
            <a:off x="6391656" y="4910328"/>
            <a:ext cx="5065776" cy="329184"/>
          </a:xfrm>
          <a:prstGeom prst="rect">
            <a:avLst/>
          </a:prstGeom>
          <a:noFill/>
          <a:ln/>
        </p:spPr>
        <p:txBody>
          <a:bodyPr wrap="square" lIns="0" tIns="0" rIns="0" bIns="0" rtlCol="0" anchor="ctr"/>
          <a:lstStyle/>
          <a:p>
            <a:pPr indent="0" marL="0">
              <a:buNone/>
            </a:pPr>
            <a:r>
              <a:rPr lang="en-US" sz="1500" b="1" dirty="0">
                <a:solidFill>
                  <a:schemeClr val="tx1"/>
                </a:solidFill>
              </a:rPr>
              <a:t>Basic ES6+ syntax</a:t>
            </a:r>
            <a:endParaRPr lang="en-US" sz="1500" dirty="0"/>
          </a:p>
        </p:txBody>
      </p:sp>
      <p:sp>
        <p:nvSpPr>
          <p:cNvPr id="21" name="Code panel"/>
          <p:cNvSpPr/>
          <p:nvPr/>
        </p:nvSpPr>
        <p:spPr>
          <a:xfrm>
            <a:off x="6345936" y="5303520"/>
            <a:ext cx="5157216" cy="749808"/>
          </a:xfrm>
          <a:prstGeom prst="roundRect">
            <a:avLst>
              <a:gd name="adj" fmla="val 12195"/>
            </a:avLst>
          </a:prstGeom>
          <a:solidFill>
            <a:schemeClr val="bg1"/>
          </a:solidFill>
          <a:ln w="12700">
            <a:solidFill>
              <a:schemeClr val="accent6"/>
            </a:solidFill>
            <a:prstDash val="solid"/>
          </a:ln>
        </p:spPr>
      </p:sp>
      <p:sp>
        <p:nvSpPr>
          <p:cNvPr id="22" name="Code panel code"/>
          <p:cNvSpPr txBox="1"/>
          <p:nvPr/>
        </p:nvSpPr>
        <p:spPr>
          <a:xfrm>
            <a:off x="6483096" y="5413248"/>
            <a:ext cx="4882896" cy="566928"/>
          </a:xfrm>
          <a:prstGeom prst="rect">
            <a:avLst/>
          </a:prstGeom>
          <a:noFill/>
          <a:ln/>
        </p:spPr>
        <p:txBody>
          <a:bodyPr wrap="square" lIns="0" tIns="635" rIns="635" bIns="0" rtlCol="0" anchor="t"/>
          <a:lstStyle/>
          <a:p>
            <a:pPr indent="0" marL="0">
              <a:buNone/>
            </a:pPr>
            <a:r>
              <a:rPr lang="en-US" sz="1200" dirty="0">
                <a:solidFill>
                  <a:schemeClr val="accent1"/>
                </a:solidFill>
                <a:latin typeface="Consolas" pitchFamily="34" charset="0"/>
                <a:ea typeface="Consolas" pitchFamily="34" charset="-122"/>
                <a:cs typeface="Consolas" pitchFamily="34" charset="-120"/>
              </a:rPr>
              <a:t>const</a:t>
            </a:r>
            <a:r>
              <a:rPr lang="en-US" sz="1200" dirty="0">
                <a:solidFill>
                  <a:schemeClr val="tx1"/>
                </a:solidFill>
                <a:latin typeface="Consolas" pitchFamily="34" charset="0"/>
                <a:ea typeface="Consolas" pitchFamily="34" charset="-122"/>
                <a:cs typeface="Consolas" pitchFamily="34" charset="-120"/>
              </a:rPr>
              <a:t> msg = </a:t>
            </a:r>
            <a:r>
              <a:rPr lang="en-US" sz="1200" dirty="0">
                <a:solidFill>
                  <a:schemeClr val="accent3"/>
                </a:solidFill>
                <a:latin typeface="Consolas" pitchFamily="34" charset="0"/>
                <a:ea typeface="Consolas" pitchFamily="34" charset="-122"/>
                <a:cs typeface="Consolas" pitchFamily="34" charset="-120"/>
              </a:rPr>
              <a:t>`Hello, ${name}!`</a:t>
            </a:r>
            <a:r>
              <a:rPr lang="en-US" sz="1200" dirty="0">
                <a:solidFill>
                  <a:schemeClr val="tx1"/>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chemeClr val="accent1"/>
                </a:solidFill>
                <a:latin typeface="Consolas" pitchFamily="34" charset="0"/>
                <a:ea typeface="Consolas" pitchFamily="34" charset="-122"/>
                <a:cs typeface="Consolas" pitchFamily="34" charset="-120"/>
              </a:rPr>
              <a:t>const</a:t>
            </a:r>
            <a:r>
              <a:rPr lang="en-US" sz="1200" dirty="0">
                <a:solidFill>
                  <a:schemeClr val="tx1"/>
                </a:solidFill>
                <a:latin typeface="Consolas" pitchFamily="34" charset="0"/>
                <a:ea typeface="Consolas" pitchFamily="34" charset="-122"/>
                <a:cs typeface="Consolas" pitchFamily="34" charset="-120"/>
              </a:rPr>
              <a:t> greet = (n = </a:t>
            </a:r>
            <a:r>
              <a:rPr lang="en-US" sz="1200" dirty="0">
                <a:solidFill>
                  <a:schemeClr val="accent3"/>
                </a:solidFill>
                <a:latin typeface="Consolas" pitchFamily="34" charset="0"/>
                <a:ea typeface="Consolas" pitchFamily="34" charset="-122"/>
                <a:cs typeface="Consolas" pitchFamily="34" charset="-120"/>
              </a:rPr>
              <a:t>"Guest"</a:t>
            </a:r>
            <a:r>
              <a:rPr lang="en-US" sz="1200" dirty="0">
                <a:solidFill>
                  <a:schemeClr val="tx1"/>
                </a:solidFill>
                <a:latin typeface="Consolas" pitchFamily="34" charset="0"/>
                <a:ea typeface="Consolas" pitchFamily="34" charset="-122"/>
                <a:cs typeface="Consolas" pitchFamily="34" charset="-120"/>
              </a:rPr>
              <a:t>) =&gt; </a:t>
            </a:r>
            <a:r>
              <a:rPr lang="en-US" sz="1200" dirty="0">
                <a:solidFill>
                  <a:schemeClr val="accent3"/>
                </a:solidFill>
                <a:latin typeface="Consolas" pitchFamily="34" charset="0"/>
                <a:ea typeface="Consolas" pitchFamily="34" charset="-122"/>
                <a:cs typeface="Consolas" pitchFamily="34" charset="-120"/>
              </a:rPr>
              <a:t>`Hi ${n}`</a:t>
            </a:r>
            <a:r>
              <a:rPr lang="en-US" sz="1200" dirty="0">
                <a:solidFill>
                  <a:schemeClr val="tx1"/>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chemeClr val="accent1"/>
                </a:solidFill>
                <a:latin typeface="Consolas" pitchFamily="34" charset="0"/>
                <a:ea typeface="Consolas" pitchFamily="34" charset="-122"/>
                <a:cs typeface="Consolas" pitchFamily="34" charset="-120"/>
              </a:rPr>
              <a:t>const</a:t>
            </a:r>
            <a:r>
              <a:rPr lang="en-US" sz="1200" dirty="0">
                <a:solidFill>
                  <a:schemeClr val="tx1"/>
                </a:solidFill>
                <a:latin typeface="Consolas" pitchFamily="34" charset="0"/>
                <a:ea typeface="Consolas" pitchFamily="34" charset="-122"/>
                <a:cs typeface="Consolas" pitchFamily="34" charset="-120"/>
              </a:rPr>
              <a:t> label = age &gt;= </a:t>
            </a:r>
            <a:r>
              <a:rPr lang="en-US" sz="1200" dirty="0">
                <a:solidFill>
                  <a:schemeClr val="accent2"/>
                </a:solidFill>
                <a:latin typeface="Consolas" pitchFamily="34" charset="0"/>
                <a:ea typeface="Consolas" pitchFamily="34" charset="-122"/>
                <a:cs typeface="Consolas" pitchFamily="34" charset="-120"/>
              </a:rPr>
              <a:t>18</a:t>
            </a:r>
            <a:r>
              <a:rPr lang="en-US" sz="1200" dirty="0">
                <a:solidFill>
                  <a:schemeClr val="tx1"/>
                </a:solidFill>
                <a:latin typeface="Consolas" pitchFamily="34" charset="0"/>
                <a:ea typeface="Consolas" pitchFamily="34" charset="-122"/>
                <a:cs typeface="Consolas" pitchFamily="34" charset="-120"/>
              </a:rPr>
              <a:t> ? </a:t>
            </a:r>
            <a:r>
              <a:rPr lang="en-US" sz="1200" dirty="0">
                <a:solidFill>
                  <a:schemeClr val="accent3"/>
                </a:solidFill>
                <a:latin typeface="Consolas" pitchFamily="34" charset="0"/>
                <a:ea typeface="Consolas" pitchFamily="34" charset="-122"/>
                <a:cs typeface="Consolas" pitchFamily="34" charset="-120"/>
              </a:rPr>
              <a:t>"Adult"</a:t>
            </a:r>
            <a:r>
              <a:rPr lang="en-US" sz="1200" dirty="0">
                <a:solidFill>
                  <a:schemeClr val="tx1"/>
                </a:solidFill>
                <a:latin typeface="Consolas" pitchFamily="34" charset="0"/>
                <a:ea typeface="Consolas" pitchFamily="34" charset="-122"/>
                <a:cs typeface="Consolas" pitchFamily="34" charset="-120"/>
              </a:rPr>
              <a:t> : </a:t>
            </a:r>
            <a:r>
              <a:rPr lang="en-US" sz="1200" dirty="0">
                <a:solidFill>
                  <a:schemeClr val="accent3"/>
                </a:solidFill>
                <a:latin typeface="Consolas" pitchFamily="34" charset="0"/>
                <a:ea typeface="Consolas" pitchFamily="34" charset="-122"/>
                <a:cs typeface="Consolas" pitchFamily="34" charset="-120"/>
              </a:rPr>
              <a:t>"Teen"</a:t>
            </a:r>
            <a:r>
              <a:rPr lang="en-US" sz="1200" dirty="0">
                <a:solidFill>
                  <a:schemeClr val="tx1"/>
                </a:solidFill>
                <a:latin typeface="Consolas" pitchFamily="34" charset="0"/>
                <a:ea typeface="Consolas" pitchFamily="34" charset="-122"/>
                <a:cs typeface="Consolas" pitchFamily="34" charset="-120"/>
              </a:rPr>
              <a:t>;</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ection tag"/>
          <p:cNvSpPr/>
          <p:nvPr/>
        </p:nvSpPr>
        <p:spPr>
          <a:xfrm>
            <a:off x="548640" y="365760"/>
            <a:ext cx="1426464" cy="310896"/>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spc="150" kern="0" dirty="0">
                <a:solidFill>
                  <a:schemeClr val="bg1"/>
                </a:solidFill>
              </a:rPr>
              <a:t>INSTALLATION</a:t>
            </a:r>
            <a:endParaRPr lang="en-US" sz="1100" dirty="0"/>
          </a:p>
        </p:txBody>
      </p:sp>
      <p:sp>
        <p:nvSpPr>
          <p:cNvPr id="3" name="Tag context"/>
          <p:cNvSpPr txBox="1"/>
          <p:nvPr/>
        </p:nvSpPr>
        <p:spPr>
          <a:xfrm>
            <a:off x="2157984" y="365760"/>
            <a:ext cx="9482328" cy="310896"/>
          </a:xfrm>
          <a:prstGeom prst="rect">
            <a:avLst/>
          </a:prstGeom>
          <a:noFill/>
          <a:ln/>
        </p:spPr>
        <p:txBody>
          <a:bodyPr wrap="square" lIns="0" tIns="0" rIns="0" bIns="0" rtlCol="0" anchor="ctr"/>
          <a:lstStyle/>
          <a:p>
            <a:pPr indent="0" marL="0">
              <a:buNone/>
            </a:pPr>
            <a:r>
              <a:rPr lang="en-US" sz="1300" dirty="0">
                <a:solidFill>
                  <a:schemeClr val="tx2"/>
                </a:solidFill>
              </a:rPr>
              <a:t>Copy this list. Tick each item when it is installed and working.</a:t>
            </a:r>
            <a:endParaRPr lang="en-US" sz="1300" dirty="0"/>
          </a:p>
        </p:txBody>
      </p:sp>
      <p:sp>
        <p:nvSpPr>
          <p:cNvPr id="4" name="Text 0"/>
          <p:cNvSpPr/>
          <p:nvPr>
            <p:ph idx="100" type="title" hasCustomPrompt="1"/>
          </p:nvPr>
        </p:nvSpPr>
        <p:spPr>
          <a:xfrm>
            <a:off x="548640" y="749808"/>
            <a:ext cx="11091672" cy="713232"/>
          </a:xfrm>
          <a:prstGeom prst="rect">
            <a:avLst/>
          </a:prstGeom>
          <a:noFill/>
          <a:ln/>
        </p:spPr>
        <p:txBody>
          <a:bodyPr wrap="square" lIns="0" tIns="0" rIns="0" bIns="0" rtlCol="0" anchor="ctr"/>
          <a:lstStyle/>
          <a:p>
            <a:pPr algn="l" indent="0" marL="0">
              <a:buNone/>
            </a:pPr>
            <a:r>
              <a:rPr lang="en-US" sz="3600" b="1" dirty="0">
                <a:solidFill>
                  <a:schemeClr val="tx1"/>
                </a:solidFill>
              </a:rPr>
              <a:t>Write These Requirements in Your Notebook</a:t>
            </a:r>
            <a:endParaRPr lang="en-US" sz="3600" dirty="0"/>
          </a:p>
        </p:txBody>
      </p:sp>
      <p:sp>
        <p:nvSpPr>
          <p:cNvPr id="5" name="Card"/>
          <p:cNvSpPr/>
          <p:nvPr/>
        </p:nvSpPr>
        <p:spPr>
          <a:xfrm>
            <a:off x="548640" y="1645920"/>
            <a:ext cx="6812280" cy="4206240"/>
          </a:xfrm>
          <a:prstGeom prst="roundRect">
            <a:avLst>
              <a:gd name="adj" fmla="val 2609"/>
            </a:avLst>
          </a:prstGeom>
          <a:solidFill>
            <a:schemeClr val="bg2"/>
          </a:solidFill>
          <a:ln/>
        </p:spPr>
      </p:sp>
      <p:sp>
        <p:nvSpPr>
          <p:cNvPr id="6" name="Required pill"/>
          <p:cNvSpPr/>
          <p:nvPr/>
        </p:nvSpPr>
        <p:spPr>
          <a:xfrm>
            <a:off x="777240" y="1810512"/>
            <a:ext cx="1234440" cy="310896"/>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spc="150" kern="0" dirty="0">
                <a:solidFill>
                  <a:schemeClr val="bg1"/>
                </a:solidFill>
              </a:rPr>
              <a:t>REQUIRED</a:t>
            </a:r>
            <a:endParaRPr lang="en-US" sz="1100" dirty="0"/>
          </a:p>
        </p:txBody>
      </p:sp>
      <p:sp>
        <p:nvSpPr>
          <p:cNvPr id="7" name="Text 5"/>
          <p:cNvSpPr txBox="1"/>
          <p:nvPr/>
        </p:nvSpPr>
        <p:spPr>
          <a:xfrm>
            <a:off x="2148840" y="1810512"/>
            <a:ext cx="5029200" cy="310896"/>
          </a:xfrm>
          <a:prstGeom prst="rect">
            <a:avLst/>
          </a:prstGeom>
          <a:noFill/>
          <a:ln/>
        </p:spPr>
        <p:txBody>
          <a:bodyPr wrap="square" lIns="0" tIns="0" rIns="0" bIns="0" rtlCol="0" anchor="ctr"/>
          <a:lstStyle/>
          <a:p>
            <a:pPr indent="0" marL="0">
              <a:buNone/>
            </a:pPr>
            <a:r>
              <a:rPr lang="en-US" sz="1300" dirty="0">
                <a:solidFill>
                  <a:schemeClr val="tx2"/>
                </a:solidFill>
              </a:rPr>
              <a:t>for the recommended beginner setup</a:t>
            </a:r>
            <a:endParaRPr lang="en-US" sz="1300" dirty="0"/>
          </a:p>
        </p:txBody>
      </p:sp>
      <p:sp>
        <p:nvSpPr>
          <p:cNvPr id="8" name="Checkbox"/>
          <p:cNvSpPr/>
          <p:nvPr/>
        </p:nvSpPr>
        <p:spPr>
          <a:xfrm>
            <a:off x="777240" y="2304288"/>
            <a:ext cx="237744" cy="237744"/>
          </a:xfrm>
          <a:prstGeom prst="roundRect">
            <a:avLst>
              <a:gd name="adj" fmla="val 15385"/>
            </a:avLst>
          </a:prstGeom>
          <a:solidFill>
            <a:schemeClr val="bg1"/>
          </a:solidFill>
          <a:ln w="19050">
            <a:solidFill>
              <a:schemeClr val="tx2"/>
            </a:solidFill>
            <a:prstDash val="solid"/>
          </a:ln>
        </p:spPr>
      </p:sp>
      <p:sp>
        <p:nvSpPr>
          <p:cNvPr id="9" name="Text 7"/>
          <p:cNvSpPr txBox="1"/>
          <p:nvPr/>
        </p:nvSpPr>
        <p:spPr>
          <a:xfrm>
            <a:off x="1188720" y="2267712"/>
            <a:ext cx="3291840" cy="310896"/>
          </a:xfrm>
          <a:prstGeom prst="rect">
            <a:avLst/>
          </a:prstGeom>
          <a:noFill/>
          <a:ln/>
        </p:spPr>
        <p:txBody>
          <a:bodyPr wrap="square" lIns="0" tIns="0" rIns="0" bIns="0" rtlCol="0" anchor="ctr"/>
          <a:lstStyle/>
          <a:p>
            <a:pPr indent="0" marL="0">
              <a:buNone/>
            </a:pPr>
            <a:r>
              <a:rPr lang="en-US" sz="1600" b="1" dirty="0">
                <a:solidFill>
                  <a:schemeClr val="tx1"/>
                </a:solidFill>
              </a:rPr>
              <a:t>Laptop (Windows, macOS, or Linux)</a:t>
            </a:r>
            <a:endParaRPr lang="en-US" sz="1600" dirty="0"/>
          </a:p>
        </p:txBody>
      </p:sp>
      <p:sp>
        <p:nvSpPr>
          <p:cNvPr id="10" name="Text 8"/>
          <p:cNvSpPr txBox="1"/>
          <p:nvPr/>
        </p:nvSpPr>
        <p:spPr>
          <a:xfrm>
            <a:off x="1188720" y="2596896"/>
            <a:ext cx="5989320" cy="292608"/>
          </a:xfrm>
          <a:prstGeom prst="rect">
            <a:avLst/>
          </a:prstGeom>
          <a:noFill/>
          <a:ln/>
        </p:spPr>
        <p:txBody>
          <a:bodyPr wrap="square" lIns="0" tIns="0" rIns="0" bIns="0" rtlCol="0" anchor="t"/>
          <a:lstStyle/>
          <a:p>
            <a:pPr indent="0" marL="0">
              <a:buNone/>
            </a:pPr>
            <a:r>
              <a:rPr lang="en-US" sz="1300" dirty="0">
                <a:solidFill>
                  <a:schemeClr val="tx1"/>
                </a:solidFill>
              </a:rPr>
              <a:t>Where you write, run, and test your code.</a:t>
            </a:r>
            <a:endParaRPr lang="en-US" sz="1300" dirty="0"/>
          </a:p>
        </p:txBody>
      </p:sp>
      <p:sp>
        <p:nvSpPr>
          <p:cNvPr id="11" name="Checkbox"/>
          <p:cNvSpPr/>
          <p:nvPr/>
        </p:nvSpPr>
        <p:spPr>
          <a:xfrm>
            <a:off x="777240" y="2944368"/>
            <a:ext cx="237744" cy="237744"/>
          </a:xfrm>
          <a:prstGeom prst="roundRect">
            <a:avLst>
              <a:gd name="adj" fmla="val 15385"/>
            </a:avLst>
          </a:prstGeom>
          <a:solidFill>
            <a:schemeClr val="bg1"/>
          </a:solidFill>
          <a:ln w="19050">
            <a:solidFill>
              <a:schemeClr val="tx2"/>
            </a:solidFill>
            <a:prstDash val="solid"/>
          </a:ln>
        </p:spPr>
      </p:sp>
      <p:sp>
        <p:nvSpPr>
          <p:cNvPr id="12" name="Text 10"/>
          <p:cNvSpPr txBox="1"/>
          <p:nvPr/>
        </p:nvSpPr>
        <p:spPr>
          <a:xfrm>
            <a:off x="1188720" y="2907792"/>
            <a:ext cx="3291840" cy="310896"/>
          </a:xfrm>
          <a:prstGeom prst="rect">
            <a:avLst/>
          </a:prstGeom>
          <a:noFill/>
          <a:ln/>
        </p:spPr>
        <p:txBody>
          <a:bodyPr wrap="square" lIns="0" tIns="0" rIns="0" bIns="0" rtlCol="0" anchor="ctr"/>
          <a:lstStyle/>
          <a:p>
            <a:pPr indent="0" marL="0">
              <a:buNone/>
            </a:pPr>
            <a:r>
              <a:rPr lang="en-US" sz="1600" b="1" dirty="0">
                <a:solidFill>
                  <a:schemeClr val="tx1"/>
                </a:solidFill>
              </a:rPr>
              <a:t>Node.js LTS + npm</a:t>
            </a:r>
            <a:endParaRPr lang="en-US" sz="1600" dirty="0"/>
          </a:p>
        </p:txBody>
      </p:sp>
      <p:sp>
        <p:nvSpPr>
          <p:cNvPr id="13" name="Text 11"/>
          <p:cNvSpPr txBox="1"/>
          <p:nvPr/>
        </p:nvSpPr>
        <p:spPr>
          <a:xfrm>
            <a:off x="4206240" y="2907792"/>
            <a:ext cx="2971800" cy="310896"/>
          </a:xfrm>
          <a:prstGeom prst="rect">
            <a:avLst/>
          </a:prstGeom>
          <a:noFill/>
          <a:ln/>
        </p:spPr>
        <p:txBody>
          <a:bodyPr wrap="square" lIns="0" tIns="0" rIns="0" bIns="0" rtlCol="0" anchor="ctr"/>
          <a:lstStyle/>
          <a:p>
            <a:pPr algn="r" indent="0" marL="0">
              <a:buNone/>
            </a:pPr>
            <a:r>
              <a:rPr lang="en-US" sz="1200" u="sng" dirty="0">
                <a:solidFill>
                  <a:srgbClr val="000000"/>
                </a:solidFill>
                <a:hlinkClick r:id="rId1" invalidUrl="" action="" tgtFrame="" tooltip="" history="1" highlightClick="0" endSnd="0">
                  <a:extLst>
                    <a:ext uri="{A12FA001-AC4F-418D-AE19-62706E023703}">
                      <ahyp:hlinkClr xmlns:ahyp="http://schemas.microsoft.com/office/drawing/2018/hyperlinkcolor" val="tx"/>
                    </a:ext>
                  </a:extLst>
                </a:hlinkClick>
              </a:rPr>
              <a:t>nodejs.org/en/download</a:t>
            </a:r>
            <a:endParaRPr lang="en-US" sz="1200" dirty="0"/>
          </a:p>
        </p:txBody>
      </p:sp>
      <p:sp>
        <p:nvSpPr>
          <p:cNvPr id="14" name="Text 12"/>
          <p:cNvSpPr txBox="1"/>
          <p:nvPr/>
        </p:nvSpPr>
        <p:spPr>
          <a:xfrm>
            <a:off x="1188720" y="3236976"/>
            <a:ext cx="5989320" cy="329184"/>
          </a:xfrm>
          <a:prstGeom prst="rect">
            <a:avLst/>
          </a:prstGeom>
          <a:noFill/>
          <a:ln/>
        </p:spPr>
        <p:txBody>
          <a:bodyPr wrap="square" lIns="0" tIns="0" rIns="0" bIns="0" rtlCol="0" anchor="t"/>
          <a:lstStyle/>
          <a:p>
            <a:pPr indent="0" marL="0">
              <a:buNone/>
            </a:pPr>
            <a:r>
              <a:rPr lang="en-US" sz="1300" dirty="0">
                <a:solidFill>
                  <a:schemeClr val="tx1"/>
                </a:solidFill>
              </a:rPr>
              <a:t>Node.js runs JavaScript tools on your laptop. npm comes with it and installs packages.</a:t>
            </a:r>
            <a:endParaRPr lang="en-US" sz="1300" dirty="0"/>
          </a:p>
        </p:txBody>
      </p:sp>
      <p:sp>
        <p:nvSpPr>
          <p:cNvPr id="15" name="Checkbox"/>
          <p:cNvSpPr/>
          <p:nvPr/>
        </p:nvSpPr>
        <p:spPr>
          <a:xfrm>
            <a:off x="777240" y="3621024"/>
            <a:ext cx="237744" cy="237744"/>
          </a:xfrm>
          <a:prstGeom prst="roundRect">
            <a:avLst>
              <a:gd name="adj" fmla="val 15385"/>
            </a:avLst>
          </a:prstGeom>
          <a:solidFill>
            <a:schemeClr val="bg1"/>
          </a:solidFill>
          <a:ln w="19050">
            <a:solidFill>
              <a:schemeClr val="tx2"/>
            </a:solidFill>
            <a:prstDash val="solid"/>
          </a:ln>
        </p:spPr>
      </p:sp>
      <p:sp>
        <p:nvSpPr>
          <p:cNvPr id="16" name="Text 14"/>
          <p:cNvSpPr txBox="1"/>
          <p:nvPr/>
        </p:nvSpPr>
        <p:spPr>
          <a:xfrm>
            <a:off x="1188720" y="3584448"/>
            <a:ext cx="3291840" cy="310896"/>
          </a:xfrm>
          <a:prstGeom prst="rect">
            <a:avLst/>
          </a:prstGeom>
          <a:noFill/>
          <a:ln/>
        </p:spPr>
        <p:txBody>
          <a:bodyPr wrap="square" lIns="0" tIns="0" rIns="0" bIns="0" rtlCol="0" anchor="ctr"/>
          <a:lstStyle/>
          <a:p>
            <a:pPr indent="0" marL="0">
              <a:buNone/>
            </a:pPr>
            <a:r>
              <a:rPr lang="en-US" sz="1600" b="1" dirty="0">
                <a:solidFill>
                  <a:schemeClr val="tx1"/>
                </a:solidFill>
              </a:rPr>
              <a:t>Visual Studio Code</a:t>
            </a:r>
            <a:endParaRPr lang="en-US" sz="1600" dirty="0"/>
          </a:p>
        </p:txBody>
      </p:sp>
      <p:sp>
        <p:nvSpPr>
          <p:cNvPr id="17" name="Text 15"/>
          <p:cNvSpPr txBox="1"/>
          <p:nvPr/>
        </p:nvSpPr>
        <p:spPr>
          <a:xfrm>
            <a:off x="4206240" y="3584448"/>
            <a:ext cx="2971800" cy="310896"/>
          </a:xfrm>
          <a:prstGeom prst="rect">
            <a:avLst/>
          </a:prstGeom>
          <a:noFill/>
          <a:ln/>
        </p:spPr>
        <p:txBody>
          <a:bodyPr wrap="square" lIns="0" tIns="0" rIns="0" bIns="0" rtlCol="0" anchor="ctr"/>
          <a:lstStyle/>
          <a:p>
            <a:pPr algn="r" indent="0" marL="0">
              <a:buNone/>
            </a:pPr>
            <a:r>
              <a:rPr lang="en-US" sz="1200" u="sng" dirty="0">
                <a:solidFill>
                  <a:srgbClr val="000000"/>
                </a:solidFill>
                <a:hlinkClick r:id="rId2" invalidUrl="" action="" tgtFrame="" tooltip="" history="1" highlightClick="0" endSnd="0">
                  <a:extLst>
                    <a:ext uri="{A12FA001-AC4F-418D-AE19-62706E023703}">
                      <ahyp:hlinkClr xmlns:ahyp="http://schemas.microsoft.com/office/drawing/2018/hyperlinkcolor" val="tx"/>
                    </a:ext>
                  </a:extLst>
                </a:hlinkClick>
              </a:rPr>
              <a:t>code.visualstudio.com/download</a:t>
            </a:r>
            <a:endParaRPr lang="en-US" sz="1200" dirty="0"/>
          </a:p>
        </p:txBody>
      </p:sp>
      <p:sp>
        <p:nvSpPr>
          <p:cNvPr id="18" name="Text 16"/>
          <p:cNvSpPr txBox="1"/>
          <p:nvPr/>
        </p:nvSpPr>
        <p:spPr>
          <a:xfrm>
            <a:off x="1188720" y="3913632"/>
            <a:ext cx="5989320" cy="292608"/>
          </a:xfrm>
          <a:prstGeom prst="rect">
            <a:avLst/>
          </a:prstGeom>
          <a:noFill/>
          <a:ln/>
        </p:spPr>
        <p:txBody>
          <a:bodyPr wrap="square" lIns="0" tIns="0" rIns="0" bIns="0" rtlCol="0" anchor="t"/>
          <a:lstStyle/>
          <a:p>
            <a:pPr indent="0" marL="0">
              <a:buNone/>
            </a:pPr>
            <a:r>
              <a:rPr lang="en-US" sz="1300" dirty="0">
                <a:solidFill>
                  <a:schemeClr val="tx1"/>
                </a:solidFill>
              </a:rPr>
              <a:t>The free code editor we use to write the app.</a:t>
            </a:r>
            <a:endParaRPr lang="en-US" sz="1300" dirty="0"/>
          </a:p>
        </p:txBody>
      </p:sp>
      <p:sp>
        <p:nvSpPr>
          <p:cNvPr id="19" name="Checkbox"/>
          <p:cNvSpPr/>
          <p:nvPr/>
        </p:nvSpPr>
        <p:spPr>
          <a:xfrm>
            <a:off x="777240" y="4261104"/>
            <a:ext cx="237744" cy="237744"/>
          </a:xfrm>
          <a:prstGeom prst="roundRect">
            <a:avLst>
              <a:gd name="adj" fmla="val 15385"/>
            </a:avLst>
          </a:prstGeom>
          <a:solidFill>
            <a:schemeClr val="bg1"/>
          </a:solidFill>
          <a:ln w="19050">
            <a:solidFill>
              <a:schemeClr val="tx2"/>
            </a:solidFill>
            <a:prstDash val="solid"/>
          </a:ln>
        </p:spPr>
      </p:sp>
      <p:sp>
        <p:nvSpPr>
          <p:cNvPr id="20" name="Text 18"/>
          <p:cNvSpPr txBox="1"/>
          <p:nvPr/>
        </p:nvSpPr>
        <p:spPr>
          <a:xfrm>
            <a:off x="1188720" y="4224528"/>
            <a:ext cx="3291840" cy="310896"/>
          </a:xfrm>
          <a:prstGeom prst="rect">
            <a:avLst/>
          </a:prstGeom>
          <a:noFill/>
          <a:ln/>
        </p:spPr>
        <p:txBody>
          <a:bodyPr wrap="square" lIns="0" tIns="0" rIns="0" bIns="0" rtlCol="0" anchor="ctr"/>
          <a:lstStyle/>
          <a:p>
            <a:pPr indent="0" marL="0">
              <a:buNone/>
            </a:pPr>
            <a:r>
              <a:rPr lang="en-US" sz="1600" b="1" dirty="0">
                <a:solidFill>
                  <a:schemeClr val="tx1"/>
                </a:solidFill>
              </a:rPr>
              <a:t>Expo tools</a:t>
            </a:r>
            <a:endParaRPr lang="en-US" sz="1600" dirty="0"/>
          </a:p>
        </p:txBody>
      </p:sp>
      <p:sp>
        <p:nvSpPr>
          <p:cNvPr id="21" name="Text 19"/>
          <p:cNvSpPr txBox="1"/>
          <p:nvPr/>
        </p:nvSpPr>
        <p:spPr>
          <a:xfrm>
            <a:off x="4206240" y="4224528"/>
            <a:ext cx="2971800" cy="310896"/>
          </a:xfrm>
          <a:prstGeom prst="rect">
            <a:avLst/>
          </a:prstGeom>
          <a:noFill/>
          <a:ln/>
        </p:spPr>
        <p:txBody>
          <a:bodyPr wrap="square" lIns="0" tIns="0" rIns="0" bIns="0" rtlCol="0" anchor="ctr"/>
          <a:lstStyle/>
          <a:p>
            <a:pPr algn="r" indent="0" marL="0">
              <a:buNone/>
            </a:pPr>
            <a:r>
              <a:rPr lang="en-US" sz="1200" u="sng" dirty="0">
                <a:solidFill>
                  <a:srgbClr val="000000"/>
                </a:solidFill>
                <a:hlinkClick r:id="rId3" invalidUrl="" action="" tgtFrame="" tooltip="" history="1" highlightClick="0" endSnd="0">
                  <a:extLst>
                    <a:ext uri="{A12FA001-AC4F-418D-AE19-62706E023703}">
                      <ahyp:hlinkClr xmlns:ahyp="http://schemas.microsoft.com/office/drawing/2018/hyperlinkcolor" val="tx"/>
                    </a:ext>
                  </a:extLst>
                </a:hlinkClick>
              </a:rPr>
              <a:t>docs.expo.dev/get-started/create-a-project</a:t>
            </a:r>
            <a:endParaRPr lang="en-US" sz="1200" dirty="0"/>
          </a:p>
        </p:txBody>
      </p:sp>
      <p:sp>
        <p:nvSpPr>
          <p:cNvPr id="22" name="Text 20"/>
          <p:cNvSpPr txBox="1"/>
          <p:nvPr/>
        </p:nvSpPr>
        <p:spPr>
          <a:xfrm>
            <a:off x="1188720" y="4553712"/>
            <a:ext cx="5989320" cy="548640"/>
          </a:xfrm>
          <a:prstGeom prst="rect">
            <a:avLst/>
          </a:prstGeom>
          <a:noFill/>
          <a:ln/>
        </p:spPr>
        <p:txBody>
          <a:bodyPr wrap="square" lIns="0" tIns="0" rIns="0" bIns="0" rtlCol="0" anchor="t"/>
          <a:lstStyle/>
          <a:p>
            <a:pPr indent="0" marL="0">
              <a:buNone/>
            </a:pPr>
            <a:r>
              <a:rPr lang="en-US" sz="1300" dirty="0">
                <a:solidFill>
                  <a:schemeClr val="accent5"/>
                </a:solidFill>
                <a:latin typeface="Consolas" pitchFamily="34" charset="0"/>
                <a:ea typeface="Consolas" pitchFamily="34" charset="-122"/>
                <a:cs typeface="Consolas" pitchFamily="34" charset="-120"/>
              </a:rPr>
              <a:t>create-expo-app</a:t>
            </a:r>
            <a:r>
              <a:rPr lang="en-US" sz="1300" dirty="0">
                <a:solidFill>
                  <a:schemeClr val="tx1"/>
                </a:solidFill>
              </a:rPr>
              <a:t> and Expo CLI create and run your project. They run with </a:t>
            </a:r>
            <a:r>
              <a:rPr lang="en-US" sz="1300" dirty="0">
                <a:solidFill>
                  <a:schemeClr val="accent5"/>
                </a:solidFill>
                <a:latin typeface="Consolas" pitchFamily="34" charset="0"/>
                <a:ea typeface="Consolas" pitchFamily="34" charset="-122"/>
                <a:cs typeface="Consolas" pitchFamily="34" charset="-120"/>
              </a:rPr>
              <a:t>npx</a:t>
            </a:r>
            <a:r>
              <a:rPr lang="en-US" sz="1300" dirty="0">
                <a:solidFill>
                  <a:schemeClr val="tx1"/>
                </a:solidFill>
              </a:rPr>
              <a:t>, so nothing extra to install.</a:t>
            </a:r>
            <a:endParaRPr lang="en-US" sz="1300" dirty="0"/>
          </a:p>
        </p:txBody>
      </p:sp>
      <p:sp>
        <p:nvSpPr>
          <p:cNvPr id="23" name="Checkbox"/>
          <p:cNvSpPr/>
          <p:nvPr/>
        </p:nvSpPr>
        <p:spPr>
          <a:xfrm>
            <a:off x="777240" y="5157216"/>
            <a:ext cx="237744" cy="237744"/>
          </a:xfrm>
          <a:prstGeom prst="roundRect">
            <a:avLst>
              <a:gd name="adj" fmla="val 15385"/>
            </a:avLst>
          </a:prstGeom>
          <a:solidFill>
            <a:schemeClr val="bg1"/>
          </a:solidFill>
          <a:ln w="19050">
            <a:solidFill>
              <a:schemeClr val="tx2"/>
            </a:solidFill>
            <a:prstDash val="solid"/>
          </a:ln>
        </p:spPr>
      </p:sp>
      <p:sp>
        <p:nvSpPr>
          <p:cNvPr id="24" name="Text 22"/>
          <p:cNvSpPr txBox="1"/>
          <p:nvPr/>
        </p:nvSpPr>
        <p:spPr>
          <a:xfrm>
            <a:off x="1188720" y="5120640"/>
            <a:ext cx="3291840" cy="310896"/>
          </a:xfrm>
          <a:prstGeom prst="rect">
            <a:avLst/>
          </a:prstGeom>
          <a:noFill/>
          <a:ln/>
        </p:spPr>
        <p:txBody>
          <a:bodyPr wrap="square" lIns="0" tIns="0" rIns="0" bIns="0" rtlCol="0" anchor="ctr"/>
          <a:lstStyle/>
          <a:p>
            <a:pPr indent="0" marL="0">
              <a:buNone/>
            </a:pPr>
            <a:r>
              <a:rPr lang="en-US" sz="1600" b="1" dirty="0">
                <a:solidFill>
                  <a:schemeClr val="tx1"/>
                </a:solidFill>
              </a:rPr>
              <a:t>Internet connection</a:t>
            </a:r>
            <a:endParaRPr lang="en-US" sz="1600" dirty="0"/>
          </a:p>
        </p:txBody>
      </p:sp>
      <p:sp>
        <p:nvSpPr>
          <p:cNvPr id="25" name="Text 23"/>
          <p:cNvSpPr txBox="1"/>
          <p:nvPr/>
        </p:nvSpPr>
        <p:spPr>
          <a:xfrm>
            <a:off x="1188720" y="5449824"/>
            <a:ext cx="5989320" cy="292608"/>
          </a:xfrm>
          <a:prstGeom prst="rect">
            <a:avLst/>
          </a:prstGeom>
          <a:noFill/>
          <a:ln/>
        </p:spPr>
        <p:txBody>
          <a:bodyPr wrap="square" lIns="0" tIns="0" rIns="0" bIns="0" rtlCol="0" anchor="t"/>
          <a:lstStyle/>
          <a:p>
            <a:pPr indent="0" marL="0">
              <a:buNone/>
            </a:pPr>
            <a:r>
              <a:rPr lang="en-US" sz="1300" dirty="0">
                <a:solidFill>
                  <a:schemeClr val="tx1"/>
                </a:solidFill>
              </a:rPr>
              <a:t>Needed to download the tools and your project's packages.</a:t>
            </a:r>
            <a:endParaRPr lang="en-US" sz="1300" dirty="0"/>
          </a:p>
        </p:txBody>
      </p:sp>
      <p:sp>
        <p:nvSpPr>
          <p:cNvPr id="26" name="Card"/>
          <p:cNvSpPr/>
          <p:nvPr/>
        </p:nvSpPr>
        <p:spPr>
          <a:xfrm>
            <a:off x="7589520" y="1645920"/>
            <a:ext cx="4050792" cy="4206240"/>
          </a:xfrm>
          <a:prstGeom prst="roundRect">
            <a:avLst>
              <a:gd name="adj" fmla="val 2709"/>
            </a:avLst>
          </a:prstGeom>
          <a:solidFill>
            <a:schemeClr val="bg1"/>
          </a:solidFill>
          <a:ln w="15875">
            <a:solidFill>
              <a:schemeClr val="accent6"/>
            </a:solidFill>
            <a:prstDash val="solid"/>
          </a:ln>
        </p:spPr>
      </p:sp>
      <p:sp>
        <p:nvSpPr>
          <p:cNvPr id="27" name="Optional pill"/>
          <p:cNvSpPr/>
          <p:nvPr/>
        </p:nvSpPr>
        <p:spPr>
          <a:xfrm>
            <a:off x="7818120" y="1810512"/>
            <a:ext cx="1234440" cy="310896"/>
          </a:xfrm>
          <a:prstGeom prst="roundRect">
            <a:avLst>
              <a:gd name="adj" fmla="val 50000"/>
            </a:avLst>
          </a:prstGeom>
          <a:solidFill>
            <a:schemeClr val="tx2"/>
          </a:solidFill>
          <a:ln/>
        </p:spPr>
        <p:txBody>
          <a:bodyPr wrap="square" lIns="0" tIns="0" rIns="0" bIns="0" rtlCol="0" anchor="ctr"/>
          <a:lstStyle/>
          <a:p>
            <a:pPr algn="ctr" indent="0" marL="0">
              <a:buNone/>
            </a:pPr>
            <a:r>
              <a:rPr lang="en-US" sz="1100" b="1" spc="150" kern="0" dirty="0">
                <a:solidFill>
                  <a:schemeClr val="bg1"/>
                </a:solidFill>
              </a:rPr>
              <a:t>OPTIONAL</a:t>
            </a:r>
            <a:endParaRPr lang="en-US" sz="1100" dirty="0"/>
          </a:p>
        </p:txBody>
      </p:sp>
      <p:sp>
        <p:nvSpPr>
          <p:cNvPr id="28" name="Checkbox"/>
          <p:cNvSpPr/>
          <p:nvPr/>
        </p:nvSpPr>
        <p:spPr>
          <a:xfrm>
            <a:off x="7818120" y="2322576"/>
            <a:ext cx="237744" cy="237744"/>
          </a:xfrm>
          <a:prstGeom prst="roundRect">
            <a:avLst>
              <a:gd name="adj" fmla="val 15385"/>
            </a:avLst>
          </a:prstGeom>
          <a:solidFill>
            <a:schemeClr val="bg1"/>
          </a:solidFill>
          <a:ln w="19050">
            <a:solidFill>
              <a:schemeClr val="tx2"/>
            </a:solidFill>
            <a:prstDash val="solid"/>
          </a:ln>
        </p:spPr>
      </p:sp>
      <p:sp>
        <p:nvSpPr>
          <p:cNvPr id="29" name="Text 27"/>
          <p:cNvSpPr txBox="1"/>
          <p:nvPr/>
        </p:nvSpPr>
        <p:spPr>
          <a:xfrm>
            <a:off x="8229600" y="2286000"/>
            <a:ext cx="3246120" cy="310896"/>
          </a:xfrm>
          <a:prstGeom prst="rect">
            <a:avLst/>
          </a:prstGeom>
          <a:noFill/>
          <a:ln/>
        </p:spPr>
        <p:txBody>
          <a:bodyPr wrap="square" lIns="0" tIns="0" rIns="0" bIns="0" rtlCol="0" anchor="ctr"/>
          <a:lstStyle/>
          <a:p>
            <a:pPr indent="0" marL="0">
              <a:buNone/>
            </a:pPr>
            <a:r>
              <a:rPr lang="en-US" sz="1600" b="1" dirty="0">
                <a:solidFill>
                  <a:schemeClr val="tx1"/>
                </a:solidFill>
              </a:rPr>
              <a:t>Expo Go app on your phone</a:t>
            </a:r>
            <a:endParaRPr lang="en-US" sz="1600" dirty="0"/>
          </a:p>
        </p:txBody>
      </p:sp>
      <p:sp>
        <p:nvSpPr>
          <p:cNvPr id="30" name="Text 28"/>
          <p:cNvSpPr txBox="1"/>
          <p:nvPr/>
        </p:nvSpPr>
        <p:spPr>
          <a:xfrm>
            <a:off x="8229600" y="2615184"/>
            <a:ext cx="3246120" cy="804672"/>
          </a:xfrm>
          <a:prstGeom prst="rect">
            <a:avLst/>
          </a:prstGeom>
          <a:noFill/>
          <a:ln/>
        </p:spPr>
        <p:txBody>
          <a:bodyPr wrap="square" lIns="0" tIns="0" rIns="0" bIns="0" rtlCol="0" anchor="t"/>
          <a:lstStyle/>
          <a:p>
            <a:pPr indent="0" marL="0">
              <a:buNone/>
            </a:pPr>
            <a:r>
              <a:rPr lang="en-US" sz="1300" dirty="0">
                <a:solidFill>
                  <a:schemeClr val="tx1"/>
                </a:solidFill>
              </a:rPr>
              <a:t>Opens your app on a real Android phone or iPhone by scanning a QR code. Needs a free Expo account (required on iPhone).</a:t>
            </a:r>
            <a:endParaRPr lang="en-US" sz="1300" dirty="0"/>
          </a:p>
        </p:txBody>
      </p:sp>
      <p:sp>
        <p:nvSpPr>
          <p:cNvPr id="31" name="Text 29"/>
          <p:cNvSpPr txBox="1"/>
          <p:nvPr/>
        </p:nvSpPr>
        <p:spPr>
          <a:xfrm>
            <a:off x="8229600" y="3419856"/>
            <a:ext cx="3291840" cy="274320"/>
          </a:xfrm>
          <a:prstGeom prst="rect">
            <a:avLst/>
          </a:prstGeom>
          <a:noFill/>
          <a:ln/>
        </p:spPr>
        <p:txBody>
          <a:bodyPr wrap="square" lIns="0" tIns="0" rIns="0" bIns="0" rtlCol="0" anchor="t"/>
          <a:lstStyle/>
          <a:p>
            <a:pPr indent="0" marL="0">
              <a:buNone/>
            </a:pPr>
            <a:r>
              <a:rPr lang="en-US" sz="1200" u="sng" dirty="0">
                <a:solidFill>
                  <a:srgbClr val="000000"/>
                </a:solidFill>
                <a:hlinkClick r:id="rId4" invalidUrl="" action="" tgtFrame="" tooltip="" history="1" highlightClick="0" endSnd="0">
                  <a:extLst>
                    <a:ext uri="{A12FA001-AC4F-418D-AE19-62706E023703}">
                      <ahyp:hlinkClr xmlns:ahyp="http://schemas.microsoft.com/office/drawing/2018/hyperlinkcolor" val="tx"/>
                    </a:ext>
                  </a:extLst>
                </a:hlinkClick>
              </a:rPr>
              <a:t>expo.dev/go</a:t>
            </a:r>
            <a:r>
              <a:rPr lang="en-US" sz="1200" dirty="0">
                <a:solidFill>
                  <a:schemeClr val="tx2"/>
                </a:solidFill>
              </a:rPr>
              <a:t>  ·  </a:t>
            </a:r>
            <a:r>
              <a:rPr lang="en-US" sz="1200" u="sng" dirty="0">
                <a:solidFill>
                  <a:srgbClr val="000000"/>
                </a:solidFill>
                <a:hlinkClick r:id="rId5" invalidUrl="" action="" tgtFrame="" tooltip="" history="1" highlightClick="0" endSnd="0">
                  <a:extLst>
                    <a:ext uri="{A12FA001-AC4F-418D-AE19-62706E023703}">
                      <ahyp:hlinkClr xmlns:ahyp="http://schemas.microsoft.com/office/drawing/2018/hyperlinkcolor" val="tx"/>
                    </a:ext>
                  </a:extLst>
                </a:hlinkClick>
              </a:rPr>
              <a:t>expo.dev/signup</a:t>
            </a:r>
            <a:endParaRPr lang="en-US" sz="1200" dirty="0"/>
          </a:p>
        </p:txBody>
      </p:sp>
      <p:sp>
        <p:nvSpPr>
          <p:cNvPr id="32" name="Checkbox"/>
          <p:cNvSpPr/>
          <p:nvPr/>
        </p:nvSpPr>
        <p:spPr>
          <a:xfrm>
            <a:off x="7818120" y="3785616"/>
            <a:ext cx="237744" cy="237744"/>
          </a:xfrm>
          <a:prstGeom prst="roundRect">
            <a:avLst>
              <a:gd name="adj" fmla="val 15385"/>
            </a:avLst>
          </a:prstGeom>
          <a:solidFill>
            <a:schemeClr val="bg1"/>
          </a:solidFill>
          <a:ln w="19050">
            <a:solidFill>
              <a:schemeClr val="tx2"/>
            </a:solidFill>
            <a:prstDash val="solid"/>
          </a:ln>
        </p:spPr>
      </p:sp>
      <p:sp>
        <p:nvSpPr>
          <p:cNvPr id="33" name="Text 31"/>
          <p:cNvSpPr txBox="1"/>
          <p:nvPr/>
        </p:nvSpPr>
        <p:spPr>
          <a:xfrm>
            <a:off x="8229600" y="3749040"/>
            <a:ext cx="3246120" cy="310896"/>
          </a:xfrm>
          <a:prstGeom prst="rect">
            <a:avLst/>
          </a:prstGeom>
          <a:noFill/>
          <a:ln/>
        </p:spPr>
        <p:txBody>
          <a:bodyPr wrap="square" lIns="0" tIns="0" rIns="0" bIns="0" rtlCol="0" anchor="ctr"/>
          <a:lstStyle/>
          <a:p>
            <a:pPr indent="0" marL="0">
              <a:buNone/>
            </a:pPr>
            <a:r>
              <a:rPr lang="en-US" sz="1600" b="1" dirty="0">
                <a:solidFill>
                  <a:schemeClr val="tx1"/>
                </a:solidFill>
              </a:rPr>
              <a:t>Android Studio + Emulator</a:t>
            </a:r>
            <a:endParaRPr lang="en-US" sz="1600" dirty="0"/>
          </a:p>
        </p:txBody>
      </p:sp>
      <p:sp>
        <p:nvSpPr>
          <p:cNvPr id="34" name="Text 32"/>
          <p:cNvSpPr txBox="1"/>
          <p:nvPr/>
        </p:nvSpPr>
        <p:spPr>
          <a:xfrm>
            <a:off x="8229600" y="4078224"/>
            <a:ext cx="3246120" cy="301752"/>
          </a:xfrm>
          <a:prstGeom prst="rect">
            <a:avLst/>
          </a:prstGeom>
          <a:noFill/>
          <a:ln/>
        </p:spPr>
        <p:txBody>
          <a:bodyPr wrap="square" lIns="0" tIns="0" rIns="0" bIns="0" rtlCol="0" anchor="t"/>
          <a:lstStyle/>
          <a:p>
            <a:pPr indent="0" marL="0">
              <a:buNone/>
            </a:pPr>
            <a:r>
              <a:rPr lang="en-US" sz="1300" dirty="0">
                <a:solidFill>
                  <a:schemeClr val="tx1"/>
                </a:solidFill>
              </a:rPr>
              <a:t>Runs a virtual Android phone on your laptop.</a:t>
            </a:r>
            <a:endParaRPr lang="en-US" sz="1300" dirty="0"/>
          </a:p>
        </p:txBody>
      </p:sp>
      <p:sp>
        <p:nvSpPr>
          <p:cNvPr id="35" name="Text 33"/>
          <p:cNvSpPr txBox="1"/>
          <p:nvPr/>
        </p:nvSpPr>
        <p:spPr>
          <a:xfrm>
            <a:off x="8229600" y="4379976"/>
            <a:ext cx="3291840" cy="274320"/>
          </a:xfrm>
          <a:prstGeom prst="rect">
            <a:avLst/>
          </a:prstGeom>
          <a:noFill/>
          <a:ln/>
        </p:spPr>
        <p:txBody>
          <a:bodyPr wrap="square" lIns="0" tIns="0" rIns="0" bIns="0" rtlCol="0" anchor="t"/>
          <a:lstStyle/>
          <a:p>
            <a:pPr indent="0" marL="0">
              <a:buNone/>
            </a:pPr>
            <a:r>
              <a:rPr lang="en-US" sz="1200" u="sng" dirty="0">
                <a:solidFill>
                  <a:srgbClr val="000000"/>
                </a:solidFill>
                <a:hlinkClick r:id="rId6" invalidUrl="" action="" tgtFrame="" tooltip="" history="1" highlightClick="0" endSnd="0">
                  <a:extLst>
                    <a:ext uri="{A12FA001-AC4F-418D-AE19-62706E023703}">
                      <ahyp:hlinkClr xmlns:ahyp="http://schemas.microsoft.com/office/drawing/2018/hyperlinkcolor" val="tx"/>
                    </a:ext>
                  </a:extLst>
                </a:hlinkClick>
              </a:rPr>
              <a:t>developer.android.com/studio</a:t>
            </a:r>
            <a:endParaRPr lang="en-US" sz="1200" dirty="0"/>
          </a:p>
        </p:txBody>
      </p:sp>
      <p:sp>
        <p:nvSpPr>
          <p:cNvPr id="36" name="Checkbox"/>
          <p:cNvSpPr/>
          <p:nvPr/>
        </p:nvSpPr>
        <p:spPr>
          <a:xfrm>
            <a:off x="7818120" y="4745736"/>
            <a:ext cx="237744" cy="237744"/>
          </a:xfrm>
          <a:prstGeom prst="roundRect">
            <a:avLst>
              <a:gd name="adj" fmla="val 15385"/>
            </a:avLst>
          </a:prstGeom>
          <a:solidFill>
            <a:schemeClr val="bg1"/>
          </a:solidFill>
          <a:ln w="19050">
            <a:solidFill>
              <a:schemeClr val="tx2"/>
            </a:solidFill>
            <a:prstDash val="solid"/>
          </a:ln>
        </p:spPr>
      </p:sp>
      <p:sp>
        <p:nvSpPr>
          <p:cNvPr id="37" name="Text 35"/>
          <p:cNvSpPr txBox="1"/>
          <p:nvPr/>
        </p:nvSpPr>
        <p:spPr>
          <a:xfrm>
            <a:off x="8229600" y="4709160"/>
            <a:ext cx="3246120" cy="310896"/>
          </a:xfrm>
          <a:prstGeom prst="rect">
            <a:avLst/>
          </a:prstGeom>
          <a:noFill/>
          <a:ln/>
        </p:spPr>
        <p:txBody>
          <a:bodyPr wrap="square" lIns="0" tIns="0" rIns="0" bIns="0" rtlCol="0" anchor="ctr"/>
          <a:lstStyle/>
          <a:p>
            <a:pPr indent="0" marL="0">
              <a:buNone/>
            </a:pPr>
            <a:r>
              <a:rPr lang="en-US" sz="1600" b="1" dirty="0">
                <a:solidFill>
                  <a:schemeClr val="tx1"/>
                </a:solidFill>
              </a:rPr>
              <a:t>Git + GitHub</a:t>
            </a:r>
            <a:endParaRPr lang="en-US" sz="1600" dirty="0"/>
          </a:p>
        </p:txBody>
      </p:sp>
      <p:sp>
        <p:nvSpPr>
          <p:cNvPr id="38" name="Text 36"/>
          <p:cNvSpPr txBox="1"/>
          <p:nvPr/>
        </p:nvSpPr>
        <p:spPr>
          <a:xfrm>
            <a:off x="8229600" y="5038344"/>
            <a:ext cx="3246120" cy="301752"/>
          </a:xfrm>
          <a:prstGeom prst="rect">
            <a:avLst/>
          </a:prstGeom>
          <a:noFill/>
          <a:ln/>
        </p:spPr>
        <p:txBody>
          <a:bodyPr wrap="square" lIns="0" tIns="0" rIns="0" bIns="0" rtlCol="0" anchor="t"/>
          <a:lstStyle/>
          <a:p>
            <a:pPr indent="0" marL="0">
              <a:buNone/>
            </a:pPr>
            <a:r>
              <a:rPr lang="en-US" sz="1300" dirty="0">
                <a:solidFill>
                  <a:schemeClr val="tx1"/>
                </a:solidFill>
              </a:rPr>
              <a:t>Saves versions of your code online.</a:t>
            </a:r>
            <a:endParaRPr lang="en-US" sz="1300" dirty="0"/>
          </a:p>
        </p:txBody>
      </p:sp>
      <p:sp>
        <p:nvSpPr>
          <p:cNvPr id="39" name="Text 37"/>
          <p:cNvSpPr txBox="1"/>
          <p:nvPr/>
        </p:nvSpPr>
        <p:spPr>
          <a:xfrm>
            <a:off x="8229600" y="5340096"/>
            <a:ext cx="3291840" cy="274320"/>
          </a:xfrm>
          <a:prstGeom prst="rect">
            <a:avLst/>
          </a:prstGeom>
          <a:noFill/>
          <a:ln/>
        </p:spPr>
        <p:txBody>
          <a:bodyPr wrap="square" lIns="0" tIns="0" rIns="0" bIns="0" rtlCol="0" anchor="t"/>
          <a:lstStyle/>
          <a:p>
            <a:pPr indent="0" marL="0">
              <a:buNone/>
            </a:pPr>
            <a:r>
              <a:rPr lang="en-US" sz="1200" u="sng" dirty="0">
                <a:solidFill>
                  <a:srgbClr val="000000"/>
                </a:solidFill>
                <a:hlinkClick r:id="rId7" invalidUrl="" action="" tgtFrame="" tooltip="" history="1" highlightClick="0" endSnd="0">
                  <a:extLst>
                    <a:ext uri="{A12FA001-AC4F-418D-AE19-62706E023703}">
                      <ahyp:hlinkClr xmlns:ahyp="http://schemas.microsoft.com/office/drawing/2018/hyperlinkcolor" val="tx"/>
                    </a:ext>
                  </a:extLst>
                </a:hlinkClick>
              </a:rPr>
              <a:t>git-scm.com/downloads</a:t>
            </a:r>
            <a:r>
              <a:rPr lang="en-US" sz="1200" dirty="0">
                <a:solidFill>
                  <a:schemeClr val="tx2"/>
                </a:solidFill>
              </a:rPr>
              <a:t>  ·  </a:t>
            </a:r>
            <a:r>
              <a:rPr lang="en-US" sz="1200" u="sng" dirty="0">
                <a:solidFill>
                  <a:srgbClr val="000000"/>
                </a:solidFill>
                <a:hlinkClick r:id="rId8" invalidUrl="" action="" tgtFrame="" tooltip="" history="1" highlightClick="0" endSnd="0">
                  <a:extLst>
                    <a:ext uri="{A12FA001-AC4F-418D-AE19-62706E023703}">
                      <ahyp:hlinkClr xmlns:ahyp="http://schemas.microsoft.com/office/drawing/2018/hyperlinkcolor" val="tx"/>
                    </a:ext>
                  </a:extLst>
                </a:hlinkClick>
              </a:rPr>
              <a:t>github.com</a:t>
            </a:r>
            <a:endParaRPr lang="en-US" sz="1200" dirty="0"/>
          </a:p>
        </p:txBody>
      </p:sp>
      <p:sp>
        <p:nvSpPr>
          <p:cNvPr id="40" name="Icon circle"/>
          <p:cNvSpPr/>
          <p:nvPr/>
        </p:nvSpPr>
        <p:spPr>
          <a:xfrm>
            <a:off x="548640" y="5943600"/>
            <a:ext cx="347472" cy="347472"/>
          </a:xfrm>
          <a:prstGeom prst="ellipse">
            <a:avLst/>
          </a:prstGeom>
          <a:solidFill>
            <a:schemeClr val="accent2"/>
          </a:solidFill>
          <a:ln/>
        </p:spPr>
      </p:sp>
      <p:pic>
        <p:nvPicPr>
          <p:cNvPr id="41" name="Icon" descr="Icon">    </p:cNvPr>
          <p:cNvPicPr>
            <a:picLocks noChangeAspect="1"/>
          </p:cNvPicPr>
          <p:nvPr/>
        </p:nvPicPr>
        <p:blipFill>
          <a:blip r:embed="rId9"/>
          <a:stretch>
            <a:fillRect/>
          </a:stretch>
        </p:blipFill>
        <p:spPr>
          <a:xfrm>
            <a:off x="632033" y="6026993"/>
            <a:ext cx="180685" cy="180685"/>
          </a:xfrm>
          <a:prstGeom prst="rect">
            <a:avLst/>
          </a:prstGeom>
        </p:spPr>
      </p:pic>
      <p:sp>
        <p:nvSpPr>
          <p:cNvPr id="42" name="Text 39"/>
          <p:cNvSpPr txBox="1"/>
          <p:nvPr/>
        </p:nvSpPr>
        <p:spPr>
          <a:xfrm>
            <a:off x="1005840" y="5943600"/>
            <a:ext cx="10607040" cy="347472"/>
          </a:xfrm>
          <a:prstGeom prst="rect">
            <a:avLst/>
          </a:prstGeom>
          <a:noFill/>
          <a:ln/>
        </p:spPr>
        <p:txBody>
          <a:bodyPr wrap="square" lIns="0" tIns="0" rIns="0" bIns="0" rtlCol="0" anchor="ctr"/>
          <a:lstStyle/>
          <a:p>
            <a:pPr indent="0" marL="0">
              <a:buNone/>
            </a:pPr>
            <a:r>
              <a:rPr lang="en-US" sz="1400" b="1" dirty="0">
                <a:solidFill>
                  <a:schemeClr val="tx1"/>
                </a:solidFill>
              </a:rPr>
              <a:t>To see your app you need at least one: </a:t>
            </a:r>
            <a:r>
              <a:rPr lang="en-US" sz="1400" dirty="0">
                <a:solidFill>
                  <a:schemeClr val="tx1"/>
                </a:solidFill>
              </a:rPr>
              <a:t>Expo Go on a phone, or the Android Emulator.</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ection tag"/>
          <p:cNvSpPr/>
          <p:nvPr/>
        </p:nvSpPr>
        <p:spPr>
          <a:xfrm>
            <a:off x="548640" y="365760"/>
            <a:ext cx="1426464" cy="310896"/>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spc="150" kern="0" dirty="0">
                <a:solidFill>
                  <a:schemeClr val="bg1"/>
                </a:solidFill>
              </a:rPr>
              <a:t>INSTALLATION</a:t>
            </a:r>
            <a:endParaRPr lang="en-US" sz="1100" dirty="0"/>
          </a:p>
        </p:txBody>
      </p:sp>
      <p:sp>
        <p:nvSpPr>
          <p:cNvPr id="3" name="Tag context"/>
          <p:cNvSpPr txBox="1"/>
          <p:nvPr/>
        </p:nvSpPr>
        <p:spPr>
          <a:xfrm>
            <a:off x="2157984" y="365760"/>
            <a:ext cx="9482328" cy="310896"/>
          </a:xfrm>
          <a:prstGeom prst="rect">
            <a:avLst/>
          </a:prstGeom>
          <a:noFill/>
          <a:ln/>
        </p:spPr>
        <p:txBody>
          <a:bodyPr wrap="square" lIns="0" tIns="0" rIns="0" bIns="0" rtlCol="0" anchor="ctr"/>
          <a:lstStyle/>
          <a:p>
            <a:pPr indent="0" marL="0">
              <a:buNone/>
            </a:pPr>
            <a:r>
              <a:rPr lang="en-US" sz="1300" dirty="0">
                <a:solidFill>
                  <a:schemeClr val="tx2"/>
                </a:solidFill>
              </a:rPr>
              <a:t>Practical lab, Steps 1–2</a:t>
            </a:r>
            <a:endParaRPr lang="en-US" sz="1300" dirty="0"/>
          </a:p>
        </p:txBody>
      </p:sp>
      <p:sp>
        <p:nvSpPr>
          <p:cNvPr id="4" name="Text 0"/>
          <p:cNvSpPr/>
          <p:nvPr>
            <p:ph idx="100" type="title" hasCustomPrompt="1"/>
          </p:nvPr>
        </p:nvSpPr>
        <p:spPr>
          <a:xfrm>
            <a:off x="548640" y="749808"/>
            <a:ext cx="11091672" cy="713232"/>
          </a:xfrm>
          <a:prstGeom prst="rect">
            <a:avLst/>
          </a:prstGeom>
          <a:noFill/>
          <a:ln/>
        </p:spPr>
        <p:txBody>
          <a:bodyPr wrap="square" lIns="0" tIns="0" rIns="0" bIns="0" rtlCol="0" anchor="ctr"/>
          <a:lstStyle/>
          <a:p>
            <a:pPr algn="l" indent="0" marL="0">
              <a:buNone/>
            </a:pPr>
            <a:r>
              <a:rPr lang="en-US" sz="3600" b="1" dirty="0">
                <a:solidFill>
                  <a:schemeClr val="tx1"/>
                </a:solidFill>
              </a:rPr>
              <a:t>Steps 1–2: Install and Verify</a:t>
            </a:r>
            <a:endParaRPr lang="en-US" sz="3600" dirty="0"/>
          </a:p>
        </p:txBody>
      </p:sp>
      <p:sp>
        <p:nvSpPr>
          <p:cNvPr id="5" name="Card"/>
          <p:cNvSpPr/>
          <p:nvPr/>
        </p:nvSpPr>
        <p:spPr>
          <a:xfrm>
            <a:off x="548640" y="1691640"/>
            <a:ext cx="5943600" cy="2057400"/>
          </a:xfrm>
          <a:prstGeom prst="roundRect">
            <a:avLst>
              <a:gd name="adj" fmla="val 5333"/>
            </a:avLst>
          </a:prstGeom>
          <a:solidFill>
            <a:schemeClr val="bg2"/>
          </a:solidFill>
          <a:ln/>
        </p:spPr>
      </p:sp>
      <p:sp>
        <p:nvSpPr>
          <p:cNvPr id="6" name="Number badge"/>
          <p:cNvSpPr/>
          <p:nvPr/>
        </p:nvSpPr>
        <p:spPr>
          <a:xfrm>
            <a:off x="777240" y="1920240"/>
            <a:ext cx="502920" cy="50292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5"/>
          <p:cNvSpPr txBox="1"/>
          <p:nvPr/>
        </p:nvSpPr>
        <p:spPr>
          <a:xfrm>
            <a:off x="1463040" y="1920240"/>
            <a:ext cx="4846320" cy="502920"/>
          </a:xfrm>
          <a:prstGeom prst="rect">
            <a:avLst/>
          </a:prstGeom>
          <a:noFill/>
          <a:ln/>
        </p:spPr>
        <p:txBody>
          <a:bodyPr wrap="square" lIns="0" tIns="0" rIns="0" bIns="0" rtlCol="0" anchor="ctr"/>
          <a:lstStyle/>
          <a:p>
            <a:pPr indent="0" marL="0">
              <a:buNone/>
            </a:pPr>
            <a:r>
              <a:rPr lang="en-US" sz="1900" b="1" dirty="0">
                <a:solidFill>
                  <a:schemeClr val="tx1"/>
                </a:solidFill>
              </a:rPr>
              <a:t>Install Node.js LTS</a:t>
            </a:r>
            <a:endParaRPr lang="en-US" sz="1900" dirty="0"/>
          </a:p>
        </p:txBody>
      </p:sp>
      <p:sp>
        <p:nvSpPr>
          <p:cNvPr id="8" name="Text 6"/>
          <p:cNvSpPr txBox="1"/>
          <p:nvPr/>
        </p:nvSpPr>
        <p:spPr>
          <a:xfrm>
            <a:off x="1463040" y="2514600"/>
            <a:ext cx="4846320" cy="114300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500" dirty="0">
                <a:solidFill>
                  <a:schemeClr val="tx1"/>
                </a:solidFill>
              </a:rPr>
              <a:t>Open </a:t>
            </a:r>
            <a:r>
              <a:rPr lang="en-US" sz="1500" u="sng" dirty="0">
                <a:solidFill>
                  <a:schemeClr val="tx1"/>
                </a:solidFill>
                <a:hlinkClick r:id="rId1" invalidUrl="" action="" tgtFrame="" tooltip="" history="1" highlightClick="0" endSnd="0">
                  <a:extLst>
                    <a:ext uri="{A12FA001-AC4F-418D-AE19-62706E023703}">
                      <ahyp:hlinkClr xmlns:ahyp="http://schemas.microsoft.com/office/drawing/2018/hyperlinkcolor" val="tx"/>
                    </a:ext>
                  </a:extLst>
                </a:hlinkClick>
              </a:rPr>
              <a:t>nodejs.org/en/download</a:t>
            </a:r>
            <a:endParaRPr lang="en-US" sz="1500" dirty="0"/>
          </a:p>
          <a:p>
            <a:pPr marL="342900" indent="-342900">
              <a:spcAft>
                <a:spcPts val="400"/>
              </a:spcAft>
              <a:buSzPct val="100000"/>
              <a:buFont typeface="+mj-lt"/>
              <a:buAutoNum type="arabicPeriod" startAt="1"/>
            </a:pPr>
            <a:r>
              <a:rPr lang="en-US" sz="1500" dirty="0">
                <a:solidFill>
                  <a:schemeClr val="tx1"/>
                </a:solidFill>
              </a:rPr>
              <a:t>Choose the version marked LTS for your system</a:t>
            </a:r>
            <a:endParaRPr lang="en-US" sz="1500" dirty="0"/>
          </a:p>
          <a:p>
            <a:pPr marL="342900" indent="-342900">
              <a:spcAft>
                <a:spcPts val="400"/>
              </a:spcAft>
              <a:buSzPct val="100000"/>
              <a:buFont typeface="+mj-lt"/>
              <a:buAutoNum type="arabicPeriod" startAt="1"/>
            </a:pPr>
            <a:r>
              <a:rPr lang="en-US" sz="1500" dirty="0">
                <a:solidFill>
                  <a:schemeClr val="tx1"/>
                </a:solidFill>
              </a:rPr>
              <a:t>Run the installer with the default options (npm is included)</a:t>
            </a:r>
            <a:endParaRPr lang="en-US" sz="1500" dirty="0"/>
          </a:p>
        </p:txBody>
      </p:sp>
      <p:sp>
        <p:nvSpPr>
          <p:cNvPr id="9" name="Card"/>
          <p:cNvSpPr/>
          <p:nvPr/>
        </p:nvSpPr>
        <p:spPr>
          <a:xfrm>
            <a:off x="548640" y="3931920"/>
            <a:ext cx="5943600" cy="2057400"/>
          </a:xfrm>
          <a:prstGeom prst="roundRect">
            <a:avLst>
              <a:gd name="adj" fmla="val 5333"/>
            </a:avLst>
          </a:prstGeom>
          <a:solidFill>
            <a:schemeClr val="bg2"/>
          </a:solidFill>
          <a:ln/>
        </p:spPr>
      </p:sp>
      <p:sp>
        <p:nvSpPr>
          <p:cNvPr id="10" name="Number badge"/>
          <p:cNvSpPr/>
          <p:nvPr/>
        </p:nvSpPr>
        <p:spPr>
          <a:xfrm>
            <a:off x="777240" y="4160520"/>
            <a:ext cx="502920" cy="50292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9"/>
          <p:cNvSpPr txBox="1"/>
          <p:nvPr/>
        </p:nvSpPr>
        <p:spPr>
          <a:xfrm>
            <a:off x="1463040" y="4160520"/>
            <a:ext cx="4846320" cy="502920"/>
          </a:xfrm>
          <a:prstGeom prst="rect">
            <a:avLst/>
          </a:prstGeom>
          <a:noFill/>
          <a:ln/>
        </p:spPr>
        <p:txBody>
          <a:bodyPr wrap="square" lIns="0" tIns="0" rIns="0" bIns="0" rtlCol="0" anchor="ctr"/>
          <a:lstStyle/>
          <a:p>
            <a:pPr indent="0" marL="0">
              <a:buNone/>
            </a:pPr>
            <a:r>
              <a:rPr lang="en-US" sz="1900" b="1" dirty="0">
                <a:solidFill>
                  <a:schemeClr val="tx1"/>
                </a:solidFill>
              </a:rPr>
              <a:t>Install Visual Studio Code</a:t>
            </a:r>
            <a:endParaRPr lang="en-US" sz="1900" dirty="0"/>
          </a:p>
        </p:txBody>
      </p:sp>
      <p:sp>
        <p:nvSpPr>
          <p:cNvPr id="12" name="Text 10"/>
          <p:cNvSpPr txBox="1"/>
          <p:nvPr/>
        </p:nvSpPr>
        <p:spPr>
          <a:xfrm>
            <a:off x="1463040" y="4754880"/>
            <a:ext cx="4846320" cy="114300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500" dirty="0">
                <a:solidFill>
                  <a:schemeClr val="tx1"/>
                </a:solidFill>
              </a:rPr>
              <a:t>Open </a:t>
            </a:r>
            <a:r>
              <a:rPr lang="en-US" sz="1500" u="sng" dirty="0">
                <a:solidFill>
                  <a:schemeClr val="tx1"/>
                </a:solidFill>
                <a:hlinkClick r:id="rId2" invalidUrl="" action="" tgtFrame="" tooltip="" history="1" highlightClick="0" endSnd="0">
                  <a:extLst>
                    <a:ext uri="{A12FA001-AC4F-418D-AE19-62706E023703}">
                      <ahyp:hlinkClr xmlns:ahyp="http://schemas.microsoft.com/office/drawing/2018/hyperlinkcolor" val="tx"/>
                    </a:ext>
                  </a:extLst>
                </a:hlinkClick>
              </a:rPr>
              <a:t>code.visualstudio.com/download</a:t>
            </a:r>
            <a:endParaRPr lang="en-US" sz="1500" dirty="0"/>
          </a:p>
          <a:p>
            <a:pPr marL="342900" indent="-342900">
              <a:spcAft>
                <a:spcPts val="400"/>
              </a:spcAft>
              <a:buSzPct val="100000"/>
              <a:buFont typeface="+mj-lt"/>
              <a:buAutoNum type="arabicPeriod" startAt="1"/>
            </a:pPr>
            <a:r>
              <a:rPr lang="en-US" sz="1500" dirty="0">
                <a:solidFill>
                  <a:schemeClr val="tx1"/>
                </a:solidFill>
              </a:rPr>
              <a:t>Download it for Windows, macOS, or Linux, then install</a:t>
            </a:r>
            <a:endParaRPr lang="en-US" sz="1500" dirty="0"/>
          </a:p>
          <a:p>
            <a:pPr marL="342900" indent="-342900">
              <a:spcAft>
                <a:spcPts val="400"/>
              </a:spcAft>
              <a:buSzPct val="100000"/>
              <a:buFont typeface="+mj-lt"/>
              <a:buAutoNum type="arabicPeriod" startAt="1"/>
            </a:pPr>
            <a:r>
              <a:rPr lang="en-US" sz="1500" dirty="0">
                <a:solidFill>
                  <a:schemeClr val="tx1"/>
                </a:solidFill>
              </a:rPr>
              <a:t>Optional: add the “Expo Tools” extension in VS Code</a:t>
            </a:r>
            <a:endParaRPr lang="en-US" sz="1500" dirty="0"/>
          </a:p>
        </p:txBody>
      </p:sp>
      <p:sp>
        <p:nvSpPr>
          <p:cNvPr id="13" name="Text 11"/>
          <p:cNvSpPr txBox="1"/>
          <p:nvPr/>
        </p:nvSpPr>
        <p:spPr>
          <a:xfrm>
            <a:off x="6812280" y="1691640"/>
            <a:ext cx="4828032" cy="365760"/>
          </a:xfrm>
          <a:prstGeom prst="rect">
            <a:avLst/>
          </a:prstGeom>
          <a:noFill/>
          <a:ln/>
        </p:spPr>
        <p:txBody>
          <a:bodyPr wrap="square" lIns="0" tIns="0" rIns="0" bIns="0" rtlCol="0" anchor="ctr"/>
          <a:lstStyle/>
          <a:p>
            <a:pPr indent="0" marL="0">
              <a:buNone/>
            </a:pPr>
            <a:r>
              <a:rPr lang="en-US" sz="1700" b="1" dirty="0">
                <a:solidFill>
                  <a:schemeClr val="tx1"/>
                </a:solidFill>
              </a:rPr>
              <a:t>Verify: open a NEW terminal and type</a:t>
            </a:r>
            <a:endParaRPr lang="en-US" sz="1700" dirty="0"/>
          </a:p>
        </p:txBody>
      </p:sp>
      <p:sp>
        <p:nvSpPr>
          <p:cNvPr id="14" name="Terminal"/>
          <p:cNvSpPr/>
          <p:nvPr/>
        </p:nvSpPr>
        <p:spPr>
          <a:xfrm>
            <a:off x="6812280" y="2148840"/>
            <a:ext cx="4828032" cy="1783080"/>
          </a:xfrm>
          <a:prstGeom prst="roundRect">
            <a:avLst>
              <a:gd name="adj" fmla="val 5128"/>
            </a:avLst>
          </a:prstGeom>
          <a:solidFill>
            <a:schemeClr val="tx1"/>
          </a:solidFill>
          <a:ln/>
        </p:spPr>
      </p:sp>
      <p:sp>
        <p:nvSpPr>
          <p:cNvPr id="15" name="Terminal dot"/>
          <p:cNvSpPr/>
          <p:nvPr/>
        </p:nvSpPr>
        <p:spPr>
          <a:xfrm>
            <a:off x="6995160" y="2295144"/>
            <a:ext cx="118872" cy="118872"/>
          </a:xfrm>
          <a:prstGeom prst="ellipse">
            <a:avLst/>
          </a:prstGeom>
          <a:solidFill>
            <a:schemeClr val="accent4"/>
          </a:solidFill>
          <a:ln/>
        </p:spPr>
      </p:sp>
      <p:sp>
        <p:nvSpPr>
          <p:cNvPr id="16" name="Terminal dot"/>
          <p:cNvSpPr/>
          <p:nvPr/>
        </p:nvSpPr>
        <p:spPr>
          <a:xfrm>
            <a:off x="7196328" y="2295144"/>
            <a:ext cx="118872" cy="118872"/>
          </a:xfrm>
          <a:prstGeom prst="ellipse">
            <a:avLst/>
          </a:prstGeom>
          <a:solidFill>
            <a:schemeClr val="accent2"/>
          </a:solidFill>
          <a:ln/>
        </p:spPr>
      </p:sp>
      <p:sp>
        <p:nvSpPr>
          <p:cNvPr id="17" name="Terminal dot"/>
          <p:cNvSpPr/>
          <p:nvPr/>
        </p:nvSpPr>
        <p:spPr>
          <a:xfrm>
            <a:off x="7397496" y="2295144"/>
            <a:ext cx="118872" cy="118872"/>
          </a:xfrm>
          <a:prstGeom prst="ellipse">
            <a:avLst/>
          </a:prstGeom>
          <a:solidFill>
            <a:schemeClr val="accent3"/>
          </a:solidFill>
          <a:ln/>
        </p:spPr>
      </p:sp>
      <p:sp>
        <p:nvSpPr>
          <p:cNvPr id="18" name="Terminal title"/>
          <p:cNvSpPr txBox="1"/>
          <p:nvPr/>
        </p:nvSpPr>
        <p:spPr>
          <a:xfrm>
            <a:off x="7680960" y="2212848"/>
            <a:ext cx="3776472" cy="274320"/>
          </a:xfrm>
          <a:prstGeom prst="rect">
            <a:avLst/>
          </a:prstGeom>
          <a:noFill/>
          <a:ln/>
        </p:spPr>
        <p:txBody>
          <a:bodyPr wrap="square" lIns="0" tIns="0" rIns="0" bIns="0" rtlCol="0" anchor="ctr"/>
          <a:lstStyle/>
          <a:p>
            <a:pPr indent="0" marL="0">
              <a:buNone/>
            </a:pPr>
            <a:r>
              <a:rPr lang="en-US" sz="1100" dirty="0">
                <a:solidFill>
                  <a:schemeClr val="accent6"/>
                </a:solidFill>
              </a:rPr>
              <a:t>Terminal</a:t>
            </a:r>
            <a:endParaRPr lang="en-US" sz="1100" dirty="0"/>
          </a:p>
        </p:txBody>
      </p:sp>
      <p:sp>
        <p:nvSpPr>
          <p:cNvPr id="19" name="Terminal text"/>
          <p:cNvSpPr txBox="1"/>
          <p:nvPr/>
        </p:nvSpPr>
        <p:spPr>
          <a:xfrm>
            <a:off x="7040880" y="2560320"/>
            <a:ext cx="4370832" cy="1280160"/>
          </a:xfrm>
          <a:prstGeom prst="rect">
            <a:avLst/>
          </a:prstGeom>
          <a:noFill/>
          <a:ln/>
        </p:spPr>
        <p:txBody>
          <a:bodyPr wrap="square" lIns="0" tIns="0" rIns="0" bIns="0" rtlCol="0" anchor="t"/>
          <a:lstStyle/>
          <a:p>
            <a:pPr indent="0" marL="0">
              <a:buNone/>
            </a:pPr>
            <a:r>
              <a:rPr lang="en-US" sz="1600" dirty="0">
                <a:solidFill>
                  <a:schemeClr val="accent6"/>
                </a:solidFill>
                <a:latin typeface="Consolas" pitchFamily="34" charset="0"/>
                <a:ea typeface="Consolas" pitchFamily="34" charset="-122"/>
                <a:cs typeface="Consolas" pitchFamily="34" charset="-120"/>
              </a:rPr>
              <a:t>$ </a:t>
            </a:r>
            <a:r>
              <a:rPr lang="en-US" sz="1600" b="1" dirty="0">
                <a:solidFill>
                  <a:schemeClr val="bg1"/>
                </a:solidFill>
                <a:latin typeface="Consolas" pitchFamily="34" charset="0"/>
                <a:ea typeface="Consolas" pitchFamily="34" charset="-122"/>
                <a:cs typeface="Consolas" pitchFamily="34" charset="-120"/>
              </a:rPr>
              <a:t>node -v</a:t>
            </a:r>
            <a:endParaRPr lang="en-US" sz="1600" dirty="0"/>
          </a:p>
          <a:p>
            <a:pPr indent="0" marL="0">
              <a:buNone/>
            </a:pPr>
            <a:r>
              <a:rPr lang="en-US" sz="1600" dirty="0">
                <a:solidFill>
                  <a:schemeClr val="bg2"/>
                </a:solidFill>
                <a:latin typeface="Consolas" pitchFamily="34" charset="0"/>
                <a:ea typeface="Consolas" pitchFamily="34" charset="-122"/>
                <a:cs typeface="Consolas" pitchFamily="34" charset="-120"/>
              </a:rPr>
              <a:t>v24.x.x</a:t>
            </a:r>
            <a:endParaRPr lang="en-US" sz="1600" dirty="0"/>
          </a:p>
          <a:p>
            <a:pPr indent="0" marL="0">
              <a:buNone/>
            </a:pPr>
            <a:r>
              <a:rPr lang="en-US" sz="1600" dirty="0">
                <a:solidFill>
                  <a:schemeClr val="accent6"/>
                </a:solidFill>
                <a:latin typeface="Consolas" pitchFamily="34" charset="0"/>
                <a:ea typeface="Consolas" pitchFamily="34" charset="-122"/>
                <a:cs typeface="Consolas" pitchFamily="34" charset="-120"/>
              </a:rPr>
              <a:t>$ </a:t>
            </a:r>
            <a:r>
              <a:rPr lang="en-US" sz="1600" b="1" dirty="0">
                <a:solidFill>
                  <a:schemeClr val="bg1"/>
                </a:solidFill>
                <a:latin typeface="Consolas" pitchFamily="34" charset="0"/>
                <a:ea typeface="Consolas" pitchFamily="34" charset="-122"/>
                <a:cs typeface="Consolas" pitchFamily="34" charset="-120"/>
              </a:rPr>
              <a:t>npm -v</a:t>
            </a:r>
            <a:endParaRPr lang="en-US" sz="1600" dirty="0"/>
          </a:p>
          <a:p>
            <a:pPr indent="0" marL="0">
              <a:buNone/>
            </a:pPr>
            <a:r>
              <a:rPr lang="en-US" sz="1600" dirty="0">
                <a:solidFill>
                  <a:schemeClr val="bg2"/>
                </a:solidFill>
                <a:latin typeface="Consolas" pitchFamily="34" charset="0"/>
                <a:ea typeface="Consolas" pitchFamily="34" charset="-122"/>
                <a:cs typeface="Consolas" pitchFamily="34" charset="-120"/>
              </a:rPr>
              <a:t>11.x.x</a:t>
            </a:r>
            <a:endParaRPr lang="en-US" sz="1600" dirty="0"/>
          </a:p>
        </p:txBody>
      </p:sp>
      <p:sp>
        <p:nvSpPr>
          <p:cNvPr id="20" name="Icon circle"/>
          <p:cNvSpPr/>
          <p:nvPr/>
        </p:nvSpPr>
        <p:spPr>
          <a:xfrm>
            <a:off x="6812280" y="4114800"/>
            <a:ext cx="384048" cy="384048"/>
          </a:xfrm>
          <a:prstGeom prst="ellipse">
            <a:avLst/>
          </a:prstGeom>
          <a:solidFill>
            <a:schemeClr val="accent3"/>
          </a:solidFill>
          <a:ln/>
        </p:spPr>
      </p:sp>
      <p:pic>
        <p:nvPicPr>
          <p:cNvPr id="21" name="Icon" descr="Icon">    </p:cNvPr>
          <p:cNvPicPr>
            <a:picLocks noChangeAspect="1"/>
          </p:cNvPicPr>
          <p:nvPr/>
        </p:nvPicPr>
        <p:blipFill>
          <a:blip r:embed="rId3"/>
          <a:stretch>
            <a:fillRect/>
          </a:stretch>
        </p:blipFill>
        <p:spPr>
          <a:xfrm>
            <a:off x="6904452" y="4206972"/>
            <a:ext cx="199705" cy="199705"/>
          </a:xfrm>
          <a:prstGeom prst="rect">
            <a:avLst/>
          </a:prstGeom>
        </p:spPr>
      </p:pic>
      <p:sp>
        <p:nvSpPr>
          <p:cNvPr id="22" name="Text 19"/>
          <p:cNvSpPr txBox="1"/>
          <p:nvPr/>
        </p:nvSpPr>
        <p:spPr>
          <a:xfrm>
            <a:off x="7360920" y="4078224"/>
            <a:ext cx="4279392" cy="640080"/>
          </a:xfrm>
          <a:prstGeom prst="rect">
            <a:avLst/>
          </a:prstGeom>
          <a:noFill/>
          <a:ln/>
        </p:spPr>
        <p:txBody>
          <a:bodyPr wrap="square" lIns="0" tIns="0" rIns="0" bIns="0" rtlCol="0" anchor="t"/>
          <a:lstStyle/>
          <a:p>
            <a:pPr indent="0" marL="0">
              <a:buNone/>
            </a:pPr>
            <a:r>
              <a:rPr lang="en-US" sz="1400" dirty="0">
                <a:solidFill>
                  <a:schemeClr val="tx1"/>
                </a:solidFill>
              </a:rPr>
              <a:t>You see version numbers → it works. Your numbers may be different.</a:t>
            </a:r>
            <a:endParaRPr lang="en-US" sz="1400" dirty="0"/>
          </a:p>
        </p:txBody>
      </p:sp>
      <p:sp>
        <p:nvSpPr>
          <p:cNvPr id="23" name="Icon circle"/>
          <p:cNvSpPr/>
          <p:nvPr/>
        </p:nvSpPr>
        <p:spPr>
          <a:xfrm>
            <a:off x="6812280" y="4864608"/>
            <a:ext cx="384048" cy="384048"/>
          </a:xfrm>
          <a:prstGeom prst="ellipse">
            <a:avLst/>
          </a:prstGeom>
          <a:solidFill>
            <a:schemeClr val="accent4"/>
          </a:solidFill>
          <a:ln/>
        </p:spPr>
      </p:sp>
      <p:pic>
        <p:nvPicPr>
          <p:cNvPr id="24" name="Icon" descr="Icon">    </p:cNvPr>
          <p:cNvPicPr>
            <a:picLocks noChangeAspect="1"/>
          </p:cNvPicPr>
          <p:nvPr/>
        </p:nvPicPr>
        <p:blipFill>
          <a:blip r:embed="rId4"/>
          <a:stretch>
            <a:fillRect/>
          </a:stretch>
        </p:blipFill>
        <p:spPr>
          <a:xfrm>
            <a:off x="6904452" y="4956780"/>
            <a:ext cx="199705" cy="199705"/>
          </a:xfrm>
          <a:prstGeom prst="rect">
            <a:avLst/>
          </a:prstGeom>
        </p:spPr>
      </p:pic>
      <p:sp>
        <p:nvSpPr>
          <p:cNvPr id="25" name="Text 21"/>
          <p:cNvSpPr txBox="1"/>
          <p:nvPr/>
        </p:nvSpPr>
        <p:spPr>
          <a:xfrm>
            <a:off x="7360920" y="4828032"/>
            <a:ext cx="4279392" cy="640080"/>
          </a:xfrm>
          <a:prstGeom prst="rect">
            <a:avLst/>
          </a:prstGeom>
          <a:noFill/>
          <a:ln/>
        </p:spPr>
        <p:txBody>
          <a:bodyPr wrap="square" lIns="0" tIns="0" rIns="0" bIns="0" rtlCol="0" anchor="t"/>
          <a:lstStyle/>
          <a:p>
            <a:pPr indent="0" marL="0">
              <a:buNone/>
            </a:pPr>
            <a:r>
              <a:rPr lang="en-US" sz="1400" dirty="0">
                <a:solidFill>
                  <a:schemeClr val="tx1"/>
                </a:solidFill>
              </a:rPr>
              <a:t>“not recognized” or “command not found” → reinstall Node.js, then reopen the terminal.</a:t>
            </a:r>
            <a:endParaRPr lang="en-US" sz="1400" dirty="0"/>
          </a:p>
        </p:txBody>
      </p:sp>
      <p:sp>
        <p:nvSpPr>
          <p:cNvPr id="26" name="Text 22"/>
          <p:cNvSpPr txBox="1"/>
          <p:nvPr/>
        </p:nvSpPr>
        <p:spPr>
          <a:xfrm>
            <a:off x="6812280" y="5669280"/>
            <a:ext cx="4828032" cy="502920"/>
          </a:xfrm>
          <a:prstGeom prst="rect">
            <a:avLst/>
          </a:prstGeom>
          <a:noFill/>
          <a:ln/>
        </p:spPr>
        <p:txBody>
          <a:bodyPr wrap="square" lIns="0" tIns="0" rIns="0" bIns="0" rtlCol="0" anchor="t"/>
          <a:lstStyle/>
          <a:p>
            <a:pPr indent="0" marL="0">
              <a:buNone/>
            </a:pPr>
            <a:r>
              <a:rPr lang="en-US" sz="1200" dirty="0">
                <a:solidFill>
                  <a:schemeClr val="tx2"/>
                </a:solidFill>
              </a:rPr>
              <a:t>Windows: Command Prompt or PowerShell · macOS: Terminal · Type only what comes after $</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ection tag"/>
          <p:cNvSpPr/>
          <p:nvPr/>
        </p:nvSpPr>
        <p:spPr>
          <a:xfrm>
            <a:off x="548640" y="365760"/>
            <a:ext cx="1138428" cy="310896"/>
          </a:xfrm>
          <a:prstGeom prst="roundRect">
            <a:avLst>
              <a:gd name="adj" fmla="val 50000"/>
            </a:avLst>
          </a:prstGeom>
          <a:solidFill>
            <a:schemeClr val="accent3"/>
          </a:solidFill>
          <a:ln/>
        </p:spPr>
        <p:txBody>
          <a:bodyPr wrap="square" lIns="0" tIns="0" rIns="0" bIns="0" rtlCol="0" anchor="ctr"/>
          <a:lstStyle/>
          <a:p>
            <a:pPr algn="ctr" indent="0" marL="0">
              <a:buNone/>
            </a:pPr>
            <a:r>
              <a:rPr lang="en-US" sz="1100" b="1" spc="150" kern="0" dirty="0">
                <a:solidFill>
                  <a:schemeClr val="bg1"/>
                </a:solidFill>
              </a:rPr>
              <a:t>PRACTICAL</a:t>
            </a:r>
            <a:endParaRPr lang="en-US" sz="1100" dirty="0"/>
          </a:p>
        </p:txBody>
      </p:sp>
      <p:sp>
        <p:nvSpPr>
          <p:cNvPr id="3" name="Tag context"/>
          <p:cNvSpPr txBox="1"/>
          <p:nvPr/>
        </p:nvSpPr>
        <p:spPr>
          <a:xfrm>
            <a:off x="1869948" y="365760"/>
            <a:ext cx="9770364" cy="310896"/>
          </a:xfrm>
          <a:prstGeom prst="rect">
            <a:avLst/>
          </a:prstGeom>
          <a:noFill/>
          <a:ln/>
        </p:spPr>
        <p:txBody>
          <a:bodyPr wrap="square" lIns="0" tIns="0" rIns="0" bIns="0" rtlCol="0" anchor="ctr"/>
          <a:lstStyle/>
          <a:p>
            <a:pPr indent="0" marL="0">
              <a:buNone/>
            </a:pPr>
            <a:r>
              <a:rPr lang="en-US" sz="1300" dirty="0">
                <a:solidFill>
                  <a:schemeClr val="tx2"/>
                </a:solidFill>
              </a:rPr>
              <a:t>Type these commands in your terminal, one at a time</a:t>
            </a:r>
            <a:endParaRPr lang="en-US" sz="1300" dirty="0"/>
          </a:p>
        </p:txBody>
      </p:sp>
      <p:sp>
        <p:nvSpPr>
          <p:cNvPr id="4" name="Text 0"/>
          <p:cNvSpPr/>
          <p:nvPr>
            <p:ph idx="100" type="title" hasCustomPrompt="1"/>
          </p:nvPr>
        </p:nvSpPr>
        <p:spPr>
          <a:xfrm>
            <a:off x="548640" y="749808"/>
            <a:ext cx="11091672" cy="713232"/>
          </a:xfrm>
          <a:prstGeom prst="rect">
            <a:avLst/>
          </a:prstGeom>
          <a:noFill/>
          <a:ln/>
        </p:spPr>
        <p:txBody>
          <a:bodyPr wrap="square" lIns="0" tIns="0" rIns="0" bIns="0" rtlCol="0" anchor="ctr"/>
          <a:lstStyle/>
          <a:p>
            <a:pPr algn="l" indent="0" marL="0">
              <a:buNone/>
            </a:pPr>
            <a:r>
              <a:rPr lang="en-US" sz="3600" b="1" dirty="0">
                <a:solidFill>
                  <a:schemeClr val="tx1"/>
                </a:solidFill>
              </a:rPr>
              <a:t>Step 3: Create Your Project</a:t>
            </a:r>
            <a:endParaRPr lang="en-US" sz="3600" dirty="0"/>
          </a:p>
        </p:txBody>
      </p:sp>
      <p:sp>
        <p:nvSpPr>
          <p:cNvPr id="5" name="Terminal"/>
          <p:cNvSpPr/>
          <p:nvPr/>
        </p:nvSpPr>
        <p:spPr>
          <a:xfrm>
            <a:off x="548640" y="1691640"/>
            <a:ext cx="6263640" cy="3794760"/>
          </a:xfrm>
          <a:prstGeom prst="roundRect">
            <a:avLst>
              <a:gd name="adj" fmla="val 2410"/>
            </a:avLst>
          </a:prstGeom>
          <a:solidFill>
            <a:schemeClr val="tx1"/>
          </a:solidFill>
          <a:ln/>
        </p:spPr>
      </p:sp>
      <p:sp>
        <p:nvSpPr>
          <p:cNvPr id="6" name="Terminal dot"/>
          <p:cNvSpPr/>
          <p:nvPr/>
        </p:nvSpPr>
        <p:spPr>
          <a:xfrm>
            <a:off x="731520" y="1837944"/>
            <a:ext cx="118872" cy="118872"/>
          </a:xfrm>
          <a:prstGeom prst="ellipse">
            <a:avLst/>
          </a:prstGeom>
          <a:solidFill>
            <a:schemeClr val="accent4"/>
          </a:solidFill>
          <a:ln/>
        </p:spPr>
      </p:sp>
      <p:sp>
        <p:nvSpPr>
          <p:cNvPr id="7" name="Terminal dot"/>
          <p:cNvSpPr/>
          <p:nvPr/>
        </p:nvSpPr>
        <p:spPr>
          <a:xfrm>
            <a:off x="932688" y="1837944"/>
            <a:ext cx="118872" cy="118872"/>
          </a:xfrm>
          <a:prstGeom prst="ellipse">
            <a:avLst/>
          </a:prstGeom>
          <a:solidFill>
            <a:schemeClr val="accent2"/>
          </a:solidFill>
          <a:ln/>
        </p:spPr>
      </p:sp>
      <p:sp>
        <p:nvSpPr>
          <p:cNvPr id="8" name="Terminal dot"/>
          <p:cNvSpPr/>
          <p:nvPr/>
        </p:nvSpPr>
        <p:spPr>
          <a:xfrm>
            <a:off x="1133856" y="1837944"/>
            <a:ext cx="118872" cy="118872"/>
          </a:xfrm>
          <a:prstGeom prst="ellipse">
            <a:avLst/>
          </a:prstGeom>
          <a:solidFill>
            <a:schemeClr val="accent3"/>
          </a:solidFill>
          <a:ln/>
        </p:spPr>
      </p:sp>
      <p:sp>
        <p:nvSpPr>
          <p:cNvPr id="9" name="Terminal title"/>
          <p:cNvSpPr txBox="1"/>
          <p:nvPr/>
        </p:nvSpPr>
        <p:spPr>
          <a:xfrm>
            <a:off x="1417320" y="1755648"/>
            <a:ext cx="5212080" cy="274320"/>
          </a:xfrm>
          <a:prstGeom prst="rect">
            <a:avLst/>
          </a:prstGeom>
          <a:noFill/>
          <a:ln/>
        </p:spPr>
        <p:txBody>
          <a:bodyPr wrap="square" lIns="0" tIns="0" rIns="0" bIns="0" rtlCol="0" anchor="ctr"/>
          <a:lstStyle/>
          <a:p>
            <a:pPr indent="0" marL="0">
              <a:buNone/>
            </a:pPr>
            <a:r>
              <a:rPr lang="en-US" sz="1100" dirty="0">
                <a:solidFill>
                  <a:schemeClr val="accent6"/>
                </a:solidFill>
              </a:rPr>
              <a:t>Terminal</a:t>
            </a:r>
            <a:endParaRPr lang="en-US" sz="1100" dirty="0"/>
          </a:p>
        </p:txBody>
      </p:sp>
      <p:sp>
        <p:nvSpPr>
          <p:cNvPr id="10" name="Terminal text"/>
          <p:cNvSpPr txBox="1"/>
          <p:nvPr/>
        </p:nvSpPr>
        <p:spPr>
          <a:xfrm>
            <a:off x="777240" y="2103120"/>
            <a:ext cx="5806440" cy="3291840"/>
          </a:xfrm>
          <a:prstGeom prst="rect">
            <a:avLst/>
          </a:prstGeom>
          <a:noFill/>
          <a:ln/>
        </p:spPr>
        <p:txBody>
          <a:bodyPr wrap="square" lIns="0" tIns="0" rIns="0" bIns="0" rtlCol="0" anchor="t"/>
          <a:lstStyle/>
          <a:p>
            <a:pPr indent="0" marL="0">
              <a:buNone/>
            </a:pPr>
            <a:r>
              <a:rPr lang="en-US" sz="1500" i="1" dirty="0">
                <a:solidFill>
                  <a:schemeClr val="accent6"/>
                </a:solidFill>
                <a:latin typeface="Consolas" pitchFamily="34" charset="0"/>
                <a:ea typeface="Consolas" pitchFamily="34" charset="-122"/>
                <a:cs typeface="Consolas" pitchFamily="34" charset="-120"/>
              </a:rPr>
              <a:t># 1. Go to a folder for your projects</a:t>
            </a:r>
            <a:endParaRPr lang="en-US" sz="1500" dirty="0"/>
          </a:p>
          <a:p>
            <a:pPr indent="0" marL="0">
              <a:spcAft>
                <a:spcPts val="1000"/>
              </a:spcAft>
              <a:buNone/>
            </a:pPr>
            <a:r>
              <a:rPr lang="en-US" sz="1500" dirty="0">
                <a:solidFill>
                  <a:schemeClr val="accent6"/>
                </a:solidFill>
                <a:latin typeface="Consolas" pitchFamily="34" charset="0"/>
                <a:ea typeface="Consolas" pitchFamily="34" charset="-122"/>
                <a:cs typeface="Consolas" pitchFamily="34" charset="-120"/>
              </a:rPr>
              <a:t>$ </a:t>
            </a:r>
            <a:r>
              <a:rPr lang="en-US" sz="1500" b="1" dirty="0">
                <a:solidFill>
                  <a:schemeClr val="bg1"/>
                </a:solidFill>
                <a:latin typeface="Consolas" pitchFamily="34" charset="0"/>
                <a:ea typeface="Consolas" pitchFamily="34" charset="-122"/>
                <a:cs typeface="Consolas" pitchFamily="34" charset="-120"/>
              </a:rPr>
              <a:t>cd Desktop</a:t>
            </a:r>
            <a:endParaRPr lang="en-US" sz="1500" dirty="0"/>
          </a:p>
          <a:p>
            <a:pPr indent="0" marL="0">
              <a:buNone/>
            </a:pPr>
            <a:r>
              <a:rPr lang="en-US" sz="1500" i="1" dirty="0">
                <a:solidFill>
                  <a:schemeClr val="accent6"/>
                </a:solidFill>
                <a:latin typeface="Consolas" pitchFamily="34" charset="0"/>
                <a:ea typeface="Consolas" pitchFamily="34" charset="-122"/>
                <a:cs typeface="Consolas" pitchFamily="34" charset="-120"/>
              </a:rPr>
              <a:t># 2. Create the project (takes a few minutes)</a:t>
            </a:r>
            <a:endParaRPr lang="en-US" sz="1500" dirty="0"/>
          </a:p>
          <a:p>
            <a:pPr indent="0" marL="0">
              <a:buNone/>
            </a:pPr>
            <a:r>
              <a:rPr lang="en-US" sz="1500" dirty="0">
                <a:solidFill>
                  <a:schemeClr val="accent6"/>
                </a:solidFill>
                <a:latin typeface="Consolas" pitchFamily="34" charset="0"/>
                <a:ea typeface="Consolas" pitchFamily="34" charset="-122"/>
                <a:cs typeface="Consolas" pitchFamily="34" charset="-120"/>
              </a:rPr>
              <a:t>$ </a:t>
            </a:r>
            <a:r>
              <a:rPr lang="en-US" sz="1500" b="1" dirty="0">
                <a:solidFill>
                  <a:schemeClr val="bg1"/>
                </a:solidFill>
                <a:latin typeface="Consolas" pitchFamily="34" charset="0"/>
                <a:ea typeface="Consolas" pitchFamily="34" charset="-122"/>
                <a:cs typeface="Consolas" pitchFamily="34" charset="-120"/>
              </a:rPr>
              <a:t>npx create-expo-app@latest HelloWorld</a:t>
            </a:r>
            <a:endParaRPr lang="en-US" sz="1500" dirty="0"/>
          </a:p>
          <a:p>
            <a:pPr indent="0" marL="0">
              <a:spcAft>
                <a:spcPts val="1000"/>
              </a:spcAft>
              <a:buNone/>
            </a:pPr>
            <a:r>
              <a:rPr lang="en-US" sz="1500" dirty="0">
                <a:solidFill>
                  <a:schemeClr val="bg2"/>
                </a:solidFill>
                <a:latin typeface="Consolas" pitchFamily="34" charset="0"/>
                <a:ea typeface="Consolas" pitchFamily="34" charset="-122"/>
                <a:cs typeface="Consolas" pitchFamily="34" charset="-120"/>
              </a:rPr>
              <a:t>✅ Your project is ready!</a:t>
            </a:r>
            <a:endParaRPr lang="en-US" sz="1500" dirty="0"/>
          </a:p>
          <a:p>
            <a:pPr indent="0" marL="0">
              <a:buNone/>
            </a:pPr>
            <a:r>
              <a:rPr lang="en-US" sz="1500" i="1" dirty="0">
                <a:solidFill>
                  <a:schemeClr val="accent6"/>
                </a:solidFill>
                <a:latin typeface="Consolas" pitchFamily="34" charset="0"/>
                <a:ea typeface="Consolas" pitchFamily="34" charset="-122"/>
                <a:cs typeface="Consolas" pitchFamily="34" charset="-120"/>
              </a:rPr>
              <a:t># 3. Move into the project folder</a:t>
            </a:r>
            <a:endParaRPr lang="en-US" sz="1500" dirty="0"/>
          </a:p>
          <a:p>
            <a:pPr indent="0" marL="0">
              <a:spcAft>
                <a:spcPts val="1000"/>
              </a:spcAft>
              <a:buNone/>
            </a:pPr>
            <a:r>
              <a:rPr lang="en-US" sz="1500" dirty="0">
                <a:solidFill>
                  <a:schemeClr val="accent6"/>
                </a:solidFill>
                <a:latin typeface="Consolas" pitchFamily="34" charset="0"/>
                <a:ea typeface="Consolas" pitchFamily="34" charset="-122"/>
                <a:cs typeface="Consolas" pitchFamily="34" charset="-120"/>
              </a:rPr>
              <a:t>$ </a:t>
            </a:r>
            <a:r>
              <a:rPr lang="en-US" sz="1500" b="1" dirty="0">
                <a:solidFill>
                  <a:schemeClr val="bg1"/>
                </a:solidFill>
                <a:latin typeface="Consolas" pitchFamily="34" charset="0"/>
                <a:ea typeface="Consolas" pitchFamily="34" charset="-122"/>
                <a:cs typeface="Consolas" pitchFamily="34" charset="-120"/>
              </a:rPr>
              <a:t>cd HelloWorld</a:t>
            </a:r>
            <a:endParaRPr lang="en-US" sz="1500" dirty="0"/>
          </a:p>
          <a:p>
            <a:pPr indent="0" marL="0">
              <a:buNone/>
            </a:pPr>
            <a:r>
              <a:rPr lang="en-US" sz="1500" i="1" dirty="0">
                <a:solidFill>
                  <a:schemeClr val="accent6"/>
                </a:solidFill>
                <a:latin typeface="Consolas" pitchFamily="34" charset="0"/>
                <a:ea typeface="Consolas" pitchFamily="34" charset="-122"/>
                <a:cs typeface="Consolas" pitchFamily="34" charset="-120"/>
              </a:rPr>
              <a:t># 4. Replace the demo with a blank app</a:t>
            </a:r>
            <a:endParaRPr lang="en-US" sz="1500" dirty="0"/>
          </a:p>
          <a:p>
            <a:pPr indent="0" marL="0">
              <a:buNone/>
            </a:pPr>
            <a:r>
              <a:rPr lang="en-US" sz="1500" dirty="0">
                <a:solidFill>
                  <a:schemeClr val="accent6"/>
                </a:solidFill>
                <a:latin typeface="Consolas" pitchFamily="34" charset="0"/>
                <a:ea typeface="Consolas" pitchFamily="34" charset="-122"/>
                <a:cs typeface="Consolas" pitchFamily="34" charset="-120"/>
              </a:rPr>
              <a:t>$ </a:t>
            </a:r>
            <a:r>
              <a:rPr lang="en-US" sz="1500" b="1" dirty="0">
                <a:solidFill>
                  <a:schemeClr val="bg1"/>
                </a:solidFill>
                <a:latin typeface="Consolas" pitchFamily="34" charset="0"/>
                <a:ea typeface="Consolas" pitchFamily="34" charset="-122"/>
                <a:cs typeface="Consolas" pitchFamily="34" charset="-120"/>
              </a:rPr>
              <a:t>npm run reset-project</a:t>
            </a:r>
            <a:endParaRPr lang="en-US" sz="1500" dirty="0"/>
          </a:p>
          <a:p>
            <a:pPr indent="0" marL="0">
              <a:buNone/>
            </a:pPr>
            <a:r>
              <a:rPr lang="en-US" sz="1500" dirty="0">
                <a:solidFill>
                  <a:schemeClr val="bg2"/>
                </a:solidFill>
                <a:latin typeface="Consolas" pitchFamily="34" charset="0"/>
                <a:ea typeface="Consolas" pitchFamily="34" charset="-122"/>
                <a:cs typeface="Consolas" pitchFamily="34" charset="-120"/>
              </a:rPr>
              <a:t>✅ Project reset complete.</a:t>
            </a:r>
            <a:endParaRPr lang="en-US" sz="1500" dirty="0"/>
          </a:p>
        </p:txBody>
      </p:sp>
      <p:sp>
        <p:nvSpPr>
          <p:cNvPr id="11" name="Text 9"/>
          <p:cNvSpPr txBox="1"/>
          <p:nvPr/>
        </p:nvSpPr>
        <p:spPr>
          <a:xfrm>
            <a:off x="548640" y="5623560"/>
            <a:ext cx="6263640" cy="548640"/>
          </a:xfrm>
          <a:prstGeom prst="rect">
            <a:avLst/>
          </a:prstGeom>
          <a:noFill/>
          <a:ln/>
        </p:spPr>
        <p:txBody>
          <a:bodyPr wrap="square" lIns="0" tIns="0" rIns="0" bIns="0" rtlCol="0" anchor="t"/>
          <a:lstStyle/>
          <a:p>
            <a:pPr indent="0" marL="0">
              <a:buNone/>
            </a:pPr>
            <a:r>
              <a:rPr lang="en-US" sz="1400" dirty="0">
                <a:solidFill>
                  <a:schemeClr val="tx1"/>
                </a:solidFill>
              </a:rPr>
              <a:t>Messages about “vulnerabilities” or “deprecated” packages while installing are normal.</a:t>
            </a:r>
            <a:endParaRPr lang="en-US" sz="1400" dirty="0"/>
          </a:p>
        </p:txBody>
      </p:sp>
      <p:sp>
        <p:nvSpPr>
          <p:cNvPr id="12" name="Text 10"/>
          <p:cNvSpPr txBox="1"/>
          <p:nvPr/>
        </p:nvSpPr>
        <p:spPr>
          <a:xfrm>
            <a:off x="7132320" y="1691640"/>
            <a:ext cx="4507992" cy="365760"/>
          </a:xfrm>
          <a:prstGeom prst="rect">
            <a:avLst/>
          </a:prstGeom>
          <a:noFill/>
          <a:ln/>
        </p:spPr>
        <p:txBody>
          <a:bodyPr wrap="square" lIns="0" tIns="0" rIns="0" bIns="0" rtlCol="0" anchor="ctr"/>
          <a:lstStyle/>
          <a:p>
            <a:pPr indent="0" marL="0">
              <a:buNone/>
            </a:pPr>
            <a:r>
              <a:rPr lang="en-US" sz="1700" b="1" dirty="0">
                <a:solidFill>
                  <a:schemeClr val="tx1"/>
                </a:solidFill>
              </a:rPr>
              <a:t>Answer the questions like this</a:t>
            </a:r>
            <a:endParaRPr lang="en-US" sz="1700" dirty="0"/>
          </a:p>
        </p:txBody>
      </p:sp>
      <p:sp>
        <p:nvSpPr>
          <p:cNvPr id="13" name="Card"/>
          <p:cNvSpPr/>
          <p:nvPr/>
        </p:nvSpPr>
        <p:spPr>
          <a:xfrm>
            <a:off x="7132320" y="2148840"/>
            <a:ext cx="4507992" cy="868680"/>
          </a:xfrm>
          <a:prstGeom prst="roundRect">
            <a:avLst>
              <a:gd name="adj" fmla="val 12632"/>
            </a:avLst>
          </a:prstGeom>
          <a:solidFill>
            <a:schemeClr val="bg2"/>
          </a:solidFill>
          <a:ln/>
        </p:spPr>
      </p:sp>
      <p:sp>
        <p:nvSpPr>
          <p:cNvPr id="14" name="Text 12"/>
          <p:cNvSpPr txBox="1"/>
          <p:nvPr/>
        </p:nvSpPr>
        <p:spPr>
          <a:xfrm>
            <a:off x="7315200" y="2240280"/>
            <a:ext cx="4160520" cy="292608"/>
          </a:xfrm>
          <a:prstGeom prst="rect">
            <a:avLst/>
          </a:prstGeom>
          <a:noFill/>
          <a:ln/>
        </p:spPr>
        <p:txBody>
          <a:bodyPr wrap="square" lIns="0" tIns="0" rIns="0" bIns="0" rtlCol="0" anchor="t"/>
          <a:lstStyle/>
          <a:p>
            <a:pPr indent="0" marL="0">
              <a:buNone/>
            </a:pPr>
            <a:r>
              <a:rPr lang="en-US" sz="1200" dirty="0">
                <a:solidFill>
                  <a:schemeClr val="tx2"/>
                </a:solidFill>
                <a:latin typeface="Consolas" pitchFamily="34" charset="0"/>
                <a:ea typeface="Consolas" pitchFamily="34" charset="-122"/>
                <a:cs typeface="Consolas" pitchFamily="34" charset="-120"/>
              </a:rPr>
              <a:t>Ok to proceed? (y)</a:t>
            </a:r>
            <a:endParaRPr lang="en-US" sz="1200" dirty="0"/>
          </a:p>
        </p:txBody>
      </p:sp>
      <p:sp>
        <p:nvSpPr>
          <p:cNvPr id="15" name="Text 13"/>
          <p:cNvSpPr txBox="1"/>
          <p:nvPr/>
        </p:nvSpPr>
        <p:spPr>
          <a:xfrm>
            <a:off x="7315200" y="2532888"/>
            <a:ext cx="4160520" cy="411480"/>
          </a:xfrm>
          <a:prstGeom prst="rect">
            <a:avLst/>
          </a:prstGeom>
          <a:noFill/>
          <a:ln/>
        </p:spPr>
        <p:txBody>
          <a:bodyPr wrap="square" lIns="0" tIns="0" rIns="0" bIns="0" rtlCol="0" anchor="t"/>
          <a:lstStyle/>
          <a:p>
            <a:pPr indent="0" marL="0">
              <a:buNone/>
            </a:pPr>
            <a:r>
              <a:rPr lang="en-US" sz="1400" dirty="0">
                <a:solidFill>
                  <a:schemeClr val="tx1"/>
                </a:solidFill>
              </a:rPr>
              <a:t>Type </a:t>
            </a:r>
            <a:r>
              <a:rPr lang="en-US" sz="1400" b="1" dirty="0">
                <a:solidFill>
                  <a:schemeClr val="accent5"/>
                </a:solidFill>
                <a:latin typeface="Consolas" pitchFamily="34" charset="0"/>
                <a:ea typeface="Consolas" pitchFamily="34" charset="-122"/>
                <a:cs typeface="Consolas" pitchFamily="34" charset="-120"/>
              </a:rPr>
              <a:t>y</a:t>
            </a:r>
            <a:r>
              <a:rPr lang="en-US" sz="1400" dirty="0">
                <a:solidFill>
                  <a:schemeClr val="tx1"/>
                </a:solidFill>
              </a:rPr>
              <a:t> and press Enter.</a:t>
            </a:r>
            <a:endParaRPr lang="en-US" sz="1400" dirty="0"/>
          </a:p>
        </p:txBody>
      </p:sp>
      <p:sp>
        <p:nvSpPr>
          <p:cNvPr id="16" name="Card"/>
          <p:cNvSpPr/>
          <p:nvPr/>
        </p:nvSpPr>
        <p:spPr>
          <a:xfrm>
            <a:off x="7132320" y="3154680"/>
            <a:ext cx="4507992" cy="1234440"/>
          </a:xfrm>
          <a:prstGeom prst="roundRect">
            <a:avLst>
              <a:gd name="adj" fmla="val 8889"/>
            </a:avLst>
          </a:prstGeom>
          <a:solidFill>
            <a:schemeClr val="bg2"/>
          </a:solidFill>
          <a:ln/>
        </p:spPr>
      </p:sp>
      <p:sp>
        <p:nvSpPr>
          <p:cNvPr id="17" name="Text 15"/>
          <p:cNvSpPr txBox="1"/>
          <p:nvPr/>
        </p:nvSpPr>
        <p:spPr>
          <a:xfrm>
            <a:off x="7315200" y="3246120"/>
            <a:ext cx="4160520" cy="292608"/>
          </a:xfrm>
          <a:prstGeom prst="rect">
            <a:avLst/>
          </a:prstGeom>
          <a:noFill/>
          <a:ln/>
        </p:spPr>
        <p:txBody>
          <a:bodyPr wrap="square" lIns="0" tIns="0" rIns="0" bIns="0" rtlCol="0" anchor="t"/>
          <a:lstStyle/>
          <a:p>
            <a:pPr indent="0" marL="0">
              <a:buNone/>
            </a:pPr>
            <a:r>
              <a:rPr lang="en-US" sz="1200" dirty="0">
                <a:solidFill>
                  <a:schemeClr val="tx2"/>
                </a:solidFill>
                <a:latin typeface="Consolas" pitchFamily="34" charset="0"/>
                <a:ea typeface="Consolas" pitchFamily="34" charset="-122"/>
                <a:cs typeface="Consolas" pitchFamily="34" charset="-120"/>
              </a:rPr>
              <a:t>Select an Expo SDK version:</a:t>
            </a:r>
            <a:endParaRPr lang="en-US" sz="1200" dirty="0"/>
          </a:p>
        </p:txBody>
      </p:sp>
      <p:sp>
        <p:nvSpPr>
          <p:cNvPr id="18" name="Text 16"/>
          <p:cNvSpPr txBox="1"/>
          <p:nvPr/>
        </p:nvSpPr>
        <p:spPr>
          <a:xfrm>
            <a:off x="7315200" y="3538728"/>
            <a:ext cx="4160520" cy="777240"/>
          </a:xfrm>
          <a:prstGeom prst="rect">
            <a:avLst/>
          </a:prstGeom>
          <a:noFill/>
          <a:ln/>
        </p:spPr>
        <p:txBody>
          <a:bodyPr wrap="square" lIns="0" tIns="0" rIns="0" bIns="0" rtlCol="0" anchor="t"/>
          <a:lstStyle/>
          <a:p>
            <a:pPr indent="0" marL="0">
              <a:buNone/>
            </a:pPr>
            <a:r>
              <a:rPr lang="en-US" sz="1400" dirty="0">
                <a:solidFill>
                  <a:schemeClr val="tx1"/>
                </a:solidFill>
              </a:rPr>
              <a:t>Using Expo Go on a phone? Pick </a:t>
            </a:r>
            <a:r>
              <a:rPr lang="en-US" sz="1400" b="1" dirty="0">
                <a:solidFill>
                  <a:schemeClr val="tx1"/>
                </a:solidFill>
              </a:rPr>
              <a:t>“For learning with Expo Go”</a:t>
            </a:r>
            <a:r>
              <a:rPr lang="en-US" sz="1400" dirty="0">
                <a:solidFill>
                  <a:schemeClr val="tx1"/>
                </a:solidFill>
              </a:rPr>
              <a:t>. Not shown? Pick </a:t>
            </a:r>
            <a:r>
              <a:rPr lang="en-US" sz="1400" b="1" dirty="0">
                <a:solidFill>
                  <a:schemeClr val="tx1"/>
                </a:solidFill>
              </a:rPr>
              <a:t>“Latest”</a:t>
            </a:r>
            <a:r>
              <a:rPr lang="en-US" sz="1400" dirty="0">
                <a:solidFill>
                  <a:schemeClr val="tx1"/>
                </a:solidFill>
              </a:rPr>
              <a:t>.</a:t>
            </a:r>
            <a:endParaRPr lang="en-US" sz="1400" dirty="0"/>
          </a:p>
        </p:txBody>
      </p:sp>
      <p:sp>
        <p:nvSpPr>
          <p:cNvPr id="19" name="Card"/>
          <p:cNvSpPr/>
          <p:nvPr/>
        </p:nvSpPr>
        <p:spPr>
          <a:xfrm>
            <a:off x="7132320" y="4526280"/>
            <a:ext cx="4507992" cy="1371600"/>
          </a:xfrm>
          <a:prstGeom prst="roundRect">
            <a:avLst>
              <a:gd name="adj" fmla="val 8000"/>
            </a:avLst>
          </a:prstGeom>
          <a:solidFill>
            <a:schemeClr val="bg2"/>
          </a:solidFill>
          <a:ln/>
        </p:spPr>
      </p:sp>
      <p:sp>
        <p:nvSpPr>
          <p:cNvPr id="20" name="Text 18"/>
          <p:cNvSpPr txBox="1"/>
          <p:nvPr/>
        </p:nvSpPr>
        <p:spPr>
          <a:xfrm>
            <a:off x="7315200" y="4617720"/>
            <a:ext cx="4160520" cy="566928"/>
          </a:xfrm>
          <a:prstGeom prst="rect">
            <a:avLst/>
          </a:prstGeom>
          <a:noFill/>
          <a:ln/>
        </p:spPr>
        <p:txBody>
          <a:bodyPr wrap="square" lIns="0" tIns="0" rIns="0" bIns="0" rtlCol="0" anchor="t"/>
          <a:lstStyle/>
          <a:p>
            <a:pPr indent="0" marL="0">
              <a:buNone/>
            </a:pPr>
            <a:r>
              <a:rPr lang="en-US" sz="1200" dirty="0">
                <a:solidFill>
                  <a:schemeClr val="tx2"/>
                </a:solidFill>
                <a:latin typeface="Consolas" pitchFamily="34" charset="0"/>
                <a:ea typeface="Consolas" pitchFamily="34" charset="-122"/>
                <a:cs typeface="Consolas" pitchFamily="34" charset="-120"/>
              </a:rPr>
              <a:t>Do you want to move existing files to /example instead of deleting them? (Y/n)</a:t>
            </a:r>
            <a:endParaRPr lang="en-US" sz="1200" dirty="0"/>
          </a:p>
        </p:txBody>
      </p:sp>
      <p:sp>
        <p:nvSpPr>
          <p:cNvPr id="21" name="Text 19"/>
          <p:cNvSpPr txBox="1"/>
          <p:nvPr/>
        </p:nvSpPr>
        <p:spPr>
          <a:xfrm>
            <a:off x="7315200" y="5184648"/>
            <a:ext cx="4160520" cy="640080"/>
          </a:xfrm>
          <a:prstGeom prst="rect">
            <a:avLst/>
          </a:prstGeom>
          <a:noFill/>
          <a:ln/>
        </p:spPr>
        <p:txBody>
          <a:bodyPr wrap="square" lIns="0" tIns="0" rIns="0" bIns="0" rtlCol="0" anchor="t"/>
          <a:lstStyle/>
          <a:p>
            <a:pPr indent="0" marL="0">
              <a:buNone/>
            </a:pPr>
            <a:r>
              <a:rPr lang="en-US" sz="1400" dirty="0">
                <a:solidFill>
                  <a:schemeClr val="tx1"/>
                </a:solidFill>
              </a:rPr>
              <a:t>Type </a:t>
            </a:r>
            <a:r>
              <a:rPr lang="en-US" sz="1400" b="1" dirty="0">
                <a:solidFill>
                  <a:schemeClr val="accent5"/>
                </a:solidFill>
                <a:latin typeface="Consolas" pitchFamily="34" charset="0"/>
                <a:ea typeface="Consolas" pitchFamily="34" charset="-122"/>
                <a:cs typeface="Consolas" pitchFamily="34" charset="-120"/>
              </a:rPr>
              <a:t>n</a:t>
            </a:r>
            <a:r>
              <a:rPr lang="en-US" sz="1400" dirty="0">
                <a:solidFill>
                  <a:schemeClr val="tx1"/>
                </a:solidFill>
              </a:rPr>
              <a:t> and press Enter. We start with a clean app.</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ection tag"/>
          <p:cNvSpPr/>
          <p:nvPr/>
        </p:nvSpPr>
        <p:spPr>
          <a:xfrm>
            <a:off x="548640" y="365760"/>
            <a:ext cx="1138428" cy="310896"/>
          </a:xfrm>
          <a:prstGeom prst="roundRect">
            <a:avLst>
              <a:gd name="adj" fmla="val 50000"/>
            </a:avLst>
          </a:prstGeom>
          <a:solidFill>
            <a:schemeClr val="accent3"/>
          </a:solidFill>
          <a:ln/>
        </p:spPr>
        <p:txBody>
          <a:bodyPr wrap="square" lIns="0" tIns="0" rIns="0" bIns="0" rtlCol="0" anchor="ctr"/>
          <a:lstStyle/>
          <a:p>
            <a:pPr algn="ctr" indent="0" marL="0">
              <a:buNone/>
            </a:pPr>
            <a:r>
              <a:rPr lang="en-US" sz="1100" b="1" spc="150" kern="0" dirty="0">
                <a:solidFill>
                  <a:schemeClr val="bg1"/>
                </a:solidFill>
              </a:rPr>
              <a:t>PRACTICAL</a:t>
            </a:r>
            <a:endParaRPr lang="en-US" sz="1100" dirty="0"/>
          </a:p>
        </p:txBody>
      </p:sp>
      <p:sp>
        <p:nvSpPr>
          <p:cNvPr id="3" name="Tag context"/>
          <p:cNvSpPr txBox="1"/>
          <p:nvPr/>
        </p:nvSpPr>
        <p:spPr>
          <a:xfrm>
            <a:off x="1869948" y="365760"/>
            <a:ext cx="9770364" cy="310896"/>
          </a:xfrm>
          <a:prstGeom prst="rect">
            <a:avLst/>
          </a:prstGeom>
          <a:noFill/>
          <a:ln/>
        </p:spPr>
        <p:txBody>
          <a:bodyPr wrap="square" lIns="0" tIns="0" rIns="0" bIns="0" rtlCol="0" anchor="ctr"/>
          <a:lstStyle/>
          <a:p>
            <a:pPr indent="0" marL="0">
              <a:buNone/>
            </a:pPr>
            <a:r>
              <a:rPr lang="en-US" sz="1300" dirty="0">
                <a:solidFill>
                  <a:schemeClr val="tx2"/>
                </a:solidFill>
              </a:rPr>
              <a:t>Steps 4–5</a:t>
            </a:r>
            <a:endParaRPr lang="en-US" sz="1300" dirty="0"/>
          </a:p>
        </p:txBody>
      </p:sp>
      <p:sp>
        <p:nvSpPr>
          <p:cNvPr id="4" name="Text 0"/>
          <p:cNvSpPr/>
          <p:nvPr>
            <p:ph idx="100" type="title" hasCustomPrompt="1"/>
          </p:nvPr>
        </p:nvSpPr>
        <p:spPr>
          <a:xfrm>
            <a:off x="548640" y="749808"/>
            <a:ext cx="11091672" cy="713232"/>
          </a:xfrm>
          <a:prstGeom prst="rect">
            <a:avLst/>
          </a:prstGeom>
          <a:noFill/>
          <a:ln/>
        </p:spPr>
        <p:txBody>
          <a:bodyPr wrap="square" lIns="0" tIns="0" rIns="0" bIns="0" rtlCol="0" anchor="ctr"/>
          <a:lstStyle/>
          <a:p>
            <a:pPr algn="l" indent="0" marL="0">
              <a:buNone/>
            </a:pPr>
            <a:r>
              <a:rPr lang="en-US" sz="3600" b="1" dirty="0">
                <a:solidFill>
                  <a:schemeClr val="tx1"/>
                </a:solidFill>
              </a:rPr>
              <a:t>Steps 4–5: Open the Project in VS Code</a:t>
            </a:r>
            <a:endParaRPr lang="en-US" sz="3600" dirty="0"/>
          </a:p>
        </p:txBody>
      </p:sp>
      <p:sp>
        <p:nvSpPr>
          <p:cNvPr id="5" name="Card"/>
          <p:cNvSpPr/>
          <p:nvPr/>
        </p:nvSpPr>
        <p:spPr>
          <a:xfrm>
            <a:off x="548640" y="1691640"/>
            <a:ext cx="4434840" cy="4480560"/>
          </a:xfrm>
          <a:prstGeom prst="roundRect">
            <a:avLst>
              <a:gd name="adj" fmla="val 2474"/>
            </a:avLst>
          </a:prstGeom>
          <a:solidFill>
            <a:schemeClr val="bg2"/>
          </a:solidFill>
          <a:ln/>
        </p:spPr>
      </p:sp>
      <p:sp>
        <p:nvSpPr>
          <p:cNvPr id="6" name="Number badge"/>
          <p:cNvSpPr/>
          <p:nvPr/>
        </p:nvSpPr>
        <p:spPr>
          <a:xfrm>
            <a:off x="777240" y="1920240"/>
            <a:ext cx="502920" cy="502920"/>
          </a:xfrm>
          <a:prstGeom prst="ellipse">
            <a:avLst/>
          </a:prstGeom>
          <a:solidFill>
            <a:schemeClr val="accent3"/>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7" name="Text 5"/>
          <p:cNvSpPr txBox="1"/>
          <p:nvPr/>
        </p:nvSpPr>
        <p:spPr>
          <a:xfrm>
            <a:off x="1463040" y="1920240"/>
            <a:ext cx="3383280" cy="502920"/>
          </a:xfrm>
          <a:prstGeom prst="rect">
            <a:avLst/>
          </a:prstGeom>
          <a:noFill/>
          <a:ln/>
        </p:spPr>
        <p:txBody>
          <a:bodyPr wrap="square" lIns="0" tIns="0" rIns="0" bIns="0" rtlCol="0" anchor="ctr"/>
          <a:lstStyle/>
          <a:p>
            <a:pPr indent="0" marL="0">
              <a:buNone/>
            </a:pPr>
            <a:r>
              <a:rPr lang="en-US" sz="1900" b="1" dirty="0">
                <a:solidFill>
                  <a:schemeClr val="tx1"/>
                </a:solidFill>
              </a:rPr>
              <a:t>Open the project</a:t>
            </a:r>
            <a:endParaRPr lang="en-US" sz="1900" dirty="0"/>
          </a:p>
        </p:txBody>
      </p:sp>
      <p:sp>
        <p:nvSpPr>
          <p:cNvPr id="8" name="Text 6"/>
          <p:cNvSpPr txBox="1"/>
          <p:nvPr/>
        </p:nvSpPr>
        <p:spPr>
          <a:xfrm>
            <a:off x="777240" y="2606040"/>
            <a:ext cx="4023360" cy="182880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500" dirty="0">
                <a:solidFill>
                  <a:schemeClr val="tx1"/>
                </a:solidFill>
              </a:rPr>
              <a:t>Open VS Code</a:t>
            </a:r>
            <a:endParaRPr lang="en-US" sz="1500" dirty="0"/>
          </a:p>
          <a:p>
            <a:pPr marL="342900" indent="-342900">
              <a:spcAft>
                <a:spcPts val="800"/>
              </a:spcAft>
              <a:buSzPct val="100000"/>
              <a:buFont typeface="+mj-lt"/>
              <a:buAutoNum type="arabicPeriod" startAt="1"/>
            </a:pPr>
            <a:r>
              <a:rPr lang="en-US" sz="1500" dirty="0">
                <a:solidFill>
                  <a:schemeClr val="tx1"/>
                </a:solidFill>
              </a:rPr>
              <a:t>File → Open Folder… → select the HelloWorld folder</a:t>
            </a:r>
            <a:endParaRPr lang="en-US" sz="1500" dirty="0"/>
          </a:p>
          <a:p>
            <a:pPr marL="342900" indent="-342900">
              <a:spcAft>
                <a:spcPts val="800"/>
              </a:spcAft>
              <a:buSzPct val="100000"/>
              <a:buFont typeface="+mj-lt"/>
              <a:buAutoNum type="arabicPeriod" startAt="1"/>
            </a:pPr>
            <a:r>
              <a:rPr lang="en-US" sz="1500" dirty="0">
                <a:solidFill>
                  <a:schemeClr val="tx1"/>
                </a:solidFill>
              </a:rPr>
              <a:t>Terminal → New Terminal to get a terminal inside VS Code</a:t>
            </a:r>
            <a:endParaRPr lang="en-US" sz="1500" dirty="0"/>
          </a:p>
        </p:txBody>
      </p:sp>
      <p:sp>
        <p:nvSpPr>
          <p:cNvPr id="9" name="Card"/>
          <p:cNvSpPr/>
          <p:nvPr/>
        </p:nvSpPr>
        <p:spPr>
          <a:xfrm>
            <a:off x="777240" y="4800600"/>
            <a:ext cx="3977640" cy="1143000"/>
          </a:xfrm>
          <a:prstGeom prst="roundRect">
            <a:avLst>
              <a:gd name="adj" fmla="val 9600"/>
            </a:avLst>
          </a:prstGeom>
          <a:solidFill>
            <a:schemeClr val="bg1"/>
          </a:solidFill>
          <a:ln w="15875">
            <a:solidFill>
              <a:schemeClr val="accent6"/>
            </a:solidFill>
            <a:prstDash val="solid"/>
          </a:ln>
        </p:spPr>
      </p:sp>
      <p:pic>
        <p:nvPicPr>
          <p:cNvPr id="10" name="Tip icon" descr="tip">    </p:cNvPr>
          <p:cNvPicPr>
            <a:picLocks noChangeAspect="1"/>
          </p:cNvPicPr>
          <p:nvPr/>
        </p:nvPicPr>
        <p:blipFill>
          <a:blip r:embed="rId1"/>
          <a:stretch>
            <a:fillRect/>
          </a:stretch>
        </p:blipFill>
        <p:spPr>
          <a:xfrm>
            <a:off x="960120" y="4956048"/>
            <a:ext cx="274320" cy="274320"/>
          </a:xfrm>
          <a:prstGeom prst="rect">
            <a:avLst/>
          </a:prstGeom>
        </p:spPr>
      </p:pic>
      <p:sp>
        <p:nvSpPr>
          <p:cNvPr id="11" name="Text 8"/>
          <p:cNvSpPr txBox="1"/>
          <p:nvPr/>
        </p:nvSpPr>
        <p:spPr>
          <a:xfrm>
            <a:off x="1325880" y="4910328"/>
            <a:ext cx="3291840" cy="960120"/>
          </a:xfrm>
          <a:prstGeom prst="rect">
            <a:avLst/>
          </a:prstGeom>
          <a:noFill/>
          <a:ln/>
        </p:spPr>
        <p:txBody>
          <a:bodyPr wrap="square" lIns="0" tIns="0" rIns="0" bIns="0" rtlCol="0" anchor="t"/>
          <a:lstStyle/>
          <a:p>
            <a:pPr indent="0" marL="0">
              <a:buNone/>
            </a:pPr>
            <a:r>
              <a:rPr lang="en-US" sz="1300" b="1" dirty="0">
                <a:solidFill>
                  <a:schemeClr val="tx1"/>
                </a:solidFill>
              </a:rPr>
              <a:t>Shortcut: </a:t>
            </a:r>
            <a:r>
              <a:rPr lang="en-US" sz="1300" dirty="0">
                <a:solidFill>
                  <a:schemeClr val="tx1"/>
                </a:solidFill>
              </a:rPr>
              <a:t>in a terminal inside the HelloWorld folder, type </a:t>
            </a:r>
            <a:r>
              <a:rPr lang="en-US" sz="1300" dirty="0">
                <a:solidFill>
                  <a:schemeClr val="accent5"/>
                </a:solidFill>
                <a:latin typeface="Consolas" pitchFamily="34" charset="0"/>
                <a:ea typeface="Consolas" pitchFamily="34" charset="-122"/>
                <a:cs typeface="Consolas" pitchFamily="34" charset="-120"/>
              </a:rPr>
              <a:t>code .</a:t>
            </a:r>
            <a:r>
              <a:rPr lang="en-US" sz="1300" dirty="0">
                <a:solidFill>
                  <a:schemeClr val="tx1"/>
                </a:solidFill>
              </a:rPr>
              <a:t> to open it in VS Code (if the </a:t>
            </a:r>
            <a:r>
              <a:rPr lang="en-US" sz="1300" dirty="0">
                <a:solidFill>
                  <a:schemeClr val="accent5"/>
                </a:solidFill>
                <a:latin typeface="Consolas" pitchFamily="34" charset="0"/>
                <a:ea typeface="Consolas" pitchFamily="34" charset="-122"/>
                <a:cs typeface="Consolas" pitchFamily="34" charset="-120"/>
              </a:rPr>
              <a:t>code</a:t>
            </a:r>
            <a:r>
              <a:rPr lang="en-US" sz="1300" dirty="0">
                <a:solidFill>
                  <a:schemeClr val="tx1"/>
                </a:solidFill>
              </a:rPr>
              <a:t> command is set up).</a:t>
            </a:r>
            <a:endParaRPr lang="en-US" sz="1300" dirty="0"/>
          </a:p>
        </p:txBody>
      </p:sp>
      <p:sp>
        <p:nvSpPr>
          <p:cNvPr id="12" name="Number badge"/>
          <p:cNvSpPr/>
          <p:nvPr/>
        </p:nvSpPr>
        <p:spPr>
          <a:xfrm>
            <a:off x="5303520" y="1691640"/>
            <a:ext cx="502920" cy="502920"/>
          </a:xfrm>
          <a:prstGeom prst="ellipse">
            <a:avLst/>
          </a:prstGeom>
          <a:solidFill>
            <a:schemeClr val="accent3"/>
          </a:solid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13" name="Text 10"/>
          <p:cNvSpPr txBox="1"/>
          <p:nvPr/>
        </p:nvSpPr>
        <p:spPr>
          <a:xfrm>
            <a:off x="5989320" y="1691640"/>
            <a:ext cx="5577840" cy="502920"/>
          </a:xfrm>
          <a:prstGeom prst="rect">
            <a:avLst/>
          </a:prstGeom>
          <a:noFill/>
          <a:ln/>
        </p:spPr>
        <p:txBody>
          <a:bodyPr wrap="square" lIns="0" tIns="0" rIns="0" bIns="0" rtlCol="0" anchor="ctr"/>
          <a:lstStyle/>
          <a:p>
            <a:pPr indent="0" marL="0">
              <a:buNone/>
            </a:pPr>
            <a:r>
              <a:rPr lang="en-US" sz="1900" b="1" dirty="0">
                <a:solidFill>
                  <a:schemeClr val="tx1"/>
                </a:solidFill>
              </a:rPr>
              <a:t>Know your project files</a:t>
            </a:r>
            <a:endParaRPr lang="en-US" sz="1900" dirty="0"/>
          </a:p>
        </p:txBody>
      </p:sp>
      <p:sp>
        <p:nvSpPr>
          <p:cNvPr id="14" name="File row"/>
          <p:cNvSpPr/>
          <p:nvPr/>
        </p:nvSpPr>
        <p:spPr>
          <a:xfrm>
            <a:off x="5303520" y="2286000"/>
            <a:ext cx="6336792" cy="457200"/>
          </a:xfrm>
          <a:prstGeom prst="roundRect">
            <a:avLst>
              <a:gd name="adj" fmla="val 16000"/>
            </a:avLst>
          </a:prstGeom>
          <a:solidFill>
            <a:schemeClr val="accent3"/>
          </a:solidFill>
          <a:ln/>
        </p:spPr>
      </p:sp>
      <p:sp>
        <p:nvSpPr>
          <p:cNvPr id="15" name="Text 12"/>
          <p:cNvSpPr txBox="1"/>
          <p:nvPr/>
        </p:nvSpPr>
        <p:spPr>
          <a:xfrm>
            <a:off x="5486400" y="2286000"/>
            <a:ext cx="2514600" cy="457200"/>
          </a:xfrm>
          <a:prstGeom prst="rect">
            <a:avLst/>
          </a:prstGeom>
          <a:noFill/>
          <a:ln/>
        </p:spPr>
        <p:txBody>
          <a:bodyPr wrap="square" lIns="0" tIns="0" rIns="0" bIns="0" rtlCol="0" anchor="ctr"/>
          <a:lstStyle/>
          <a:p>
            <a:pPr indent="0" marL="0">
              <a:buNone/>
            </a:pPr>
            <a:r>
              <a:rPr lang="en-US" sz="1400" b="1" dirty="0">
                <a:solidFill>
                  <a:schemeClr val="bg1"/>
                </a:solidFill>
                <a:latin typeface="Consolas" pitchFamily="34" charset="0"/>
                <a:ea typeface="Consolas" pitchFamily="34" charset="-122"/>
                <a:cs typeface="Consolas" pitchFamily="34" charset="-120"/>
              </a:rPr>
              <a:t>src/app/index.tsx</a:t>
            </a:r>
            <a:endParaRPr lang="en-US" sz="1400" dirty="0"/>
          </a:p>
        </p:txBody>
      </p:sp>
      <p:sp>
        <p:nvSpPr>
          <p:cNvPr id="16" name="Text 13"/>
          <p:cNvSpPr txBox="1"/>
          <p:nvPr/>
        </p:nvSpPr>
        <p:spPr>
          <a:xfrm>
            <a:off x="8046720" y="2286000"/>
            <a:ext cx="3520440" cy="457200"/>
          </a:xfrm>
          <a:prstGeom prst="rect">
            <a:avLst/>
          </a:prstGeom>
          <a:noFill/>
          <a:ln/>
        </p:spPr>
        <p:txBody>
          <a:bodyPr wrap="square" lIns="0" tIns="0" rIns="0" bIns="0" rtlCol="0" anchor="ctr"/>
          <a:lstStyle/>
          <a:p>
            <a:pPr indent="0" marL="0">
              <a:buNone/>
            </a:pPr>
            <a:r>
              <a:rPr lang="en-US" sz="1400" b="1" dirty="0">
                <a:solidFill>
                  <a:schemeClr val="bg1"/>
                </a:solidFill>
              </a:rPr>
              <a:t>Your home screen. We edit this file.</a:t>
            </a:r>
            <a:endParaRPr lang="en-US" sz="1400" dirty="0"/>
          </a:p>
        </p:txBody>
      </p:sp>
      <p:sp>
        <p:nvSpPr>
          <p:cNvPr id="17" name="File row"/>
          <p:cNvSpPr/>
          <p:nvPr/>
        </p:nvSpPr>
        <p:spPr>
          <a:xfrm>
            <a:off x="5303520" y="2807208"/>
            <a:ext cx="6336792" cy="457200"/>
          </a:xfrm>
          <a:prstGeom prst="roundRect">
            <a:avLst>
              <a:gd name="adj" fmla="val 16000"/>
            </a:avLst>
          </a:prstGeom>
          <a:solidFill>
            <a:schemeClr val="bg2"/>
          </a:solidFill>
          <a:ln/>
        </p:spPr>
      </p:sp>
      <p:sp>
        <p:nvSpPr>
          <p:cNvPr id="18" name="Text 15"/>
          <p:cNvSpPr txBox="1"/>
          <p:nvPr/>
        </p:nvSpPr>
        <p:spPr>
          <a:xfrm>
            <a:off x="5486400" y="2807208"/>
            <a:ext cx="2514600" cy="457200"/>
          </a:xfrm>
          <a:prstGeom prst="rect">
            <a:avLst/>
          </a:prstGeom>
          <a:noFill/>
          <a:ln/>
        </p:spPr>
        <p:txBody>
          <a:bodyPr wrap="square" lIns="0" tIns="0" rIns="0" bIns="0" rtlCol="0" anchor="ctr"/>
          <a:lstStyle/>
          <a:p>
            <a:pPr indent="0" marL="0">
              <a:buNone/>
            </a:pPr>
            <a:r>
              <a:rPr lang="en-US" sz="1400" b="1" dirty="0">
                <a:solidFill>
                  <a:schemeClr val="accent5"/>
                </a:solidFill>
                <a:latin typeface="Consolas" pitchFamily="34" charset="0"/>
                <a:ea typeface="Consolas" pitchFamily="34" charset="-122"/>
                <a:cs typeface="Consolas" pitchFamily="34" charset="-120"/>
              </a:rPr>
              <a:t>src/app/_layout.tsx</a:t>
            </a:r>
            <a:endParaRPr lang="en-US" sz="1400" dirty="0"/>
          </a:p>
        </p:txBody>
      </p:sp>
      <p:sp>
        <p:nvSpPr>
          <p:cNvPr id="19" name="Text 16"/>
          <p:cNvSpPr txBox="1"/>
          <p:nvPr/>
        </p:nvSpPr>
        <p:spPr>
          <a:xfrm>
            <a:off x="8046720" y="2807208"/>
            <a:ext cx="3520440" cy="457200"/>
          </a:xfrm>
          <a:prstGeom prst="rect">
            <a:avLst/>
          </a:prstGeom>
          <a:noFill/>
          <a:ln/>
        </p:spPr>
        <p:txBody>
          <a:bodyPr wrap="square" lIns="0" tIns="0" rIns="0" bIns="0" rtlCol="0" anchor="ctr"/>
          <a:lstStyle/>
          <a:p>
            <a:pPr indent="0" marL="0">
              <a:buNone/>
            </a:pPr>
            <a:r>
              <a:rPr lang="en-US" sz="1400" dirty="0">
                <a:solidFill>
                  <a:schemeClr val="tx1"/>
                </a:solidFill>
              </a:rPr>
              <a:t>Wraps all screens (navigation). Leave it as it is.</a:t>
            </a:r>
            <a:endParaRPr lang="en-US" sz="1400" dirty="0"/>
          </a:p>
        </p:txBody>
      </p:sp>
      <p:sp>
        <p:nvSpPr>
          <p:cNvPr id="20" name="File row"/>
          <p:cNvSpPr/>
          <p:nvPr/>
        </p:nvSpPr>
        <p:spPr>
          <a:xfrm>
            <a:off x="5303520" y="3328416"/>
            <a:ext cx="6336792" cy="457200"/>
          </a:xfrm>
          <a:prstGeom prst="roundRect">
            <a:avLst>
              <a:gd name="adj" fmla="val 16000"/>
            </a:avLst>
          </a:prstGeom>
          <a:solidFill>
            <a:schemeClr val="bg2"/>
          </a:solidFill>
          <a:ln/>
        </p:spPr>
      </p:sp>
      <p:sp>
        <p:nvSpPr>
          <p:cNvPr id="21" name="Text 18"/>
          <p:cNvSpPr txBox="1"/>
          <p:nvPr/>
        </p:nvSpPr>
        <p:spPr>
          <a:xfrm>
            <a:off x="5486400" y="3328416"/>
            <a:ext cx="2514600" cy="457200"/>
          </a:xfrm>
          <a:prstGeom prst="rect">
            <a:avLst/>
          </a:prstGeom>
          <a:noFill/>
          <a:ln/>
        </p:spPr>
        <p:txBody>
          <a:bodyPr wrap="square" lIns="0" tIns="0" rIns="0" bIns="0" rtlCol="0" anchor="ctr"/>
          <a:lstStyle/>
          <a:p>
            <a:pPr indent="0" marL="0">
              <a:buNone/>
            </a:pPr>
            <a:r>
              <a:rPr lang="en-US" sz="1400" b="1" dirty="0">
                <a:solidFill>
                  <a:schemeClr val="accent5"/>
                </a:solidFill>
                <a:latin typeface="Consolas" pitchFamily="34" charset="0"/>
                <a:ea typeface="Consolas" pitchFamily="34" charset="-122"/>
                <a:cs typeface="Consolas" pitchFamily="34" charset="-120"/>
              </a:rPr>
              <a:t>assets/</a:t>
            </a:r>
            <a:endParaRPr lang="en-US" sz="1400" dirty="0"/>
          </a:p>
        </p:txBody>
      </p:sp>
      <p:sp>
        <p:nvSpPr>
          <p:cNvPr id="22" name="Text 19"/>
          <p:cNvSpPr txBox="1"/>
          <p:nvPr/>
        </p:nvSpPr>
        <p:spPr>
          <a:xfrm>
            <a:off x="8046720" y="3328416"/>
            <a:ext cx="3520440" cy="457200"/>
          </a:xfrm>
          <a:prstGeom prst="rect">
            <a:avLst/>
          </a:prstGeom>
          <a:noFill/>
          <a:ln/>
        </p:spPr>
        <p:txBody>
          <a:bodyPr wrap="square" lIns="0" tIns="0" rIns="0" bIns="0" rtlCol="0" anchor="ctr"/>
          <a:lstStyle/>
          <a:p>
            <a:pPr indent="0" marL="0">
              <a:buNone/>
            </a:pPr>
            <a:r>
              <a:rPr lang="en-US" sz="1400" dirty="0">
                <a:solidFill>
                  <a:schemeClr val="tx1"/>
                </a:solidFill>
              </a:rPr>
              <a:t>Images, app icon, and splash screen.</a:t>
            </a:r>
            <a:endParaRPr lang="en-US" sz="1400" dirty="0"/>
          </a:p>
        </p:txBody>
      </p:sp>
      <p:sp>
        <p:nvSpPr>
          <p:cNvPr id="23" name="File row"/>
          <p:cNvSpPr/>
          <p:nvPr/>
        </p:nvSpPr>
        <p:spPr>
          <a:xfrm>
            <a:off x="5303520" y="3849624"/>
            <a:ext cx="6336792" cy="457200"/>
          </a:xfrm>
          <a:prstGeom prst="roundRect">
            <a:avLst>
              <a:gd name="adj" fmla="val 16000"/>
            </a:avLst>
          </a:prstGeom>
          <a:solidFill>
            <a:schemeClr val="bg2"/>
          </a:solidFill>
          <a:ln/>
        </p:spPr>
      </p:sp>
      <p:sp>
        <p:nvSpPr>
          <p:cNvPr id="24" name="Text 21"/>
          <p:cNvSpPr txBox="1"/>
          <p:nvPr/>
        </p:nvSpPr>
        <p:spPr>
          <a:xfrm>
            <a:off x="5486400" y="3849624"/>
            <a:ext cx="2514600" cy="457200"/>
          </a:xfrm>
          <a:prstGeom prst="rect">
            <a:avLst/>
          </a:prstGeom>
          <a:noFill/>
          <a:ln/>
        </p:spPr>
        <p:txBody>
          <a:bodyPr wrap="square" lIns="0" tIns="0" rIns="0" bIns="0" rtlCol="0" anchor="ctr"/>
          <a:lstStyle/>
          <a:p>
            <a:pPr indent="0" marL="0">
              <a:buNone/>
            </a:pPr>
            <a:r>
              <a:rPr lang="en-US" sz="1400" b="1" dirty="0">
                <a:solidFill>
                  <a:schemeClr val="accent5"/>
                </a:solidFill>
                <a:latin typeface="Consolas" pitchFamily="34" charset="0"/>
                <a:ea typeface="Consolas" pitchFamily="34" charset="-122"/>
                <a:cs typeface="Consolas" pitchFamily="34" charset="-120"/>
              </a:rPr>
              <a:t>app.json</a:t>
            </a:r>
            <a:endParaRPr lang="en-US" sz="1400" dirty="0"/>
          </a:p>
        </p:txBody>
      </p:sp>
      <p:sp>
        <p:nvSpPr>
          <p:cNvPr id="25" name="Text 22"/>
          <p:cNvSpPr txBox="1"/>
          <p:nvPr/>
        </p:nvSpPr>
        <p:spPr>
          <a:xfrm>
            <a:off x="8046720" y="3849624"/>
            <a:ext cx="3520440" cy="457200"/>
          </a:xfrm>
          <a:prstGeom prst="rect">
            <a:avLst/>
          </a:prstGeom>
          <a:noFill/>
          <a:ln/>
        </p:spPr>
        <p:txBody>
          <a:bodyPr wrap="square" lIns="0" tIns="0" rIns="0" bIns="0" rtlCol="0" anchor="ctr"/>
          <a:lstStyle/>
          <a:p>
            <a:pPr indent="0" marL="0">
              <a:buNone/>
            </a:pPr>
            <a:r>
              <a:rPr lang="en-US" sz="1400" dirty="0">
                <a:solidFill>
                  <a:schemeClr val="tx1"/>
                </a:solidFill>
              </a:rPr>
              <a:t>App name, icon, and settings.</a:t>
            </a:r>
            <a:endParaRPr lang="en-US" sz="1400" dirty="0"/>
          </a:p>
        </p:txBody>
      </p:sp>
      <p:sp>
        <p:nvSpPr>
          <p:cNvPr id="26" name="File row"/>
          <p:cNvSpPr/>
          <p:nvPr/>
        </p:nvSpPr>
        <p:spPr>
          <a:xfrm>
            <a:off x="5303520" y="4370832"/>
            <a:ext cx="6336792" cy="457200"/>
          </a:xfrm>
          <a:prstGeom prst="roundRect">
            <a:avLst>
              <a:gd name="adj" fmla="val 16000"/>
            </a:avLst>
          </a:prstGeom>
          <a:solidFill>
            <a:schemeClr val="bg2"/>
          </a:solidFill>
          <a:ln/>
        </p:spPr>
      </p:sp>
      <p:sp>
        <p:nvSpPr>
          <p:cNvPr id="27" name="Text 24"/>
          <p:cNvSpPr txBox="1"/>
          <p:nvPr/>
        </p:nvSpPr>
        <p:spPr>
          <a:xfrm>
            <a:off x="5486400" y="4370832"/>
            <a:ext cx="2514600" cy="457200"/>
          </a:xfrm>
          <a:prstGeom prst="rect">
            <a:avLst/>
          </a:prstGeom>
          <a:noFill/>
          <a:ln/>
        </p:spPr>
        <p:txBody>
          <a:bodyPr wrap="square" lIns="0" tIns="0" rIns="0" bIns="0" rtlCol="0" anchor="ctr"/>
          <a:lstStyle/>
          <a:p>
            <a:pPr indent="0" marL="0">
              <a:buNone/>
            </a:pPr>
            <a:r>
              <a:rPr lang="en-US" sz="1400" b="1" dirty="0">
                <a:solidFill>
                  <a:schemeClr val="accent5"/>
                </a:solidFill>
                <a:latin typeface="Consolas" pitchFamily="34" charset="0"/>
                <a:ea typeface="Consolas" pitchFamily="34" charset="-122"/>
                <a:cs typeface="Consolas" pitchFamily="34" charset="-120"/>
              </a:rPr>
              <a:t>package.json</a:t>
            </a:r>
            <a:endParaRPr lang="en-US" sz="1400" dirty="0"/>
          </a:p>
        </p:txBody>
      </p:sp>
      <p:sp>
        <p:nvSpPr>
          <p:cNvPr id="28" name="Text 25"/>
          <p:cNvSpPr txBox="1"/>
          <p:nvPr/>
        </p:nvSpPr>
        <p:spPr>
          <a:xfrm>
            <a:off x="8046720" y="4370832"/>
            <a:ext cx="3520440" cy="457200"/>
          </a:xfrm>
          <a:prstGeom prst="rect">
            <a:avLst/>
          </a:prstGeom>
          <a:noFill/>
          <a:ln/>
        </p:spPr>
        <p:txBody>
          <a:bodyPr wrap="square" lIns="0" tIns="0" rIns="0" bIns="0" rtlCol="0" anchor="ctr"/>
          <a:lstStyle/>
          <a:p>
            <a:pPr indent="0" marL="0">
              <a:buNone/>
            </a:pPr>
            <a:r>
              <a:rPr lang="en-US" sz="1400" dirty="0">
                <a:solidFill>
                  <a:schemeClr val="tx1"/>
                </a:solidFill>
              </a:rPr>
              <a:t>Project info, scripts, and the package list.</a:t>
            </a:r>
            <a:endParaRPr lang="en-US" sz="1400" dirty="0"/>
          </a:p>
        </p:txBody>
      </p:sp>
      <p:sp>
        <p:nvSpPr>
          <p:cNvPr id="29" name="File row"/>
          <p:cNvSpPr/>
          <p:nvPr/>
        </p:nvSpPr>
        <p:spPr>
          <a:xfrm>
            <a:off x="5303520" y="4892040"/>
            <a:ext cx="6336792" cy="457200"/>
          </a:xfrm>
          <a:prstGeom prst="roundRect">
            <a:avLst>
              <a:gd name="adj" fmla="val 16000"/>
            </a:avLst>
          </a:prstGeom>
          <a:solidFill>
            <a:schemeClr val="bg2"/>
          </a:solidFill>
          <a:ln/>
        </p:spPr>
      </p:sp>
      <p:sp>
        <p:nvSpPr>
          <p:cNvPr id="30" name="Text 27"/>
          <p:cNvSpPr txBox="1"/>
          <p:nvPr/>
        </p:nvSpPr>
        <p:spPr>
          <a:xfrm>
            <a:off x="5486400" y="4892040"/>
            <a:ext cx="2514600" cy="457200"/>
          </a:xfrm>
          <a:prstGeom prst="rect">
            <a:avLst/>
          </a:prstGeom>
          <a:noFill/>
          <a:ln/>
        </p:spPr>
        <p:txBody>
          <a:bodyPr wrap="square" lIns="0" tIns="0" rIns="0" bIns="0" rtlCol="0" anchor="ctr"/>
          <a:lstStyle/>
          <a:p>
            <a:pPr indent="0" marL="0">
              <a:buNone/>
            </a:pPr>
            <a:r>
              <a:rPr lang="en-US" sz="1400" b="1" dirty="0">
                <a:solidFill>
                  <a:schemeClr val="accent5"/>
                </a:solidFill>
                <a:latin typeface="Consolas" pitchFamily="34" charset="0"/>
                <a:ea typeface="Consolas" pitchFamily="34" charset="-122"/>
                <a:cs typeface="Consolas" pitchFamily="34" charset="-120"/>
              </a:rPr>
              <a:t>node_modules/</a:t>
            </a:r>
            <a:endParaRPr lang="en-US" sz="1400" dirty="0"/>
          </a:p>
        </p:txBody>
      </p:sp>
      <p:sp>
        <p:nvSpPr>
          <p:cNvPr id="31" name="Text 28"/>
          <p:cNvSpPr txBox="1"/>
          <p:nvPr/>
        </p:nvSpPr>
        <p:spPr>
          <a:xfrm>
            <a:off x="8046720" y="4892040"/>
            <a:ext cx="3520440" cy="457200"/>
          </a:xfrm>
          <a:prstGeom prst="rect">
            <a:avLst/>
          </a:prstGeom>
          <a:noFill/>
          <a:ln/>
        </p:spPr>
        <p:txBody>
          <a:bodyPr wrap="square" lIns="0" tIns="0" rIns="0" bIns="0" rtlCol="0" anchor="ctr"/>
          <a:lstStyle/>
          <a:p>
            <a:pPr indent="0" marL="0">
              <a:buNone/>
            </a:pPr>
            <a:r>
              <a:rPr lang="en-US" sz="1400" dirty="0">
                <a:solidFill>
                  <a:schemeClr val="tx1"/>
                </a:solidFill>
              </a:rPr>
              <a:t>Installed packages. Never edit these.</a:t>
            </a:r>
            <a:endParaRPr lang="en-US" sz="1400" dirty="0"/>
          </a:p>
        </p:txBody>
      </p:sp>
      <p:sp>
        <p:nvSpPr>
          <p:cNvPr id="32" name="File row"/>
          <p:cNvSpPr/>
          <p:nvPr/>
        </p:nvSpPr>
        <p:spPr>
          <a:xfrm>
            <a:off x="5303520" y="5413248"/>
            <a:ext cx="6336792" cy="457200"/>
          </a:xfrm>
          <a:prstGeom prst="roundRect">
            <a:avLst>
              <a:gd name="adj" fmla="val 16000"/>
            </a:avLst>
          </a:prstGeom>
          <a:solidFill>
            <a:schemeClr val="bg2"/>
          </a:solidFill>
          <a:ln/>
        </p:spPr>
      </p:sp>
      <p:sp>
        <p:nvSpPr>
          <p:cNvPr id="33" name="Text 30"/>
          <p:cNvSpPr txBox="1"/>
          <p:nvPr/>
        </p:nvSpPr>
        <p:spPr>
          <a:xfrm>
            <a:off x="5486400" y="5413248"/>
            <a:ext cx="2514600" cy="457200"/>
          </a:xfrm>
          <a:prstGeom prst="rect">
            <a:avLst/>
          </a:prstGeom>
          <a:noFill/>
          <a:ln/>
        </p:spPr>
        <p:txBody>
          <a:bodyPr wrap="square" lIns="0" tIns="0" rIns="0" bIns="0" rtlCol="0" anchor="ctr"/>
          <a:lstStyle/>
          <a:p>
            <a:pPr indent="0" marL="0">
              <a:buNone/>
            </a:pPr>
            <a:r>
              <a:rPr lang="en-US" sz="1400" b="1" dirty="0">
                <a:solidFill>
                  <a:schemeClr val="accent5"/>
                </a:solidFill>
                <a:latin typeface="Consolas" pitchFamily="34" charset="0"/>
                <a:ea typeface="Consolas" pitchFamily="34" charset="-122"/>
                <a:cs typeface="Consolas" pitchFamily="34" charset="-120"/>
              </a:rPr>
              <a:t>tsconfig.json</a:t>
            </a:r>
            <a:endParaRPr lang="en-US" sz="1400" dirty="0"/>
          </a:p>
        </p:txBody>
      </p:sp>
      <p:sp>
        <p:nvSpPr>
          <p:cNvPr id="34" name="Text 31"/>
          <p:cNvSpPr txBox="1"/>
          <p:nvPr/>
        </p:nvSpPr>
        <p:spPr>
          <a:xfrm>
            <a:off x="8046720" y="5413248"/>
            <a:ext cx="3520440" cy="457200"/>
          </a:xfrm>
          <a:prstGeom prst="rect">
            <a:avLst/>
          </a:prstGeom>
          <a:noFill/>
          <a:ln/>
        </p:spPr>
        <p:txBody>
          <a:bodyPr wrap="square" lIns="0" tIns="0" rIns="0" bIns="0" rtlCol="0" anchor="ctr"/>
          <a:lstStyle/>
          <a:p>
            <a:pPr indent="0" marL="0">
              <a:buNone/>
            </a:pPr>
            <a:r>
              <a:rPr lang="en-US" sz="1400" dirty="0">
                <a:solidFill>
                  <a:schemeClr val="tx1"/>
                </a:solidFill>
              </a:rPr>
              <a:t>TypeScript settings.</a:t>
            </a:r>
            <a:endParaRPr lang="en-US" sz="1400" dirty="0"/>
          </a:p>
        </p:txBody>
      </p:sp>
      <p:sp>
        <p:nvSpPr>
          <p:cNvPr id="35" name="Text 32"/>
          <p:cNvSpPr txBox="1"/>
          <p:nvPr/>
        </p:nvSpPr>
        <p:spPr>
          <a:xfrm>
            <a:off x="5303520" y="5943600"/>
            <a:ext cx="6336792" cy="365760"/>
          </a:xfrm>
          <a:prstGeom prst="rect">
            <a:avLst/>
          </a:prstGeom>
          <a:noFill/>
          <a:ln/>
        </p:spPr>
        <p:txBody>
          <a:bodyPr wrap="square" lIns="0" tIns="0" rIns="0" bIns="0" rtlCol="0" anchor="t"/>
          <a:lstStyle/>
          <a:p>
            <a:pPr indent="0" marL="0">
              <a:buNone/>
            </a:pPr>
            <a:r>
              <a:rPr lang="en-US" sz="1200" dirty="0">
                <a:solidFill>
                  <a:schemeClr val="accent5"/>
                </a:solidFill>
                <a:latin typeface="Consolas" pitchFamily="34" charset="0"/>
                <a:ea typeface="Consolas" pitchFamily="34" charset="-122"/>
                <a:cs typeface="Consolas" pitchFamily="34" charset="-120"/>
              </a:rPr>
              <a:t>.tsx</a:t>
            </a:r>
            <a:r>
              <a:rPr lang="en-US" sz="1200" dirty="0">
                <a:solidFill>
                  <a:schemeClr val="tx2"/>
                </a:solidFill>
              </a:rPr>
              <a:t> = TypeScript + JSX. Today's code looks just like JavaScript. Ignore other files (README.md, AGENTS.md) for now.</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ection tag"/>
          <p:cNvSpPr/>
          <p:nvPr/>
        </p:nvSpPr>
        <p:spPr>
          <a:xfrm>
            <a:off x="548640" y="365760"/>
            <a:ext cx="1138428" cy="310896"/>
          </a:xfrm>
          <a:prstGeom prst="roundRect">
            <a:avLst>
              <a:gd name="adj" fmla="val 50000"/>
            </a:avLst>
          </a:prstGeom>
          <a:solidFill>
            <a:schemeClr val="accent3"/>
          </a:solidFill>
          <a:ln/>
        </p:spPr>
        <p:txBody>
          <a:bodyPr wrap="square" lIns="0" tIns="0" rIns="0" bIns="0" rtlCol="0" anchor="ctr"/>
          <a:lstStyle/>
          <a:p>
            <a:pPr algn="ctr" indent="0" marL="0">
              <a:buNone/>
            </a:pPr>
            <a:r>
              <a:rPr lang="en-US" sz="1100" b="1" spc="150" kern="0" dirty="0">
                <a:solidFill>
                  <a:schemeClr val="bg1"/>
                </a:solidFill>
              </a:rPr>
              <a:t>PRACTICAL</a:t>
            </a:r>
            <a:endParaRPr lang="en-US" sz="1100" dirty="0"/>
          </a:p>
        </p:txBody>
      </p:sp>
      <p:sp>
        <p:nvSpPr>
          <p:cNvPr id="3" name="Tag context"/>
          <p:cNvSpPr txBox="1"/>
          <p:nvPr/>
        </p:nvSpPr>
        <p:spPr>
          <a:xfrm>
            <a:off x="1869948" y="365760"/>
            <a:ext cx="9770364" cy="310896"/>
          </a:xfrm>
          <a:prstGeom prst="rect">
            <a:avLst/>
          </a:prstGeom>
          <a:noFill/>
          <a:ln/>
        </p:spPr>
        <p:txBody>
          <a:bodyPr wrap="square" lIns="0" tIns="0" rIns="0" bIns="0" rtlCol="0" anchor="ctr"/>
          <a:lstStyle/>
          <a:p>
            <a:pPr indent="0" marL="0">
              <a:buNone/>
            </a:pPr>
            <a:r>
              <a:rPr lang="en-US" sz="1300" dirty="0">
                <a:solidFill>
                  <a:schemeClr val="tx2"/>
                </a:solidFill>
              </a:rPr>
              <a:t>Step 6 · Run this inside the HelloWorld folder</a:t>
            </a:r>
            <a:endParaRPr lang="en-US" sz="1300" dirty="0"/>
          </a:p>
        </p:txBody>
      </p:sp>
      <p:sp>
        <p:nvSpPr>
          <p:cNvPr id="4" name="Text 0"/>
          <p:cNvSpPr/>
          <p:nvPr>
            <p:ph idx="100" type="title" hasCustomPrompt="1"/>
          </p:nvPr>
        </p:nvSpPr>
        <p:spPr>
          <a:xfrm>
            <a:off x="548640" y="749808"/>
            <a:ext cx="11091672" cy="713232"/>
          </a:xfrm>
          <a:prstGeom prst="rect">
            <a:avLst/>
          </a:prstGeom>
          <a:noFill/>
          <a:ln/>
        </p:spPr>
        <p:txBody>
          <a:bodyPr wrap="square" lIns="0" tIns="0" rIns="0" bIns="0" rtlCol="0" anchor="ctr"/>
          <a:lstStyle/>
          <a:p>
            <a:pPr algn="l" indent="0" marL="0">
              <a:buNone/>
            </a:pPr>
            <a:r>
              <a:rPr lang="en-US" sz="3600" b="1" dirty="0">
                <a:solidFill>
                  <a:schemeClr val="tx1"/>
                </a:solidFill>
              </a:rPr>
              <a:t>Step 6: Run Your App</a:t>
            </a:r>
            <a:endParaRPr lang="en-US" sz="3600" dirty="0"/>
          </a:p>
        </p:txBody>
      </p:sp>
      <p:sp>
        <p:nvSpPr>
          <p:cNvPr id="5" name="Terminal"/>
          <p:cNvSpPr/>
          <p:nvPr/>
        </p:nvSpPr>
        <p:spPr>
          <a:xfrm>
            <a:off x="548640" y="1645920"/>
            <a:ext cx="11091672" cy="1024128"/>
          </a:xfrm>
          <a:prstGeom prst="roundRect">
            <a:avLst>
              <a:gd name="adj" fmla="val 8929"/>
            </a:avLst>
          </a:prstGeom>
          <a:solidFill>
            <a:schemeClr val="tx1"/>
          </a:solidFill>
          <a:ln/>
        </p:spPr>
      </p:sp>
      <p:sp>
        <p:nvSpPr>
          <p:cNvPr id="6" name="Terminal dot"/>
          <p:cNvSpPr/>
          <p:nvPr/>
        </p:nvSpPr>
        <p:spPr>
          <a:xfrm>
            <a:off x="731520" y="1792224"/>
            <a:ext cx="118872" cy="118872"/>
          </a:xfrm>
          <a:prstGeom prst="ellipse">
            <a:avLst/>
          </a:prstGeom>
          <a:solidFill>
            <a:schemeClr val="accent4"/>
          </a:solidFill>
          <a:ln/>
        </p:spPr>
      </p:sp>
      <p:sp>
        <p:nvSpPr>
          <p:cNvPr id="7" name="Terminal dot"/>
          <p:cNvSpPr/>
          <p:nvPr/>
        </p:nvSpPr>
        <p:spPr>
          <a:xfrm>
            <a:off x="932688" y="1792224"/>
            <a:ext cx="118872" cy="118872"/>
          </a:xfrm>
          <a:prstGeom prst="ellipse">
            <a:avLst/>
          </a:prstGeom>
          <a:solidFill>
            <a:schemeClr val="accent2"/>
          </a:solidFill>
          <a:ln/>
        </p:spPr>
      </p:sp>
      <p:sp>
        <p:nvSpPr>
          <p:cNvPr id="8" name="Terminal dot"/>
          <p:cNvSpPr/>
          <p:nvPr/>
        </p:nvSpPr>
        <p:spPr>
          <a:xfrm>
            <a:off x="1133856" y="1792224"/>
            <a:ext cx="118872" cy="118872"/>
          </a:xfrm>
          <a:prstGeom prst="ellipse">
            <a:avLst/>
          </a:prstGeom>
          <a:solidFill>
            <a:schemeClr val="accent3"/>
          </a:solidFill>
          <a:ln/>
        </p:spPr>
      </p:sp>
      <p:sp>
        <p:nvSpPr>
          <p:cNvPr id="9" name="Terminal title"/>
          <p:cNvSpPr txBox="1"/>
          <p:nvPr/>
        </p:nvSpPr>
        <p:spPr>
          <a:xfrm>
            <a:off x="1417320" y="1709928"/>
            <a:ext cx="10040112" cy="274320"/>
          </a:xfrm>
          <a:prstGeom prst="rect">
            <a:avLst/>
          </a:prstGeom>
          <a:noFill/>
          <a:ln/>
        </p:spPr>
        <p:txBody>
          <a:bodyPr wrap="square" lIns="0" tIns="0" rIns="0" bIns="0" rtlCol="0" anchor="ctr"/>
          <a:lstStyle/>
          <a:p>
            <a:pPr indent="0" marL="0">
              <a:buNone/>
            </a:pPr>
            <a:r>
              <a:rPr lang="en-US" sz="1100" dirty="0">
                <a:solidFill>
                  <a:schemeClr val="accent6"/>
                </a:solidFill>
              </a:rPr>
              <a:t>Terminal</a:t>
            </a:r>
            <a:endParaRPr lang="en-US" sz="1100" dirty="0"/>
          </a:p>
        </p:txBody>
      </p:sp>
      <p:sp>
        <p:nvSpPr>
          <p:cNvPr id="10" name="Terminal text"/>
          <p:cNvSpPr txBox="1"/>
          <p:nvPr/>
        </p:nvSpPr>
        <p:spPr>
          <a:xfrm>
            <a:off x="777240" y="2057400"/>
            <a:ext cx="10634472" cy="521208"/>
          </a:xfrm>
          <a:prstGeom prst="rect">
            <a:avLst/>
          </a:prstGeom>
          <a:noFill/>
          <a:ln/>
        </p:spPr>
        <p:txBody>
          <a:bodyPr wrap="square" lIns="0" tIns="0" rIns="0" bIns="0" rtlCol="0" anchor="t"/>
          <a:lstStyle/>
          <a:p>
            <a:pPr indent="0" marL="0">
              <a:buNone/>
            </a:pPr>
            <a:r>
              <a:rPr lang="en-US" sz="1500" dirty="0">
                <a:solidFill>
                  <a:schemeClr val="accent6"/>
                </a:solidFill>
                <a:latin typeface="Consolas" pitchFamily="34" charset="0"/>
                <a:ea typeface="Consolas" pitchFamily="34" charset="-122"/>
                <a:cs typeface="Consolas" pitchFamily="34" charset="-120"/>
              </a:rPr>
              <a:t>$ </a:t>
            </a:r>
            <a:r>
              <a:rPr lang="en-US" sz="1500" b="1" dirty="0">
                <a:solidFill>
                  <a:schemeClr val="bg1"/>
                </a:solidFill>
                <a:latin typeface="Consolas" pitchFamily="34" charset="0"/>
                <a:ea typeface="Consolas" pitchFamily="34" charset="-122"/>
                <a:cs typeface="Consolas" pitchFamily="34" charset="-120"/>
              </a:rPr>
              <a:t>npx expo start</a:t>
            </a:r>
            <a:endParaRPr lang="en-US" sz="1500" dirty="0"/>
          </a:p>
          <a:p>
            <a:pPr indent="0" marL="0">
              <a:buNone/>
            </a:pPr>
            <a:r>
              <a:rPr lang="en-US" sz="1500" dirty="0">
                <a:solidFill>
                  <a:schemeClr val="bg2"/>
                </a:solidFill>
                <a:latin typeface="Consolas" pitchFamily="34" charset="0"/>
                <a:ea typeface="Consolas" pitchFamily="34" charset="-122"/>
                <a:cs typeface="Consolas" pitchFamily="34" charset="-120"/>
              </a:rPr>
              <a:t>› Scan the QR code above to open in Expo Go.</a:t>
            </a:r>
            <a:endParaRPr lang="en-US" sz="1500" dirty="0"/>
          </a:p>
        </p:txBody>
      </p:sp>
      <p:pic>
        <p:nvPicPr>
          <p:cNvPr id="11" name="QR icon" descr="QR code">    </p:cNvPr>
          <p:cNvPicPr>
            <a:picLocks noChangeAspect="1"/>
          </p:cNvPicPr>
          <p:nvPr/>
        </p:nvPicPr>
        <p:blipFill>
          <a:blip r:embed="rId1"/>
          <a:stretch>
            <a:fillRect/>
          </a:stretch>
        </p:blipFill>
        <p:spPr>
          <a:xfrm>
            <a:off x="10972800" y="1901952"/>
            <a:ext cx="475488" cy="475488"/>
          </a:xfrm>
          <a:prstGeom prst="rect">
            <a:avLst/>
          </a:prstGeom>
        </p:spPr>
      </p:pic>
      <p:sp>
        <p:nvSpPr>
          <p:cNvPr id="12" name="Card"/>
          <p:cNvSpPr/>
          <p:nvPr/>
        </p:nvSpPr>
        <p:spPr>
          <a:xfrm>
            <a:off x="548640" y="2834640"/>
            <a:ext cx="5431536" cy="2788920"/>
          </a:xfrm>
          <a:prstGeom prst="roundRect">
            <a:avLst>
              <a:gd name="adj" fmla="val 3934"/>
            </a:avLst>
          </a:prstGeom>
          <a:solidFill>
            <a:schemeClr val="bg2"/>
          </a:solidFill>
          <a:ln/>
        </p:spPr>
      </p:sp>
      <p:sp>
        <p:nvSpPr>
          <p:cNvPr id="13" name="Icon circle"/>
          <p:cNvSpPr/>
          <p:nvPr/>
        </p:nvSpPr>
        <p:spPr>
          <a:xfrm>
            <a:off x="777240" y="2990088"/>
            <a:ext cx="457200" cy="457200"/>
          </a:xfrm>
          <a:prstGeom prst="ellipse">
            <a:avLst/>
          </a:prstGeom>
          <a:solidFill>
            <a:schemeClr val="accent3"/>
          </a:solidFill>
          <a:ln/>
        </p:spPr>
      </p:sp>
      <p:pic>
        <p:nvPicPr>
          <p:cNvPr id="14" name="Icon" descr="Icon">    </p:cNvPr>
          <p:cNvPicPr>
            <a:picLocks noChangeAspect="1"/>
          </p:cNvPicPr>
          <p:nvPr/>
        </p:nvPicPr>
        <p:blipFill>
          <a:blip r:embed="rId2"/>
          <a:stretch>
            <a:fillRect/>
          </a:stretch>
        </p:blipFill>
        <p:spPr>
          <a:xfrm>
            <a:off x="886968" y="3099816"/>
            <a:ext cx="237744" cy="237744"/>
          </a:xfrm>
          <a:prstGeom prst="rect">
            <a:avLst/>
          </a:prstGeom>
        </p:spPr>
      </p:pic>
      <p:sp>
        <p:nvSpPr>
          <p:cNvPr id="15" name="Text 11"/>
          <p:cNvSpPr txBox="1"/>
          <p:nvPr/>
        </p:nvSpPr>
        <p:spPr>
          <a:xfrm>
            <a:off x="1371600" y="2990088"/>
            <a:ext cx="4480560" cy="457200"/>
          </a:xfrm>
          <a:prstGeom prst="rect">
            <a:avLst/>
          </a:prstGeom>
          <a:noFill/>
          <a:ln/>
        </p:spPr>
        <p:txBody>
          <a:bodyPr wrap="square" lIns="0" tIns="0" rIns="0" bIns="0" rtlCol="0" anchor="ctr"/>
          <a:lstStyle/>
          <a:p>
            <a:pPr indent="0" marL="0">
              <a:buNone/>
            </a:pPr>
            <a:r>
              <a:rPr lang="en-US" sz="1700" b="1" dirty="0">
                <a:solidFill>
                  <a:schemeClr val="tx1"/>
                </a:solidFill>
              </a:rPr>
              <a:t>Option A: Your phone + Expo Go</a:t>
            </a:r>
            <a:endParaRPr lang="en-US" sz="1700" dirty="0"/>
          </a:p>
        </p:txBody>
      </p:sp>
      <p:sp>
        <p:nvSpPr>
          <p:cNvPr id="16" name="Text 12"/>
          <p:cNvSpPr txBox="1"/>
          <p:nvPr/>
        </p:nvSpPr>
        <p:spPr>
          <a:xfrm>
            <a:off x="822960" y="3566160"/>
            <a:ext cx="4983480" cy="16916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400" dirty="0">
                <a:solidFill>
                  <a:schemeClr val="tx1"/>
                </a:solidFill>
              </a:rPr>
              <a:t>Install Expo Go from Google Play or the App Store.</a:t>
            </a:r>
            <a:endParaRPr lang="en-US" sz="1400" dirty="0"/>
          </a:p>
          <a:p>
            <a:pPr marL="342900" indent="-342900">
              <a:spcAft>
                <a:spcPts val="500"/>
              </a:spcAft>
              <a:buSzPct val="100000"/>
              <a:buFont typeface="+mj-lt"/>
              <a:buAutoNum type="arabicPeriod" startAt="1"/>
            </a:pPr>
            <a:r>
              <a:rPr lang="en-US" sz="1400" dirty="0">
                <a:solidFill>
                  <a:schemeClr val="tx1"/>
                </a:solidFill>
              </a:rPr>
              <a:t>Connect your phone and laptop to the same Wi-Fi.</a:t>
            </a:r>
            <a:endParaRPr lang="en-US" sz="1400" dirty="0"/>
          </a:p>
          <a:p>
            <a:pPr marL="342900" indent="-342900">
              <a:spcAft>
                <a:spcPts val="500"/>
              </a:spcAft>
              <a:buSzPct val="100000"/>
              <a:buFont typeface="+mj-lt"/>
              <a:buAutoNum type="arabicPeriod" startAt="1"/>
            </a:pPr>
            <a:r>
              <a:rPr lang="en-US" sz="1400" dirty="0">
                <a:solidFill>
                  <a:schemeClr val="tx1"/>
                </a:solidFill>
              </a:rPr>
              <a:t>Sign in: run </a:t>
            </a:r>
            <a:r>
              <a:rPr lang="en-US" sz="1400" dirty="0">
                <a:solidFill>
                  <a:schemeClr val="accent5"/>
                </a:solidFill>
                <a:latin typeface="Consolas" pitchFamily="34" charset="0"/>
                <a:ea typeface="Consolas" pitchFamily="34" charset="-122"/>
                <a:cs typeface="Consolas" pitchFamily="34" charset="-120"/>
              </a:rPr>
              <a:t>npx expo login</a:t>
            </a:r>
            <a:r>
              <a:rPr lang="en-US" sz="1400" dirty="0">
                <a:solidFill>
                  <a:schemeClr val="tx1"/>
                </a:solidFill>
              </a:rPr>
              <a:t>, then sign in to Expo Go with the same account (required on iPhone).</a:t>
            </a:r>
            <a:endParaRPr lang="en-US" sz="1400" dirty="0"/>
          </a:p>
          <a:p>
            <a:pPr marL="342900" indent="-342900">
              <a:spcAft>
                <a:spcPts val="500"/>
              </a:spcAft>
              <a:buSzPct val="100000"/>
              <a:buFont typeface="+mj-lt"/>
              <a:buAutoNum type="arabicPeriod" startAt="1"/>
            </a:pPr>
            <a:r>
              <a:rPr lang="en-US" sz="1400" dirty="0">
                <a:solidFill>
                  <a:schemeClr val="tx1"/>
                </a:solidFill>
              </a:rPr>
              <a:t>Android: tap “Scan QR code” in Expo Go. iPhone: scan with the Camera app.</a:t>
            </a:r>
            <a:endParaRPr lang="en-US" sz="1400" dirty="0"/>
          </a:p>
        </p:txBody>
      </p:sp>
      <p:sp>
        <p:nvSpPr>
          <p:cNvPr id="17" name="Card"/>
          <p:cNvSpPr/>
          <p:nvPr/>
        </p:nvSpPr>
        <p:spPr>
          <a:xfrm>
            <a:off x="6208776" y="2834640"/>
            <a:ext cx="5431536" cy="2788920"/>
          </a:xfrm>
          <a:prstGeom prst="roundRect">
            <a:avLst>
              <a:gd name="adj" fmla="val 3934"/>
            </a:avLst>
          </a:prstGeom>
          <a:solidFill>
            <a:schemeClr val="bg2"/>
          </a:solidFill>
          <a:ln/>
        </p:spPr>
      </p:sp>
      <p:sp>
        <p:nvSpPr>
          <p:cNvPr id="18" name="Icon circle"/>
          <p:cNvSpPr/>
          <p:nvPr/>
        </p:nvSpPr>
        <p:spPr>
          <a:xfrm>
            <a:off x="6437376" y="2990088"/>
            <a:ext cx="457200" cy="457200"/>
          </a:xfrm>
          <a:prstGeom prst="ellipse">
            <a:avLst/>
          </a:prstGeom>
          <a:solidFill>
            <a:schemeClr val="accent3"/>
          </a:solidFill>
          <a:ln/>
        </p:spPr>
      </p:sp>
      <p:pic>
        <p:nvPicPr>
          <p:cNvPr id="19" name="Icon" descr="Icon">    </p:cNvPr>
          <p:cNvPicPr>
            <a:picLocks noChangeAspect="1"/>
          </p:cNvPicPr>
          <p:nvPr/>
        </p:nvPicPr>
        <p:blipFill>
          <a:blip r:embed="rId3"/>
          <a:stretch>
            <a:fillRect/>
          </a:stretch>
        </p:blipFill>
        <p:spPr>
          <a:xfrm>
            <a:off x="6547104" y="3099816"/>
            <a:ext cx="237744" cy="237744"/>
          </a:xfrm>
          <a:prstGeom prst="rect">
            <a:avLst/>
          </a:prstGeom>
        </p:spPr>
      </p:pic>
      <p:sp>
        <p:nvSpPr>
          <p:cNvPr id="20" name="Text 15"/>
          <p:cNvSpPr txBox="1"/>
          <p:nvPr/>
        </p:nvSpPr>
        <p:spPr>
          <a:xfrm>
            <a:off x="7031736" y="2990088"/>
            <a:ext cx="4480560" cy="457200"/>
          </a:xfrm>
          <a:prstGeom prst="rect">
            <a:avLst/>
          </a:prstGeom>
          <a:noFill/>
          <a:ln/>
        </p:spPr>
        <p:txBody>
          <a:bodyPr wrap="square" lIns="0" tIns="0" rIns="0" bIns="0" rtlCol="0" anchor="ctr"/>
          <a:lstStyle/>
          <a:p>
            <a:pPr indent="0" marL="0">
              <a:buNone/>
            </a:pPr>
            <a:r>
              <a:rPr lang="en-US" sz="1700" b="1" dirty="0">
                <a:solidFill>
                  <a:schemeClr val="tx1"/>
                </a:solidFill>
              </a:rPr>
              <a:t>Option B: Android Emulator</a:t>
            </a:r>
            <a:endParaRPr lang="en-US" sz="1700" dirty="0"/>
          </a:p>
        </p:txBody>
      </p:sp>
      <p:sp>
        <p:nvSpPr>
          <p:cNvPr id="21" name="Text 16"/>
          <p:cNvSpPr txBox="1"/>
          <p:nvPr/>
        </p:nvSpPr>
        <p:spPr>
          <a:xfrm>
            <a:off x="6483096" y="3566160"/>
            <a:ext cx="4983480" cy="16916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400" dirty="0">
                <a:solidFill>
                  <a:schemeClr val="tx1"/>
                </a:solidFill>
              </a:rPr>
              <a:t>Install Android Studio (see the Expo emulator guide).</a:t>
            </a:r>
            <a:endParaRPr lang="en-US" sz="1400" dirty="0"/>
          </a:p>
          <a:p>
            <a:pPr marL="342900" indent="-342900">
              <a:spcAft>
                <a:spcPts val="500"/>
              </a:spcAft>
              <a:buSzPct val="100000"/>
              <a:buFont typeface="+mj-lt"/>
              <a:buAutoNum type="arabicPeriod" startAt="1"/>
            </a:pPr>
            <a:r>
              <a:rPr lang="en-US" sz="1400" dirty="0">
                <a:solidFill>
                  <a:schemeClr val="tx1"/>
                </a:solidFill>
              </a:rPr>
              <a:t>Open Virtual Device Manager, create a phone, and start it.</a:t>
            </a:r>
            <a:endParaRPr lang="en-US" sz="1400" dirty="0"/>
          </a:p>
          <a:p>
            <a:pPr marL="342900" indent="-342900">
              <a:spcAft>
                <a:spcPts val="500"/>
              </a:spcAft>
              <a:buSzPct val="100000"/>
              <a:buFont typeface="+mj-lt"/>
              <a:buAutoNum type="arabicPeriod" startAt="1"/>
            </a:pPr>
            <a:r>
              <a:rPr lang="en-US" sz="1400" dirty="0">
                <a:solidFill>
                  <a:schemeClr val="tx1"/>
                </a:solidFill>
              </a:rPr>
              <a:t>In the Expo terminal, press </a:t>
            </a:r>
            <a:r>
              <a:rPr lang="en-US" sz="1400" dirty="0">
                <a:solidFill>
                  <a:schemeClr val="accent5"/>
                </a:solidFill>
                <a:latin typeface="Consolas" pitchFamily="34" charset="0"/>
                <a:ea typeface="Consolas" pitchFamily="34" charset="-122"/>
                <a:cs typeface="Consolas" pitchFamily="34" charset="-120"/>
              </a:rPr>
              <a:t>a</a:t>
            </a:r>
            <a:r>
              <a:rPr lang="en-US" sz="1400" dirty="0">
                <a:solidFill>
                  <a:schemeClr val="tx1"/>
                </a:solidFill>
              </a:rPr>
              <a:t>.</a:t>
            </a:r>
            <a:endParaRPr lang="en-US" sz="1400" dirty="0"/>
          </a:p>
          <a:p>
            <a:pPr marL="342900" indent="-342900">
              <a:spcAft>
                <a:spcPts val="500"/>
              </a:spcAft>
              <a:buSzPct val="100000"/>
              <a:buFont typeface="+mj-lt"/>
              <a:buAutoNum type="arabicPeriod" startAt="1"/>
            </a:pPr>
            <a:r>
              <a:rPr lang="en-US" sz="1400" dirty="0">
                <a:solidFill>
                  <a:schemeClr val="tx1"/>
                </a:solidFill>
              </a:rPr>
              <a:t>Expo CLI installs Expo Go on the emulator and opens your app.</a:t>
            </a:r>
            <a:endParaRPr lang="en-US" sz="1400" dirty="0"/>
          </a:p>
        </p:txBody>
      </p:sp>
      <p:sp>
        <p:nvSpPr>
          <p:cNvPr id="22" name="Text 17"/>
          <p:cNvSpPr txBox="1"/>
          <p:nvPr/>
        </p:nvSpPr>
        <p:spPr>
          <a:xfrm>
            <a:off x="822960" y="5257800"/>
            <a:ext cx="4983480" cy="292608"/>
          </a:xfrm>
          <a:prstGeom prst="rect">
            <a:avLst/>
          </a:prstGeom>
          <a:noFill/>
          <a:ln/>
        </p:spPr>
        <p:txBody>
          <a:bodyPr wrap="square" lIns="0" tIns="0" rIns="0" bIns="0" rtlCol="0" anchor="ctr"/>
          <a:lstStyle/>
          <a:p>
            <a:pPr indent="0" marL="0">
              <a:buNone/>
            </a:pPr>
            <a:r>
              <a:rPr lang="en-US" sz="1300" i="1" dirty="0">
                <a:solidFill>
                  <a:schemeClr val="tx2"/>
                </a:solidFill>
              </a:rPr>
              <a:t>Can't connect on Wi-Fi? Try </a:t>
            </a:r>
            <a:r>
              <a:rPr lang="en-US" sz="1300" i="1" dirty="0">
                <a:solidFill>
                  <a:schemeClr val="accent5"/>
                </a:solidFill>
                <a:latin typeface="Consolas" pitchFamily="34" charset="0"/>
                <a:ea typeface="Consolas" pitchFamily="34" charset="-122"/>
                <a:cs typeface="Consolas" pitchFamily="34" charset="-120"/>
              </a:rPr>
              <a:t>npx expo start --tunnel</a:t>
            </a:r>
            <a:endParaRPr lang="en-US" sz="1300" dirty="0"/>
          </a:p>
        </p:txBody>
      </p:sp>
      <p:sp>
        <p:nvSpPr>
          <p:cNvPr id="23" name="Text 18"/>
          <p:cNvSpPr txBox="1"/>
          <p:nvPr/>
        </p:nvSpPr>
        <p:spPr>
          <a:xfrm>
            <a:off x="6483096" y="5257800"/>
            <a:ext cx="4983480" cy="292608"/>
          </a:xfrm>
          <a:prstGeom prst="rect">
            <a:avLst/>
          </a:prstGeom>
          <a:noFill/>
          <a:ln/>
        </p:spPr>
        <p:txBody>
          <a:bodyPr wrap="square" lIns="0" tIns="0" rIns="0" bIns="0" rtlCol="0" anchor="ctr"/>
          <a:lstStyle/>
          <a:p>
            <a:pPr indent="0" marL="0">
              <a:buNone/>
            </a:pPr>
            <a:r>
              <a:rPr lang="en-US" sz="1200" dirty="0">
                <a:solidFill>
                  <a:schemeClr val="tx2"/>
                </a:solidFill>
              </a:rPr>
              <a:t>Setup guide: </a:t>
            </a:r>
            <a:r>
              <a:rPr lang="en-US" sz="1200" u="sng" dirty="0">
                <a:solidFill>
                  <a:schemeClr val="tx2"/>
                </a:solidFill>
                <a:hlinkClick r:id="rId4" invalidUrl="" action="" tgtFrame="" tooltip="" history="1" highlightClick="0" endSnd="0">
                  <a:extLst>
                    <a:ext uri="{A12FA001-AC4F-418D-AE19-62706E023703}">
                      <ahyp:hlinkClr xmlns:ahyp="http://schemas.microsoft.com/office/drawing/2018/hyperlinkcolor" val="tx"/>
                    </a:ext>
                  </a:extLst>
                </a:hlinkClick>
              </a:rPr>
              <a:t>docs.expo.dev/workflow/android-studio-emulator</a:t>
            </a:r>
            <a:endParaRPr lang="en-US" sz="1200" dirty="0"/>
          </a:p>
        </p:txBody>
      </p:sp>
      <p:sp>
        <p:nvSpPr>
          <p:cNvPr id="24" name="Text 19"/>
          <p:cNvSpPr txBox="1"/>
          <p:nvPr/>
        </p:nvSpPr>
        <p:spPr>
          <a:xfrm>
            <a:off x="548640" y="5760720"/>
            <a:ext cx="640080" cy="365760"/>
          </a:xfrm>
          <a:prstGeom prst="rect">
            <a:avLst/>
          </a:prstGeom>
          <a:noFill/>
          <a:ln/>
        </p:spPr>
        <p:txBody>
          <a:bodyPr wrap="square" lIns="0" tIns="0" rIns="0" bIns="0" rtlCol="0" anchor="ctr"/>
          <a:lstStyle/>
          <a:p>
            <a:pPr indent="0" marL="0">
              <a:buNone/>
            </a:pPr>
            <a:r>
              <a:rPr lang="en-US" sz="1400" b="1" dirty="0">
                <a:solidFill>
                  <a:schemeClr val="tx1"/>
                </a:solidFill>
              </a:rPr>
              <a:t>Keys:</a:t>
            </a:r>
            <a:endParaRPr lang="en-US" sz="1400" dirty="0"/>
          </a:p>
        </p:txBody>
      </p:sp>
      <p:sp>
        <p:nvSpPr>
          <p:cNvPr id="25" name="Key a"/>
          <p:cNvSpPr/>
          <p:nvPr/>
        </p:nvSpPr>
        <p:spPr>
          <a:xfrm>
            <a:off x="1188720" y="5788152"/>
            <a:ext cx="374904" cy="310896"/>
          </a:xfrm>
          <a:prstGeom prst="roundRect">
            <a:avLst>
              <a:gd name="adj" fmla="val 17647"/>
            </a:avLst>
          </a:prstGeom>
          <a:solidFill>
            <a:schemeClr val="tx1"/>
          </a:solidFill>
          <a:ln/>
        </p:spPr>
        <p:txBody>
          <a:bodyPr wrap="square" lIns="0" tIns="0" rIns="0" bIns="0" rtlCol="0" anchor="ctr"/>
          <a:lstStyle/>
          <a:p>
            <a:pPr algn="ctr" indent="0" marL="0">
              <a:buNone/>
            </a:pPr>
            <a:r>
              <a:rPr lang="en-US" sz="1300" b="1" dirty="0">
                <a:solidFill>
                  <a:schemeClr val="bg1"/>
                </a:solidFill>
                <a:latin typeface="Consolas" pitchFamily="34" charset="0"/>
                <a:ea typeface="Consolas" pitchFamily="34" charset="-122"/>
                <a:cs typeface="Consolas" pitchFamily="34" charset="-120"/>
              </a:rPr>
              <a:t>a</a:t>
            </a:r>
            <a:endParaRPr lang="en-US" sz="1300" dirty="0"/>
          </a:p>
        </p:txBody>
      </p:sp>
      <p:sp>
        <p:nvSpPr>
          <p:cNvPr id="26" name="Text 21"/>
          <p:cNvSpPr txBox="1"/>
          <p:nvPr/>
        </p:nvSpPr>
        <p:spPr>
          <a:xfrm>
            <a:off x="1636776" y="5760720"/>
            <a:ext cx="1188720" cy="365760"/>
          </a:xfrm>
          <a:prstGeom prst="rect">
            <a:avLst/>
          </a:prstGeom>
          <a:noFill/>
          <a:ln/>
        </p:spPr>
        <p:txBody>
          <a:bodyPr wrap="square" lIns="0" tIns="0" rIns="0" bIns="0" rtlCol="0" anchor="ctr"/>
          <a:lstStyle/>
          <a:p>
            <a:pPr indent="0" marL="0">
              <a:buNone/>
            </a:pPr>
            <a:r>
              <a:rPr lang="en-US" sz="1300" dirty="0">
                <a:solidFill>
                  <a:schemeClr val="tx1"/>
                </a:solidFill>
              </a:rPr>
              <a:t>Android</a:t>
            </a:r>
            <a:endParaRPr lang="en-US" sz="1300" dirty="0"/>
          </a:p>
        </p:txBody>
      </p:sp>
      <p:sp>
        <p:nvSpPr>
          <p:cNvPr id="27" name="Key w"/>
          <p:cNvSpPr/>
          <p:nvPr/>
        </p:nvSpPr>
        <p:spPr>
          <a:xfrm>
            <a:off x="2546604" y="5788152"/>
            <a:ext cx="374904" cy="310896"/>
          </a:xfrm>
          <a:prstGeom prst="roundRect">
            <a:avLst>
              <a:gd name="adj" fmla="val 17647"/>
            </a:avLst>
          </a:prstGeom>
          <a:solidFill>
            <a:schemeClr val="tx1"/>
          </a:solidFill>
          <a:ln/>
        </p:spPr>
        <p:txBody>
          <a:bodyPr wrap="square" lIns="0" tIns="0" rIns="0" bIns="0" rtlCol="0" anchor="ctr"/>
          <a:lstStyle/>
          <a:p>
            <a:pPr algn="ctr" indent="0" marL="0">
              <a:buNone/>
            </a:pPr>
            <a:r>
              <a:rPr lang="en-US" sz="1300" b="1" dirty="0">
                <a:solidFill>
                  <a:schemeClr val="bg1"/>
                </a:solidFill>
                <a:latin typeface="Consolas" pitchFamily="34" charset="0"/>
                <a:ea typeface="Consolas" pitchFamily="34" charset="-122"/>
                <a:cs typeface="Consolas" pitchFamily="34" charset="-120"/>
              </a:rPr>
              <a:t>w</a:t>
            </a:r>
            <a:endParaRPr lang="en-US" sz="1300" dirty="0"/>
          </a:p>
        </p:txBody>
      </p:sp>
      <p:sp>
        <p:nvSpPr>
          <p:cNvPr id="28" name="Text 23"/>
          <p:cNvSpPr txBox="1"/>
          <p:nvPr/>
        </p:nvSpPr>
        <p:spPr>
          <a:xfrm>
            <a:off x="2994660" y="5760720"/>
            <a:ext cx="1188720" cy="365760"/>
          </a:xfrm>
          <a:prstGeom prst="rect">
            <a:avLst/>
          </a:prstGeom>
          <a:noFill/>
          <a:ln/>
        </p:spPr>
        <p:txBody>
          <a:bodyPr wrap="square" lIns="0" tIns="0" rIns="0" bIns="0" rtlCol="0" anchor="ctr"/>
          <a:lstStyle/>
          <a:p>
            <a:pPr indent="0" marL="0">
              <a:buNone/>
            </a:pPr>
            <a:r>
              <a:rPr lang="en-US" sz="1300" dirty="0">
                <a:solidFill>
                  <a:schemeClr val="tx1"/>
                </a:solidFill>
              </a:rPr>
              <a:t>web browser</a:t>
            </a:r>
            <a:endParaRPr lang="en-US" sz="1300" dirty="0"/>
          </a:p>
        </p:txBody>
      </p:sp>
      <p:sp>
        <p:nvSpPr>
          <p:cNvPr id="29" name="Key r"/>
          <p:cNvSpPr/>
          <p:nvPr/>
        </p:nvSpPr>
        <p:spPr>
          <a:xfrm>
            <a:off x="4215384" y="5788152"/>
            <a:ext cx="374904" cy="310896"/>
          </a:xfrm>
          <a:prstGeom prst="roundRect">
            <a:avLst>
              <a:gd name="adj" fmla="val 17647"/>
            </a:avLst>
          </a:prstGeom>
          <a:solidFill>
            <a:schemeClr val="tx1"/>
          </a:solidFill>
          <a:ln/>
        </p:spPr>
        <p:txBody>
          <a:bodyPr wrap="square" lIns="0" tIns="0" rIns="0" bIns="0" rtlCol="0" anchor="ctr"/>
          <a:lstStyle/>
          <a:p>
            <a:pPr algn="ctr" indent="0" marL="0">
              <a:buNone/>
            </a:pPr>
            <a:r>
              <a:rPr lang="en-US" sz="1300" b="1" dirty="0">
                <a:solidFill>
                  <a:schemeClr val="bg1"/>
                </a:solidFill>
                <a:latin typeface="Consolas" pitchFamily="34" charset="0"/>
                <a:ea typeface="Consolas" pitchFamily="34" charset="-122"/>
                <a:cs typeface="Consolas" pitchFamily="34" charset="-120"/>
              </a:rPr>
              <a:t>r</a:t>
            </a:r>
            <a:endParaRPr lang="en-US" sz="1300" dirty="0"/>
          </a:p>
        </p:txBody>
      </p:sp>
      <p:sp>
        <p:nvSpPr>
          <p:cNvPr id="30" name="Text 25"/>
          <p:cNvSpPr txBox="1"/>
          <p:nvPr/>
        </p:nvSpPr>
        <p:spPr>
          <a:xfrm>
            <a:off x="4663440" y="5760720"/>
            <a:ext cx="1188720" cy="365760"/>
          </a:xfrm>
          <a:prstGeom prst="rect">
            <a:avLst/>
          </a:prstGeom>
          <a:noFill/>
          <a:ln/>
        </p:spPr>
        <p:txBody>
          <a:bodyPr wrap="square" lIns="0" tIns="0" rIns="0" bIns="0" rtlCol="0" anchor="ctr"/>
          <a:lstStyle/>
          <a:p>
            <a:pPr indent="0" marL="0">
              <a:buNone/>
            </a:pPr>
            <a:r>
              <a:rPr lang="en-US" sz="1300" dirty="0">
                <a:solidFill>
                  <a:schemeClr val="tx1"/>
                </a:solidFill>
              </a:rPr>
              <a:t>reload</a:t>
            </a:r>
            <a:endParaRPr lang="en-US" sz="1300" dirty="0"/>
          </a:p>
        </p:txBody>
      </p:sp>
      <p:sp>
        <p:nvSpPr>
          <p:cNvPr id="31" name="Key m"/>
          <p:cNvSpPr/>
          <p:nvPr/>
        </p:nvSpPr>
        <p:spPr>
          <a:xfrm>
            <a:off x="5495544" y="5788152"/>
            <a:ext cx="374904" cy="310896"/>
          </a:xfrm>
          <a:prstGeom prst="roundRect">
            <a:avLst>
              <a:gd name="adj" fmla="val 17647"/>
            </a:avLst>
          </a:prstGeom>
          <a:solidFill>
            <a:schemeClr val="tx1"/>
          </a:solidFill>
          <a:ln/>
        </p:spPr>
        <p:txBody>
          <a:bodyPr wrap="square" lIns="0" tIns="0" rIns="0" bIns="0" rtlCol="0" anchor="ctr"/>
          <a:lstStyle/>
          <a:p>
            <a:pPr algn="ctr" indent="0" marL="0">
              <a:buNone/>
            </a:pPr>
            <a:r>
              <a:rPr lang="en-US" sz="1300" b="1" dirty="0">
                <a:solidFill>
                  <a:schemeClr val="bg1"/>
                </a:solidFill>
                <a:latin typeface="Consolas" pitchFamily="34" charset="0"/>
                <a:ea typeface="Consolas" pitchFamily="34" charset="-122"/>
                <a:cs typeface="Consolas" pitchFamily="34" charset="-120"/>
              </a:rPr>
              <a:t>m</a:t>
            </a:r>
            <a:endParaRPr lang="en-US" sz="1300" dirty="0"/>
          </a:p>
        </p:txBody>
      </p:sp>
      <p:sp>
        <p:nvSpPr>
          <p:cNvPr id="32" name="Text 27"/>
          <p:cNvSpPr txBox="1"/>
          <p:nvPr/>
        </p:nvSpPr>
        <p:spPr>
          <a:xfrm>
            <a:off x="5943600" y="5760720"/>
            <a:ext cx="1188720" cy="365760"/>
          </a:xfrm>
          <a:prstGeom prst="rect">
            <a:avLst/>
          </a:prstGeom>
          <a:noFill/>
          <a:ln/>
        </p:spPr>
        <p:txBody>
          <a:bodyPr wrap="square" lIns="0" tIns="0" rIns="0" bIns="0" rtlCol="0" anchor="ctr"/>
          <a:lstStyle/>
          <a:p>
            <a:pPr indent="0" marL="0">
              <a:buNone/>
            </a:pPr>
            <a:r>
              <a:rPr lang="en-US" sz="1300" dirty="0">
                <a:solidFill>
                  <a:schemeClr val="tx1"/>
                </a:solidFill>
              </a:rPr>
              <a:t>menu</a:t>
            </a:r>
            <a:endParaRPr lang="en-US" sz="1300" dirty="0"/>
          </a:p>
        </p:txBody>
      </p:sp>
      <p:sp>
        <p:nvSpPr>
          <p:cNvPr id="33" name="Key j"/>
          <p:cNvSpPr/>
          <p:nvPr/>
        </p:nvSpPr>
        <p:spPr>
          <a:xfrm>
            <a:off x="6620256" y="5788152"/>
            <a:ext cx="374904" cy="310896"/>
          </a:xfrm>
          <a:prstGeom prst="roundRect">
            <a:avLst>
              <a:gd name="adj" fmla="val 17647"/>
            </a:avLst>
          </a:prstGeom>
          <a:solidFill>
            <a:schemeClr val="tx1"/>
          </a:solidFill>
          <a:ln/>
        </p:spPr>
        <p:txBody>
          <a:bodyPr wrap="square" lIns="0" tIns="0" rIns="0" bIns="0" rtlCol="0" anchor="ctr"/>
          <a:lstStyle/>
          <a:p>
            <a:pPr algn="ctr" indent="0" marL="0">
              <a:buNone/>
            </a:pPr>
            <a:r>
              <a:rPr lang="en-US" sz="1300" b="1" dirty="0">
                <a:solidFill>
                  <a:schemeClr val="bg1"/>
                </a:solidFill>
                <a:latin typeface="Consolas" pitchFamily="34" charset="0"/>
                <a:ea typeface="Consolas" pitchFamily="34" charset="-122"/>
                <a:cs typeface="Consolas" pitchFamily="34" charset="-120"/>
              </a:rPr>
              <a:t>j</a:t>
            </a:r>
            <a:endParaRPr lang="en-US" sz="1300" dirty="0"/>
          </a:p>
        </p:txBody>
      </p:sp>
      <p:sp>
        <p:nvSpPr>
          <p:cNvPr id="34" name="Text 29"/>
          <p:cNvSpPr txBox="1"/>
          <p:nvPr/>
        </p:nvSpPr>
        <p:spPr>
          <a:xfrm>
            <a:off x="7068312" y="5760720"/>
            <a:ext cx="1188720" cy="365760"/>
          </a:xfrm>
          <a:prstGeom prst="rect">
            <a:avLst/>
          </a:prstGeom>
          <a:noFill/>
          <a:ln/>
        </p:spPr>
        <p:txBody>
          <a:bodyPr wrap="square" lIns="0" tIns="0" rIns="0" bIns="0" rtlCol="0" anchor="ctr"/>
          <a:lstStyle/>
          <a:p>
            <a:pPr indent="0" marL="0">
              <a:buNone/>
            </a:pPr>
            <a:r>
              <a:rPr lang="en-US" sz="1300" dirty="0">
                <a:solidFill>
                  <a:schemeClr val="tx1"/>
                </a:solidFill>
              </a:rPr>
              <a:t>debugger</a:t>
            </a:r>
            <a:endParaRPr lang="en-US" sz="1300" dirty="0"/>
          </a:p>
        </p:txBody>
      </p:sp>
      <p:sp>
        <p:nvSpPr>
          <p:cNvPr id="35" name="Key Ctrl+C"/>
          <p:cNvSpPr/>
          <p:nvPr/>
        </p:nvSpPr>
        <p:spPr>
          <a:xfrm>
            <a:off x="8055864" y="5788152"/>
            <a:ext cx="877824" cy="310896"/>
          </a:xfrm>
          <a:prstGeom prst="roundRect">
            <a:avLst>
              <a:gd name="adj" fmla="val 17647"/>
            </a:avLst>
          </a:prstGeom>
          <a:solidFill>
            <a:schemeClr val="tx1"/>
          </a:solidFill>
          <a:ln/>
        </p:spPr>
        <p:txBody>
          <a:bodyPr wrap="square" lIns="0" tIns="0" rIns="0" bIns="0" rtlCol="0" anchor="ctr"/>
          <a:lstStyle/>
          <a:p>
            <a:pPr algn="ctr" indent="0" marL="0">
              <a:buNone/>
            </a:pPr>
            <a:r>
              <a:rPr lang="en-US" sz="1300" b="1" dirty="0">
                <a:solidFill>
                  <a:schemeClr val="bg1"/>
                </a:solidFill>
                <a:latin typeface="Consolas" pitchFamily="34" charset="0"/>
                <a:ea typeface="Consolas" pitchFamily="34" charset="-122"/>
                <a:cs typeface="Consolas" pitchFamily="34" charset="-120"/>
              </a:rPr>
              <a:t>Ctrl+C</a:t>
            </a:r>
            <a:endParaRPr lang="en-US" sz="1300" dirty="0"/>
          </a:p>
        </p:txBody>
      </p:sp>
      <p:sp>
        <p:nvSpPr>
          <p:cNvPr id="36" name="Text 31"/>
          <p:cNvSpPr txBox="1"/>
          <p:nvPr/>
        </p:nvSpPr>
        <p:spPr>
          <a:xfrm>
            <a:off x="9006840" y="5760720"/>
            <a:ext cx="1188720" cy="365760"/>
          </a:xfrm>
          <a:prstGeom prst="rect">
            <a:avLst/>
          </a:prstGeom>
          <a:noFill/>
          <a:ln/>
        </p:spPr>
        <p:txBody>
          <a:bodyPr wrap="square" lIns="0" tIns="0" rIns="0" bIns="0" rtlCol="0" anchor="ctr"/>
          <a:lstStyle/>
          <a:p>
            <a:pPr indent="0" marL="0">
              <a:buNone/>
            </a:pPr>
            <a:r>
              <a:rPr lang="en-US" sz="1300" dirty="0">
                <a:solidFill>
                  <a:schemeClr val="tx1"/>
                </a:solidFill>
              </a:rPr>
              <a:t>stop</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ection tag"/>
          <p:cNvSpPr/>
          <p:nvPr/>
        </p:nvSpPr>
        <p:spPr>
          <a:xfrm>
            <a:off x="548640" y="365760"/>
            <a:ext cx="1138428" cy="310896"/>
          </a:xfrm>
          <a:prstGeom prst="roundRect">
            <a:avLst>
              <a:gd name="adj" fmla="val 50000"/>
            </a:avLst>
          </a:prstGeom>
          <a:solidFill>
            <a:schemeClr val="accent3"/>
          </a:solidFill>
          <a:ln/>
        </p:spPr>
        <p:txBody>
          <a:bodyPr wrap="square" lIns="0" tIns="0" rIns="0" bIns="0" rtlCol="0" anchor="ctr"/>
          <a:lstStyle/>
          <a:p>
            <a:pPr algn="ctr" indent="0" marL="0">
              <a:buNone/>
            </a:pPr>
            <a:r>
              <a:rPr lang="en-US" sz="1100" b="1" spc="150" kern="0" dirty="0">
                <a:solidFill>
                  <a:schemeClr val="bg1"/>
                </a:solidFill>
              </a:rPr>
              <a:t>PRACTICAL</a:t>
            </a:r>
            <a:endParaRPr lang="en-US" sz="1100" dirty="0"/>
          </a:p>
        </p:txBody>
      </p:sp>
      <p:sp>
        <p:nvSpPr>
          <p:cNvPr id="3" name="Tag context"/>
          <p:cNvSpPr txBox="1"/>
          <p:nvPr/>
        </p:nvSpPr>
        <p:spPr>
          <a:xfrm>
            <a:off x="1869948" y="365760"/>
            <a:ext cx="9770364" cy="310896"/>
          </a:xfrm>
          <a:prstGeom prst="rect">
            <a:avLst/>
          </a:prstGeom>
          <a:noFill/>
          <a:ln/>
        </p:spPr>
        <p:txBody>
          <a:bodyPr wrap="square" lIns="0" tIns="0" rIns="0" bIns="0" rtlCol="0" anchor="ctr"/>
          <a:lstStyle/>
          <a:p>
            <a:pPr indent="0" marL="0">
              <a:buNone/>
            </a:pPr>
            <a:r>
              <a:rPr lang="en-US" sz="1300" dirty="0">
                <a:solidFill>
                  <a:schemeClr val="tx2"/>
                </a:solidFill>
              </a:rPr>
              <a:t>Open src/app/index.tsx, replace all the code with this, then save (Ctrl+S / Cmd+S)</a:t>
            </a:r>
            <a:endParaRPr lang="en-US" sz="1300" dirty="0"/>
          </a:p>
        </p:txBody>
      </p:sp>
      <p:sp>
        <p:nvSpPr>
          <p:cNvPr id="4" name="Text 0"/>
          <p:cNvSpPr/>
          <p:nvPr>
            <p:ph idx="100" type="title" hasCustomPrompt="1"/>
          </p:nvPr>
        </p:nvSpPr>
        <p:spPr>
          <a:xfrm>
            <a:off x="548640" y="749808"/>
            <a:ext cx="11091672" cy="713232"/>
          </a:xfrm>
          <a:prstGeom prst="rect">
            <a:avLst/>
          </a:prstGeom>
          <a:noFill/>
          <a:ln/>
        </p:spPr>
        <p:txBody>
          <a:bodyPr wrap="square" lIns="0" tIns="0" rIns="0" bIns="0" rtlCol="0" anchor="ctr"/>
          <a:lstStyle/>
          <a:p>
            <a:pPr algn="l" indent="0" marL="0">
              <a:buNone/>
            </a:pPr>
            <a:r>
              <a:rPr lang="en-US" sz="3600" b="1" dirty="0">
                <a:solidFill>
                  <a:schemeClr val="tx1"/>
                </a:solidFill>
              </a:rPr>
              <a:t>Steps 7–9: Write Hello World</a:t>
            </a:r>
            <a:endParaRPr lang="en-US" sz="3600" dirty="0"/>
          </a:p>
        </p:txBody>
      </p:sp>
      <p:sp>
        <p:nvSpPr>
          <p:cNvPr id="5" name="Code panel"/>
          <p:cNvSpPr/>
          <p:nvPr/>
        </p:nvSpPr>
        <p:spPr>
          <a:xfrm>
            <a:off x="548640" y="1645920"/>
            <a:ext cx="6172200" cy="4572000"/>
          </a:xfrm>
          <a:prstGeom prst="roundRect">
            <a:avLst>
              <a:gd name="adj" fmla="val 2000"/>
            </a:avLst>
          </a:prstGeom>
          <a:solidFill>
            <a:schemeClr val="bg2"/>
          </a:solidFill>
          <a:ln w="12700">
            <a:solidFill>
              <a:schemeClr val="accent6"/>
            </a:solidFill>
            <a:prstDash val="solid"/>
          </a:ln>
        </p:spPr>
      </p:sp>
      <p:sp>
        <p:nvSpPr>
          <p:cNvPr id="6" name="Code panel label"/>
          <p:cNvSpPr txBox="1"/>
          <p:nvPr/>
        </p:nvSpPr>
        <p:spPr>
          <a:xfrm>
            <a:off x="731520" y="1737360"/>
            <a:ext cx="5806440" cy="274320"/>
          </a:xfrm>
          <a:prstGeom prst="rect">
            <a:avLst/>
          </a:prstGeom>
          <a:noFill/>
          <a:ln/>
        </p:spPr>
        <p:txBody>
          <a:bodyPr wrap="square" lIns="0" tIns="0" rIns="0" bIns="0" rtlCol="0" anchor="ctr"/>
          <a:lstStyle/>
          <a:p>
            <a:pPr indent="0" marL="0">
              <a:buNone/>
            </a:pPr>
            <a:r>
              <a:rPr lang="en-US" sz="1100" b="1" dirty="0">
                <a:solidFill>
                  <a:schemeClr val="tx2"/>
                </a:solidFill>
                <a:latin typeface="Consolas" pitchFamily="34" charset="0"/>
                <a:ea typeface="Consolas" pitchFamily="34" charset="-122"/>
                <a:cs typeface="Consolas" pitchFamily="34" charset="-120"/>
              </a:rPr>
              <a:t>src/app/index.tsx</a:t>
            </a:r>
            <a:endParaRPr lang="en-US" sz="1100" dirty="0"/>
          </a:p>
        </p:txBody>
      </p:sp>
      <p:sp>
        <p:nvSpPr>
          <p:cNvPr id="7" name="Code panel code"/>
          <p:cNvSpPr txBox="1"/>
          <p:nvPr/>
        </p:nvSpPr>
        <p:spPr>
          <a:xfrm>
            <a:off x="685800" y="2057400"/>
            <a:ext cx="5897880" cy="4087368"/>
          </a:xfrm>
          <a:prstGeom prst="rect">
            <a:avLst/>
          </a:prstGeom>
          <a:noFill/>
          <a:ln/>
        </p:spPr>
        <p:txBody>
          <a:bodyPr wrap="square" lIns="0" tIns="635" rIns="635" bIns="0" rtlCol="0" anchor="t"/>
          <a:lstStyle/>
          <a:p>
            <a:pPr indent="0" marL="0">
              <a:buNone/>
            </a:pPr>
            <a:r>
              <a:rPr lang="en-US" sz="1300" dirty="0">
                <a:solidFill>
                  <a:schemeClr val="tx2"/>
                </a:solidFill>
                <a:latin typeface="Consolas" pitchFamily="34" charset="0"/>
                <a:ea typeface="Consolas" pitchFamily="34" charset="-122"/>
                <a:cs typeface="Consolas" pitchFamily="34" charset="-120"/>
              </a:rPr>
              <a:t> 1  </a:t>
            </a:r>
            <a:r>
              <a:rPr lang="en-US" sz="1300" dirty="0">
                <a:solidFill>
                  <a:schemeClr val="accent1"/>
                </a:solidFill>
                <a:latin typeface="Consolas" pitchFamily="34" charset="0"/>
                <a:ea typeface="Consolas" pitchFamily="34" charset="-122"/>
                <a:cs typeface="Consolas" pitchFamily="34" charset="-120"/>
              </a:rPr>
              <a:t>import</a:t>
            </a:r>
            <a:r>
              <a:rPr lang="en-US" sz="1300" dirty="0">
                <a:solidFill>
                  <a:schemeClr val="tx1"/>
                </a:solidFill>
                <a:latin typeface="Consolas" pitchFamily="34" charset="0"/>
                <a:ea typeface="Consolas" pitchFamily="34" charset="-122"/>
                <a:cs typeface="Consolas" pitchFamily="34" charset="-120"/>
              </a:rPr>
              <a:t> { Text, View, StyleSheet } </a:t>
            </a:r>
            <a:r>
              <a:rPr lang="en-US" sz="1300" dirty="0">
                <a:solidFill>
                  <a:schemeClr val="accent1"/>
                </a:solidFill>
                <a:latin typeface="Consolas" pitchFamily="34" charset="0"/>
                <a:ea typeface="Consolas" pitchFamily="34" charset="-122"/>
                <a:cs typeface="Consolas" pitchFamily="34" charset="-120"/>
              </a:rPr>
              <a:t>from</a:t>
            </a:r>
            <a:r>
              <a:rPr lang="en-US" sz="1300" dirty="0">
                <a:solidFill>
                  <a:schemeClr val="tx1"/>
                </a:solidFill>
                <a:latin typeface="Consolas" pitchFamily="34" charset="0"/>
                <a:ea typeface="Consolas" pitchFamily="34" charset="-122"/>
                <a:cs typeface="Consolas" pitchFamily="34" charset="-120"/>
              </a:rPr>
              <a:t> </a:t>
            </a:r>
            <a:r>
              <a:rPr lang="en-US" sz="1300" dirty="0">
                <a:solidFill>
                  <a:schemeClr val="accent3"/>
                </a:solidFill>
                <a:latin typeface="Consolas" pitchFamily="34" charset="0"/>
                <a:ea typeface="Consolas" pitchFamily="34" charset="-122"/>
                <a:cs typeface="Consolas" pitchFamily="34" charset="-120"/>
              </a:rPr>
              <a:t>"react-native"</a:t>
            </a:r>
            <a:r>
              <a:rPr lang="en-US" sz="1300" dirty="0">
                <a:solidFill>
                  <a:schemeClr val="tx1"/>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chemeClr val="tx2"/>
                </a:solidFill>
                <a:latin typeface="Consolas" pitchFamily="34" charset="0"/>
                <a:ea typeface="Consolas" pitchFamily="34" charset="-122"/>
                <a:cs typeface="Consolas" pitchFamily="34" charset="-120"/>
              </a:rPr>
              <a:t> 2  </a:t>
            </a:r>
            <a:r>
              <a:rPr lang="en-US" sz="1300" dirty="0">
                <a:solidFill>
                  <a:schemeClr val="tx1"/>
                </a:solidFill>
                <a:latin typeface="Consolas" pitchFamily="34" charset="0"/>
                <a:ea typeface="Consolas" pitchFamily="34" charset="-122"/>
                <a:cs typeface="Consolas" pitchFamily="34" charset="-120"/>
              </a:rPr>
              <a:t> </a:t>
            </a:r>
            <a:endParaRPr lang="en-US" sz="1300" dirty="0"/>
          </a:p>
          <a:p>
            <a:pPr indent="0" marL="0">
              <a:buNone/>
            </a:pPr>
            <a:r>
              <a:rPr lang="en-US" sz="1300" dirty="0">
                <a:solidFill>
                  <a:schemeClr val="tx2"/>
                </a:solidFill>
                <a:latin typeface="Consolas" pitchFamily="34" charset="0"/>
                <a:ea typeface="Consolas" pitchFamily="34" charset="-122"/>
                <a:cs typeface="Consolas" pitchFamily="34" charset="-120"/>
              </a:rPr>
              <a:t> 3  </a:t>
            </a:r>
            <a:r>
              <a:rPr lang="en-US" sz="1300" dirty="0">
                <a:solidFill>
                  <a:schemeClr val="accent1"/>
                </a:solidFill>
                <a:latin typeface="Consolas" pitchFamily="34" charset="0"/>
                <a:ea typeface="Consolas" pitchFamily="34" charset="-122"/>
                <a:cs typeface="Consolas" pitchFamily="34" charset="-120"/>
              </a:rPr>
              <a:t>export</a:t>
            </a:r>
            <a:r>
              <a:rPr lang="en-US" sz="1300" dirty="0">
                <a:solidFill>
                  <a:schemeClr val="tx1"/>
                </a:solidFill>
                <a:latin typeface="Consolas" pitchFamily="34" charset="0"/>
                <a:ea typeface="Consolas" pitchFamily="34" charset="-122"/>
                <a:cs typeface="Consolas" pitchFamily="34" charset="-120"/>
              </a:rPr>
              <a:t> </a:t>
            </a:r>
            <a:r>
              <a:rPr lang="en-US" sz="1300" dirty="0">
                <a:solidFill>
                  <a:schemeClr val="accent1"/>
                </a:solidFill>
                <a:latin typeface="Consolas" pitchFamily="34" charset="0"/>
                <a:ea typeface="Consolas" pitchFamily="34" charset="-122"/>
                <a:cs typeface="Consolas" pitchFamily="34" charset="-120"/>
              </a:rPr>
              <a:t>default</a:t>
            </a:r>
            <a:r>
              <a:rPr lang="en-US" sz="1300" dirty="0">
                <a:solidFill>
                  <a:schemeClr val="tx1"/>
                </a:solidFill>
                <a:latin typeface="Consolas" pitchFamily="34" charset="0"/>
                <a:ea typeface="Consolas" pitchFamily="34" charset="-122"/>
                <a:cs typeface="Consolas" pitchFamily="34" charset="-120"/>
              </a:rPr>
              <a:t> </a:t>
            </a:r>
            <a:r>
              <a:rPr lang="en-US" sz="1300" dirty="0">
                <a:solidFill>
                  <a:schemeClr val="accent1"/>
                </a:solidFill>
                <a:latin typeface="Consolas" pitchFamily="34" charset="0"/>
                <a:ea typeface="Consolas" pitchFamily="34" charset="-122"/>
                <a:cs typeface="Consolas" pitchFamily="34" charset="-120"/>
              </a:rPr>
              <a:t>function</a:t>
            </a:r>
            <a:r>
              <a:rPr lang="en-US" sz="1300" dirty="0">
                <a:solidFill>
                  <a:schemeClr val="tx1"/>
                </a:solidFill>
                <a:latin typeface="Consolas" pitchFamily="34" charset="0"/>
                <a:ea typeface="Consolas" pitchFamily="34" charset="-122"/>
                <a:cs typeface="Consolas" pitchFamily="34" charset="-120"/>
              </a:rPr>
              <a:t> Index() {</a:t>
            </a:r>
            <a:endParaRPr lang="en-US" sz="1300" dirty="0"/>
          </a:p>
          <a:p>
            <a:pPr indent="0" marL="0">
              <a:buNone/>
            </a:pPr>
            <a:r>
              <a:rPr lang="en-US" sz="1300" dirty="0">
                <a:solidFill>
                  <a:schemeClr val="tx2"/>
                </a:solidFill>
                <a:latin typeface="Consolas" pitchFamily="34" charset="0"/>
                <a:ea typeface="Consolas" pitchFamily="34" charset="-122"/>
                <a:cs typeface="Consolas" pitchFamily="34" charset="-120"/>
              </a:rPr>
              <a:t> 4  </a:t>
            </a:r>
            <a:r>
              <a:rPr lang="en-US" sz="1300" dirty="0">
                <a:solidFill>
                  <a:schemeClr val="tx1"/>
                </a:solidFill>
                <a:latin typeface="Consolas" pitchFamily="34" charset="0"/>
                <a:ea typeface="Consolas" pitchFamily="34" charset="-122"/>
                <a:cs typeface="Consolas" pitchFamily="34" charset="-120"/>
              </a:rPr>
              <a:t>  </a:t>
            </a:r>
            <a:r>
              <a:rPr lang="en-US" sz="1300" dirty="0">
                <a:solidFill>
                  <a:schemeClr val="accent1"/>
                </a:solidFill>
                <a:latin typeface="Consolas" pitchFamily="34" charset="0"/>
                <a:ea typeface="Consolas" pitchFamily="34" charset="-122"/>
                <a:cs typeface="Consolas" pitchFamily="34" charset="-120"/>
              </a:rPr>
              <a:t>return</a:t>
            </a:r>
            <a:r>
              <a:rPr lang="en-US" sz="1300" dirty="0">
                <a:solidFill>
                  <a:schemeClr val="tx1"/>
                </a:solidFill>
                <a:latin typeface="Consolas" pitchFamily="34" charset="0"/>
                <a:ea typeface="Consolas" pitchFamily="34" charset="-122"/>
                <a:cs typeface="Consolas" pitchFamily="34" charset="-120"/>
              </a:rPr>
              <a:t> (</a:t>
            </a:r>
            <a:endParaRPr lang="en-US" sz="1300" dirty="0"/>
          </a:p>
          <a:p>
            <a:pPr indent="0" marL="0">
              <a:buNone/>
            </a:pPr>
            <a:r>
              <a:rPr lang="en-US" sz="1300" dirty="0">
                <a:solidFill>
                  <a:schemeClr val="tx2"/>
                </a:solidFill>
                <a:latin typeface="Consolas" pitchFamily="34" charset="0"/>
                <a:ea typeface="Consolas" pitchFamily="34" charset="-122"/>
                <a:cs typeface="Consolas" pitchFamily="34" charset="-120"/>
              </a:rPr>
              <a:t> 5  </a:t>
            </a:r>
            <a:r>
              <a:rPr lang="en-US" sz="1300" dirty="0">
                <a:solidFill>
                  <a:schemeClr val="tx1"/>
                </a:solidFill>
                <a:latin typeface="Consolas" pitchFamily="34" charset="0"/>
                <a:ea typeface="Consolas" pitchFamily="34" charset="-122"/>
                <a:cs typeface="Consolas" pitchFamily="34" charset="-120"/>
              </a:rPr>
              <a:t>    </a:t>
            </a:r>
            <a:r>
              <a:rPr lang="en-US" sz="1300" dirty="0">
                <a:solidFill>
                  <a:schemeClr val="accent5"/>
                </a:solidFill>
                <a:latin typeface="Consolas" pitchFamily="34" charset="0"/>
                <a:ea typeface="Consolas" pitchFamily="34" charset="-122"/>
                <a:cs typeface="Consolas" pitchFamily="34" charset="-120"/>
              </a:rPr>
              <a:t>&lt;View</a:t>
            </a:r>
            <a:r>
              <a:rPr lang="en-US" sz="1300" dirty="0">
                <a:solidFill>
                  <a:schemeClr val="tx1"/>
                </a:solidFill>
                <a:latin typeface="Consolas" pitchFamily="34" charset="0"/>
                <a:ea typeface="Consolas" pitchFamily="34" charset="-122"/>
                <a:cs typeface="Consolas" pitchFamily="34" charset="-120"/>
              </a:rPr>
              <a:t> style={styles.container}&gt;</a:t>
            </a:r>
            <a:endParaRPr lang="en-US" sz="1300" dirty="0"/>
          </a:p>
          <a:p>
            <a:pPr indent="0" marL="0">
              <a:buNone/>
            </a:pPr>
            <a:r>
              <a:rPr lang="en-US" sz="1300" dirty="0">
                <a:solidFill>
                  <a:schemeClr val="tx2"/>
                </a:solidFill>
                <a:latin typeface="Consolas" pitchFamily="34" charset="0"/>
                <a:ea typeface="Consolas" pitchFamily="34" charset="-122"/>
                <a:cs typeface="Consolas" pitchFamily="34" charset="-120"/>
              </a:rPr>
              <a:t> 6  </a:t>
            </a:r>
            <a:r>
              <a:rPr lang="en-US" sz="1300" dirty="0">
                <a:solidFill>
                  <a:schemeClr val="tx1"/>
                </a:solidFill>
                <a:latin typeface="Consolas" pitchFamily="34" charset="0"/>
                <a:ea typeface="Consolas" pitchFamily="34" charset="-122"/>
                <a:cs typeface="Consolas" pitchFamily="34" charset="-120"/>
              </a:rPr>
              <a:t>      </a:t>
            </a:r>
            <a:r>
              <a:rPr lang="en-US" sz="1300" dirty="0">
                <a:solidFill>
                  <a:schemeClr val="accent5"/>
                </a:solidFill>
                <a:latin typeface="Consolas" pitchFamily="34" charset="0"/>
                <a:ea typeface="Consolas" pitchFamily="34" charset="-122"/>
                <a:cs typeface="Consolas" pitchFamily="34" charset="-120"/>
              </a:rPr>
              <a:t>&lt;Text</a:t>
            </a:r>
            <a:r>
              <a:rPr lang="en-US" sz="1300" dirty="0">
                <a:solidFill>
                  <a:schemeClr val="tx1"/>
                </a:solidFill>
                <a:latin typeface="Consolas" pitchFamily="34" charset="0"/>
                <a:ea typeface="Consolas" pitchFamily="34" charset="-122"/>
                <a:cs typeface="Consolas" pitchFamily="34" charset="-120"/>
              </a:rPr>
              <a:t> style={styles.title}&gt;Hello World!</a:t>
            </a:r>
            <a:r>
              <a:rPr lang="en-US" sz="1300" dirty="0">
                <a:solidFill>
                  <a:schemeClr val="accent5"/>
                </a:solidFill>
                <a:latin typeface="Consolas" pitchFamily="34" charset="0"/>
                <a:ea typeface="Consolas" pitchFamily="34" charset="-122"/>
                <a:cs typeface="Consolas" pitchFamily="34" charset="-120"/>
              </a:rPr>
              <a:t>&lt;/Text</a:t>
            </a:r>
            <a:r>
              <a:rPr lang="en-US" sz="1300" dirty="0">
                <a:solidFill>
                  <a:schemeClr val="tx1"/>
                </a:solidFill>
                <a:latin typeface="Consolas" pitchFamily="34" charset="0"/>
                <a:ea typeface="Consolas" pitchFamily="34" charset="-122"/>
                <a:cs typeface="Consolas" pitchFamily="34" charset="-120"/>
              </a:rPr>
              <a:t>&gt;</a:t>
            </a:r>
            <a:endParaRPr lang="en-US" sz="1300" dirty="0"/>
          </a:p>
          <a:p>
            <a:pPr indent="0" marL="0">
              <a:buNone/>
            </a:pPr>
            <a:r>
              <a:rPr lang="en-US" sz="1300" dirty="0">
                <a:solidFill>
                  <a:schemeClr val="tx2"/>
                </a:solidFill>
                <a:latin typeface="Consolas" pitchFamily="34" charset="0"/>
                <a:ea typeface="Consolas" pitchFamily="34" charset="-122"/>
                <a:cs typeface="Consolas" pitchFamily="34" charset="-120"/>
              </a:rPr>
              <a:t> 7  </a:t>
            </a:r>
            <a:r>
              <a:rPr lang="en-US" sz="1300" dirty="0">
                <a:solidFill>
                  <a:schemeClr val="tx1"/>
                </a:solidFill>
                <a:latin typeface="Consolas" pitchFamily="34" charset="0"/>
                <a:ea typeface="Consolas" pitchFamily="34" charset="-122"/>
                <a:cs typeface="Consolas" pitchFamily="34" charset="-120"/>
              </a:rPr>
              <a:t>    </a:t>
            </a:r>
            <a:r>
              <a:rPr lang="en-US" sz="1300" dirty="0">
                <a:solidFill>
                  <a:schemeClr val="accent5"/>
                </a:solidFill>
                <a:latin typeface="Consolas" pitchFamily="34" charset="0"/>
                <a:ea typeface="Consolas" pitchFamily="34" charset="-122"/>
                <a:cs typeface="Consolas" pitchFamily="34" charset="-120"/>
              </a:rPr>
              <a:t>&lt;/View</a:t>
            </a:r>
            <a:r>
              <a:rPr lang="en-US" sz="1300" dirty="0">
                <a:solidFill>
                  <a:schemeClr val="tx1"/>
                </a:solidFill>
                <a:latin typeface="Consolas" pitchFamily="34" charset="0"/>
                <a:ea typeface="Consolas" pitchFamily="34" charset="-122"/>
                <a:cs typeface="Consolas" pitchFamily="34" charset="-120"/>
              </a:rPr>
              <a:t>&gt;</a:t>
            </a:r>
            <a:endParaRPr lang="en-US" sz="1300" dirty="0"/>
          </a:p>
          <a:p>
            <a:pPr indent="0" marL="0">
              <a:buNone/>
            </a:pPr>
            <a:r>
              <a:rPr lang="en-US" sz="1300" dirty="0">
                <a:solidFill>
                  <a:schemeClr val="tx2"/>
                </a:solidFill>
                <a:latin typeface="Consolas" pitchFamily="34" charset="0"/>
                <a:ea typeface="Consolas" pitchFamily="34" charset="-122"/>
                <a:cs typeface="Consolas" pitchFamily="34" charset="-120"/>
              </a:rPr>
              <a:t> 8  </a:t>
            </a:r>
            <a:r>
              <a:rPr lang="en-US" sz="1300" dirty="0">
                <a:solidFill>
                  <a:schemeClr val="tx1"/>
                </a:solidFill>
                <a:latin typeface="Consolas" pitchFamily="34" charset="0"/>
                <a:ea typeface="Consolas" pitchFamily="34" charset="-122"/>
                <a:cs typeface="Consolas" pitchFamily="34" charset="-120"/>
              </a:rPr>
              <a:t>  );</a:t>
            </a:r>
            <a:endParaRPr lang="en-US" sz="1300" dirty="0"/>
          </a:p>
          <a:p>
            <a:pPr indent="0" marL="0">
              <a:buNone/>
            </a:pPr>
            <a:r>
              <a:rPr lang="en-US" sz="1300" dirty="0">
                <a:solidFill>
                  <a:schemeClr val="tx2"/>
                </a:solidFill>
                <a:latin typeface="Consolas" pitchFamily="34" charset="0"/>
                <a:ea typeface="Consolas" pitchFamily="34" charset="-122"/>
                <a:cs typeface="Consolas" pitchFamily="34" charset="-120"/>
              </a:rPr>
              <a:t> 9  </a:t>
            </a:r>
            <a:r>
              <a:rPr lang="en-US" sz="1300" dirty="0">
                <a:solidFill>
                  <a:schemeClr val="tx1"/>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chemeClr val="tx2"/>
                </a:solidFill>
                <a:latin typeface="Consolas" pitchFamily="34" charset="0"/>
                <a:ea typeface="Consolas" pitchFamily="34" charset="-122"/>
                <a:cs typeface="Consolas" pitchFamily="34" charset="-120"/>
              </a:rPr>
              <a:t>10  </a:t>
            </a:r>
            <a:r>
              <a:rPr lang="en-US" sz="1300" dirty="0">
                <a:solidFill>
                  <a:schemeClr val="tx1"/>
                </a:solidFill>
                <a:latin typeface="Consolas" pitchFamily="34" charset="0"/>
                <a:ea typeface="Consolas" pitchFamily="34" charset="-122"/>
                <a:cs typeface="Consolas" pitchFamily="34" charset="-120"/>
              </a:rPr>
              <a:t> </a:t>
            </a:r>
            <a:endParaRPr lang="en-US" sz="1300" dirty="0"/>
          </a:p>
          <a:p>
            <a:pPr indent="0" marL="0">
              <a:buNone/>
            </a:pPr>
            <a:r>
              <a:rPr lang="en-US" sz="1300" dirty="0">
                <a:solidFill>
                  <a:schemeClr val="tx2"/>
                </a:solidFill>
                <a:latin typeface="Consolas" pitchFamily="34" charset="0"/>
                <a:ea typeface="Consolas" pitchFamily="34" charset="-122"/>
                <a:cs typeface="Consolas" pitchFamily="34" charset="-120"/>
              </a:rPr>
              <a:t>11  </a:t>
            </a:r>
            <a:r>
              <a:rPr lang="en-US" sz="1300" dirty="0">
                <a:solidFill>
                  <a:schemeClr val="accent1"/>
                </a:solidFill>
                <a:latin typeface="Consolas" pitchFamily="34" charset="0"/>
                <a:ea typeface="Consolas" pitchFamily="34" charset="-122"/>
                <a:cs typeface="Consolas" pitchFamily="34" charset="-120"/>
              </a:rPr>
              <a:t>const</a:t>
            </a:r>
            <a:r>
              <a:rPr lang="en-US" sz="1300" dirty="0">
                <a:solidFill>
                  <a:schemeClr val="tx1"/>
                </a:solidFill>
                <a:latin typeface="Consolas" pitchFamily="34" charset="0"/>
                <a:ea typeface="Consolas" pitchFamily="34" charset="-122"/>
                <a:cs typeface="Consolas" pitchFamily="34" charset="-120"/>
              </a:rPr>
              <a:t> styles = StyleSheet.create({</a:t>
            </a:r>
            <a:endParaRPr lang="en-US" sz="1300" dirty="0"/>
          </a:p>
          <a:p>
            <a:pPr indent="0" marL="0">
              <a:buNone/>
            </a:pPr>
            <a:r>
              <a:rPr lang="en-US" sz="1300" dirty="0">
                <a:solidFill>
                  <a:schemeClr val="tx2"/>
                </a:solidFill>
                <a:latin typeface="Consolas" pitchFamily="34" charset="0"/>
                <a:ea typeface="Consolas" pitchFamily="34" charset="-122"/>
                <a:cs typeface="Consolas" pitchFamily="34" charset="-120"/>
              </a:rPr>
              <a:t>12  </a:t>
            </a:r>
            <a:r>
              <a:rPr lang="en-US" sz="1300" dirty="0">
                <a:solidFill>
                  <a:schemeClr val="tx1"/>
                </a:solidFill>
                <a:latin typeface="Consolas" pitchFamily="34" charset="0"/>
                <a:ea typeface="Consolas" pitchFamily="34" charset="-122"/>
                <a:cs typeface="Consolas" pitchFamily="34" charset="-120"/>
              </a:rPr>
              <a:t>  container: {</a:t>
            </a:r>
            <a:endParaRPr lang="en-US" sz="1300" dirty="0"/>
          </a:p>
          <a:p>
            <a:pPr indent="0" marL="0">
              <a:buNone/>
            </a:pPr>
            <a:r>
              <a:rPr lang="en-US" sz="1300" dirty="0">
                <a:solidFill>
                  <a:schemeClr val="tx2"/>
                </a:solidFill>
                <a:latin typeface="Consolas" pitchFamily="34" charset="0"/>
                <a:ea typeface="Consolas" pitchFamily="34" charset="-122"/>
                <a:cs typeface="Consolas" pitchFamily="34" charset="-120"/>
              </a:rPr>
              <a:t>13  </a:t>
            </a:r>
            <a:r>
              <a:rPr lang="en-US" sz="1300" dirty="0">
                <a:solidFill>
                  <a:schemeClr val="tx1"/>
                </a:solidFill>
                <a:latin typeface="Consolas" pitchFamily="34" charset="0"/>
                <a:ea typeface="Consolas" pitchFamily="34" charset="-122"/>
                <a:cs typeface="Consolas" pitchFamily="34" charset="-120"/>
              </a:rPr>
              <a:t>    flex: </a:t>
            </a:r>
            <a:r>
              <a:rPr lang="en-US" sz="1300" dirty="0">
                <a:solidFill>
                  <a:schemeClr val="accent2"/>
                </a:solidFill>
                <a:latin typeface="Consolas" pitchFamily="34" charset="0"/>
                <a:ea typeface="Consolas" pitchFamily="34" charset="-122"/>
                <a:cs typeface="Consolas" pitchFamily="34" charset="-120"/>
              </a:rPr>
              <a:t>1</a:t>
            </a:r>
            <a:r>
              <a:rPr lang="en-US" sz="1300" dirty="0">
                <a:solidFill>
                  <a:schemeClr val="tx1"/>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chemeClr val="tx2"/>
                </a:solidFill>
                <a:latin typeface="Consolas" pitchFamily="34" charset="0"/>
                <a:ea typeface="Consolas" pitchFamily="34" charset="-122"/>
                <a:cs typeface="Consolas" pitchFamily="34" charset="-120"/>
              </a:rPr>
              <a:t>14  </a:t>
            </a:r>
            <a:r>
              <a:rPr lang="en-US" sz="1300" dirty="0">
                <a:solidFill>
                  <a:schemeClr val="tx1"/>
                </a:solidFill>
                <a:latin typeface="Consolas" pitchFamily="34" charset="0"/>
                <a:ea typeface="Consolas" pitchFamily="34" charset="-122"/>
                <a:cs typeface="Consolas" pitchFamily="34" charset="-120"/>
              </a:rPr>
              <a:t>    alignItems: </a:t>
            </a:r>
            <a:r>
              <a:rPr lang="en-US" sz="1300" dirty="0">
                <a:solidFill>
                  <a:schemeClr val="accent3"/>
                </a:solidFill>
                <a:latin typeface="Consolas" pitchFamily="34" charset="0"/>
                <a:ea typeface="Consolas" pitchFamily="34" charset="-122"/>
                <a:cs typeface="Consolas" pitchFamily="34" charset="-120"/>
              </a:rPr>
              <a:t>"center"</a:t>
            </a:r>
            <a:r>
              <a:rPr lang="en-US" sz="1300" dirty="0">
                <a:solidFill>
                  <a:schemeClr val="tx1"/>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chemeClr val="tx2"/>
                </a:solidFill>
                <a:latin typeface="Consolas" pitchFamily="34" charset="0"/>
                <a:ea typeface="Consolas" pitchFamily="34" charset="-122"/>
                <a:cs typeface="Consolas" pitchFamily="34" charset="-120"/>
              </a:rPr>
              <a:t>15  </a:t>
            </a:r>
            <a:r>
              <a:rPr lang="en-US" sz="1300" dirty="0">
                <a:solidFill>
                  <a:schemeClr val="tx1"/>
                </a:solidFill>
                <a:latin typeface="Consolas" pitchFamily="34" charset="0"/>
                <a:ea typeface="Consolas" pitchFamily="34" charset="-122"/>
                <a:cs typeface="Consolas" pitchFamily="34" charset="-120"/>
              </a:rPr>
              <a:t>    justifyContent: </a:t>
            </a:r>
            <a:r>
              <a:rPr lang="en-US" sz="1300" dirty="0">
                <a:solidFill>
                  <a:schemeClr val="accent3"/>
                </a:solidFill>
                <a:latin typeface="Consolas" pitchFamily="34" charset="0"/>
                <a:ea typeface="Consolas" pitchFamily="34" charset="-122"/>
                <a:cs typeface="Consolas" pitchFamily="34" charset="-120"/>
              </a:rPr>
              <a:t>"center"</a:t>
            </a:r>
            <a:r>
              <a:rPr lang="en-US" sz="1300" dirty="0">
                <a:solidFill>
                  <a:schemeClr val="tx1"/>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chemeClr val="tx2"/>
                </a:solidFill>
                <a:latin typeface="Consolas" pitchFamily="34" charset="0"/>
                <a:ea typeface="Consolas" pitchFamily="34" charset="-122"/>
                <a:cs typeface="Consolas" pitchFamily="34" charset="-120"/>
              </a:rPr>
              <a:t>16  </a:t>
            </a:r>
            <a:r>
              <a:rPr lang="en-US" sz="1300" dirty="0">
                <a:solidFill>
                  <a:schemeClr val="tx1"/>
                </a:solidFill>
                <a:latin typeface="Consolas" pitchFamily="34" charset="0"/>
                <a:ea typeface="Consolas" pitchFamily="34" charset="-122"/>
                <a:cs typeface="Consolas" pitchFamily="34" charset="-120"/>
              </a:rPr>
              <a:t>  },</a:t>
            </a:r>
            <a:endParaRPr lang="en-US" sz="1300" dirty="0"/>
          </a:p>
          <a:p>
            <a:pPr indent="0" marL="0">
              <a:buNone/>
            </a:pPr>
            <a:r>
              <a:rPr lang="en-US" sz="1300" dirty="0">
                <a:solidFill>
                  <a:schemeClr val="tx2"/>
                </a:solidFill>
                <a:latin typeface="Consolas" pitchFamily="34" charset="0"/>
                <a:ea typeface="Consolas" pitchFamily="34" charset="-122"/>
                <a:cs typeface="Consolas" pitchFamily="34" charset="-120"/>
              </a:rPr>
              <a:t>17  </a:t>
            </a:r>
            <a:r>
              <a:rPr lang="en-US" sz="1300" dirty="0">
                <a:solidFill>
                  <a:schemeClr val="tx1"/>
                </a:solidFill>
                <a:latin typeface="Consolas" pitchFamily="34" charset="0"/>
                <a:ea typeface="Consolas" pitchFamily="34" charset="-122"/>
                <a:cs typeface="Consolas" pitchFamily="34" charset="-120"/>
              </a:rPr>
              <a:t>  title: {</a:t>
            </a:r>
            <a:endParaRPr lang="en-US" sz="1300" dirty="0"/>
          </a:p>
          <a:p>
            <a:pPr indent="0" marL="0">
              <a:buNone/>
            </a:pPr>
            <a:r>
              <a:rPr lang="en-US" sz="1300" dirty="0">
                <a:solidFill>
                  <a:schemeClr val="tx2"/>
                </a:solidFill>
                <a:latin typeface="Consolas" pitchFamily="34" charset="0"/>
                <a:ea typeface="Consolas" pitchFamily="34" charset="-122"/>
                <a:cs typeface="Consolas" pitchFamily="34" charset="-120"/>
              </a:rPr>
              <a:t>18  </a:t>
            </a:r>
            <a:r>
              <a:rPr lang="en-US" sz="1300" dirty="0">
                <a:solidFill>
                  <a:schemeClr val="tx1"/>
                </a:solidFill>
                <a:latin typeface="Consolas" pitchFamily="34" charset="0"/>
                <a:ea typeface="Consolas" pitchFamily="34" charset="-122"/>
                <a:cs typeface="Consolas" pitchFamily="34" charset="-120"/>
              </a:rPr>
              <a:t>    fontSize: </a:t>
            </a:r>
            <a:r>
              <a:rPr lang="en-US" sz="1300" dirty="0">
                <a:solidFill>
                  <a:schemeClr val="accent2"/>
                </a:solidFill>
                <a:latin typeface="Consolas" pitchFamily="34" charset="0"/>
                <a:ea typeface="Consolas" pitchFamily="34" charset="-122"/>
                <a:cs typeface="Consolas" pitchFamily="34" charset="-120"/>
              </a:rPr>
              <a:t>32</a:t>
            </a:r>
            <a:r>
              <a:rPr lang="en-US" sz="1300" dirty="0">
                <a:solidFill>
                  <a:schemeClr val="tx1"/>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chemeClr val="tx2"/>
                </a:solidFill>
                <a:latin typeface="Consolas" pitchFamily="34" charset="0"/>
                <a:ea typeface="Consolas" pitchFamily="34" charset="-122"/>
                <a:cs typeface="Consolas" pitchFamily="34" charset="-120"/>
              </a:rPr>
              <a:t>19  </a:t>
            </a:r>
            <a:r>
              <a:rPr lang="en-US" sz="1300" dirty="0">
                <a:solidFill>
                  <a:schemeClr val="tx1"/>
                </a:solidFill>
                <a:latin typeface="Consolas" pitchFamily="34" charset="0"/>
                <a:ea typeface="Consolas" pitchFamily="34" charset="-122"/>
                <a:cs typeface="Consolas" pitchFamily="34" charset="-120"/>
              </a:rPr>
              <a:t>    fontWeight: </a:t>
            </a:r>
            <a:r>
              <a:rPr lang="en-US" sz="1300" dirty="0">
                <a:solidFill>
                  <a:schemeClr val="accent3"/>
                </a:solidFill>
                <a:latin typeface="Consolas" pitchFamily="34" charset="0"/>
                <a:ea typeface="Consolas" pitchFamily="34" charset="-122"/>
                <a:cs typeface="Consolas" pitchFamily="34" charset="-120"/>
              </a:rPr>
              <a:t>"bold"</a:t>
            </a:r>
            <a:r>
              <a:rPr lang="en-US" sz="1300" dirty="0">
                <a:solidFill>
                  <a:schemeClr val="tx1"/>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chemeClr val="tx2"/>
                </a:solidFill>
                <a:latin typeface="Consolas" pitchFamily="34" charset="0"/>
                <a:ea typeface="Consolas" pitchFamily="34" charset="-122"/>
                <a:cs typeface="Consolas" pitchFamily="34" charset="-120"/>
              </a:rPr>
              <a:t>20  </a:t>
            </a:r>
            <a:r>
              <a:rPr lang="en-US" sz="1300" dirty="0">
                <a:solidFill>
                  <a:schemeClr val="tx1"/>
                </a:solidFill>
                <a:latin typeface="Consolas" pitchFamily="34" charset="0"/>
                <a:ea typeface="Consolas" pitchFamily="34" charset="-122"/>
                <a:cs typeface="Consolas" pitchFamily="34" charset="-120"/>
              </a:rPr>
              <a:t>  },</a:t>
            </a:r>
            <a:endParaRPr lang="en-US" sz="1300" dirty="0"/>
          </a:p>
          <a:p>
            <a:pPr indent="0" marL="0">
              <a:buNone/>
            </a:pPr>
            <a:r>
              <a:rPr lang="en-US" sz="1300" dirty="0">
                <a:solidFill>
                  <a:schemeClr val="tx2"/>
                </a:solidFill>
                <a:latin typeface="Consolas" pitchFamily="34" charset="0"/>
                <a:ea typeface="Consolas" pitchFamily="34" charset="-122"/>
                <a:cs typeface="Consolas" pitchFamily="34" charset="-120"/>
              </a:rPr>
              <a:t>21  </a:t>
            </a:r>
            <a:r>
              <a:rPr lang="en-US" sz="1300" dirty="0">
                <a:solidFill>
                  <a:schemeClr val="tx1"/>
                </a:solidFill>
                <a:latin typeface="Consolas" pitchFamily="34" charset="0"/>
                <a:ea typeface="Consolas" pitchFamily="34" charset="-122"/>
                <a:cs typeface="Consolas" pitchFamily="34" charset="-120"/>
              </a:rPr>
              <a:t>});</a:t>
            </a:r>
            <a:endParaRPr lang="en-US" sz="1300" dirty="0"/>
          </a:p>
        </p:txBody>
      </p:sp>
      <p:sp>
        <p:nvSpPr>
          <p:cNvPr id="8" name="Line chip"/>
          <p:cNvSpPr/>
          <p:nvPr/>
        </p:nvSpPr>
        <p:spPr>
          <a:xfrm>
            <a:off x="6995160" y="1719072"/>
            <a:ext cx="713232" cy="292608"/>
          </a:xfrm>
          <a:prstGeom prst="roundRect">
            <a:avLst>
              <a:gd name="adj" fmla="val 18750"/>
            </a:avLst>
          </a:prstGeom>
          <a:solidFill>
            <a:schemeClr val="accent3"/>
          </a:solidFill>
          <a:ln/>
        </p:spPr>
        <p:txBody>
          <a:bodyPr wrap="square" lIns="0" tIns="0" rIns="0" bIns="0" rtlCol="0" anchor="ctr"/>
          <a:lstStyle/>
          <a:p>
            <a:pPr algn="ctr" indent="0" marL="0">
              <a:buNone/>
            </a:pPr>
            <a:r>
              <a:rPr lang="en-US" sz="1200" b="1" dirty="0">
                <a:solidFill>
                  <a:schemeClr val="bg1"/>
                </a:solidFill>
                <a:latin typeface="Consolas" pitchFamily="34" charset="0"/>
                <a:ea typeface="Consolas" pitchFamily="34" charset="-122"/>
                <a:cs typeface="Consolas" pitchFamily="34" charset="-120"/>
              </a:rPr>
              <a:t>1</a:t>
            </a:r>
            <a:endParaRPr lang="en-US" sz="1200" dirty="0"/>
          </a:p>
        </p:txBody>
      </p:sp>
      <p:sp>
        <p:nvSpPr>
          <p:cNvPr id="9" name="Text 7"/>
          <p:cNvSpPr txBox="1"/>
          <p:nvPr/>
        </p:nvSpPr>
        <p:spPr>
          <a:xfrm>
            <a:off x="7863840" y="1691640"/>
            <a:ext cx="3776472" cy="548640"/>
          </a:xfrm>
          <a:prstGeom prst="rect">
            <a:avLst/>
          </a:prstGeom>
          <a:noFill/>
          <a:ln/>
        </p:spPr>
        <p:txBody>
          <a:bodyPr wrap="square" lIns="0" tIns="0" rIns="0" bIns="0" rtlCol="0" anchor="t"/>
          <a:lstStyle/>
          <a:p>
            <a:pPr indent="0" marL="0">
              <a:buNone/>
            </a:pPr>
            <a:r>
              <a:rPr lang="en-US" sz="1300" dirty="0">
                <a:solidFill>
                  <a:schemeClr val="accent5"/>
                </a:solidFill>
                <a:latin typeface="Consolas" pitchFamily="34" charset="0"/>
                <a:ea typeface="Consolas" pitchFamily="34" charset="-122"/>
                <a:cs typeface="Consolas" pitchFamily="34" charset="-120"/>
              </a:rPr>
              <a:t>import</a:t>
            </a:r>
            <a:r>
              <a:rPr lang="en-US" sz="1300" dirty="0">
                <a:solidFill>
                  <a:schemeClr val="tx1"/>
                </a:solidFill>
              </a:rPr>
              <a:t> brings </a:t>
            </a:r>
            <a:r>
              <a:rPr lang="en-US" sz="1300" dirty="0">
                <a:solidFill>
                  <a:schemeClr val="accent5"/>
                </a:solidFill>
                <a:latin typeface="Consolas" pitchFamily="34" charset="0"/>
                <a:ea typeface="Consolas" pitchFamily="34" charset="-122"/>
                <a:cs typeface="Consolas" pitchFamily="34" charset="-120"/>
              </a:rPr>
              <a:t>Text</a:t>
            </a:r>
            <a:r>
              <a:rPr lang="en-US" sz="1300" dirty="0">
                <a:solidFill>
                  <a:schemeClr val="tx1"/>
                </a:solidFill>
              </a:rPr>
              <a:t>, </a:t>
            </a:r>
            <a:r>
              <a:rPr lang="en-US" sz="1300" dirty="0">
                <a:solidFill>
                  <a:schemeClr val="accent5"/>
                </a:solidFill>
                <a:latin typeface="Consolas" pitchFamily="34" charset="0"/>
                <a:ea typeface="Consolas" pitchFamily="34" charset="-122"/>
                <a:cs typeface="Consolas" pitchFamily="34" charset="-120"/>
              </a:rPr>
              <a:t>View</a:t>
            </a:r>
            <a:r>
              <a:rPr lang="en-US" sz="1300" dirty="0">
                <a:solidFill>
                  <a:schemeClr val="tx1"/>
                </a:solidFill>
              </a:rPr>
              <a:t>, and </a:t>
            </a:r>
            <a:r>
              <a:rPr lang="en-US" sz="1300" dirty="0">
                <a:solidFill>
                  <a:schemeClr val="accent5"/>
                </a:solidFill>
                <a:latin typeface="Consolas" pitchFamily="34" charset="0"/>
                <a:ea typeface="Consolas" pitchFamily="34" charset="-122"/>
                <a:cs typeface="Consolas" pitchFamily="34" charset="-120"/>
              </a:rPr>
              <a:t>StyleSheet</a:t>
            </a:r>
            <a:r>
              <a:rPr lang="en-US" sz="1300" dirty="0">
                <a:solidFill>
                  <a:schemeClr val="tx1"/>
                </a:solidFill>
              </a:rPr>
              <a:t> from React Native.</a:t>
            </a:r>
            <a:endParaRPr lang="en-US" sz="1300" dirty="0"/>
          </a:p>
        </p:txBody>
      </p:sp>
      <p:sp>
        <p:nvSpPr>
          <p:cNvPr id="10" name="Line chip"/>
          <p:cNvSpPr/>
          <p:nvPr/>
        </p:nvSpPr>
        <p:spPr>
          <a:xfrm>
            <a:off x="6995160" y="2281428"/>
            <a:ext cx="713232" cy="292608"/>
          </a:xfrm>
          <a:prstGeom prst="roundRect">
            <a:avLst>
              <a:gd name="adj" fmla="val 18750"/>
            </a:avLst>
          </a:prstGeom>
          <a:solidFill>
            <a:schemeClr val="accent3"/>
          </a:solidFill>
          <a:ln/>
        </p:spPr>
        <p:txBody>
          <a:bodyPr wrap="square" lIns="0" tIns="0" rIns="0" bIns="0" rtlCol="0" anchor="ctr"/>
          <a:lstStyle/>
          <a:p>
            <a:pPr algn="ctr" indent="0" marL="0">
              <a:buNone/>
            </a:pPr>
            <a:r>
              <a:rPr lang="en-US" sz="1200" b="1" dirty="0">
                <a:solidFill>
                  <a:schemeClr val="bg1"/>
                </a:solidFill>
                <a:latin typeface="Consolas" pitchFamily="34" charset="0"/>
                <a:ea typeface="Consolas" pitchFamily="34" charset="-122"/>
                <a:cs typeface="Consolas" pitchFamily="34" charset="-120"/>
              </a:rPr>
              <a:t>3</a:t>
            </a:r>
            <a:endParaRPr lang="en-US" sz="1200" dirty="0"/>
          </a:p>
        </p:txBody>
      </p:sp>
      <p:sp>
        <p:nvSpPr>
          <p:cNvPr id="11" name="Text 9"/>
          <p:cNvSpPr txBox="1"/>
          <p:nvPr/>
        </p:nvSpPr>
        <p:spPr>
          <a:xfrm>
            <a:off x="7863840" y="2253996"/>
            <a:ext cx="3776472" cy="548640"/>
          </a:xfrm>
          <a:prstGeom prst="rect">
            <a:avLst/>
          </a:prstGeom>
          <a:noFill/>
          <a:ln/>
        </p:spPr>
        <p:txBody>
          <a:bodyPr wrap="square" lIns="0" tIns="0" rIns="0" bIns="0" rtlCol="0" anchor="t"/>
          <a:lstStyle/>
          <a:p>
            <a:pPr indent="0" marL="0">
              <a:buNone/>
            </a:pPr>
            <a:r>
              <a:rPr lang="en-US" sz="1300" dirty="0">
                <a:solidFill>
                  <a:schemeClr val="accent5"/>
                </a:solidFill>
                <a:latin typeface="Consolas" pitchFamily="34" charset="0"/>
                <a:ea typeface="Consolas" pitchFamily="34" charset="-122"/>
                <a:cs typeface="Consolas" pitchFamily="34" charset="-120"/>
              </a:rPr>
              <a:t>export default function Index()</a:t>
            </a:r>
            <a:r>
              <a:rPr lang="en-US" sz="1300" dirty="0">
                <a:solidFill>
                  <a:schemeClr val="tx1"/>
                </a:solidFill>
              </a:rPr>
              <a:t> creates the screen. Expo Router shows it as the home screen.</a:t>
            </a:r>
            <a:endParaRPr lang="en-US" sz="1300" dirty="0"/>
          </a:p>
        </p:txBody>
      </p:sp>
      <p:sp>
        <p:nvSpPr>
          <p:cNvPr id="12" name="Line chip"/>
          <p:cNvSpPr/>
          <p:nvPr/>
        </p:nvSpPr>
        <p:spPr>
          <a:xfrm>
            <a:off x="6995160" y="2843784"/>
            <a:ext cx="713232" cy="292608"/>
          </a:xfrm>
          <a:prstGeom prst="roundRect">
            <a:avLst>
              <a:gd name="adj" fmla="val 18750"/>
            </a:avLst>
          </a:prstGeom>
          <a:solidFill>
            <a:schemeClr val="accent3"/>
          </a:solidFill>
          <a:ln/>
        </p:spPr>
        <p:txBody>
          <a:bodyPr wrap="square" lIns="0" tIns="0" rIns="0" bIns="0" rtlCol="0" anchor="ctr"/>
          <a:lstStyle/>
          <a:p>
            <a:pPr algn="ctr" indent="0" marL="0">
              <a:buNone/>
            </a:pPr>
            <a:r>
              <a:rPr lang="en-US" sz="1200" b="1" dirty="0">
                <a:solidFill>
                  <a:schemeClr val="bg1"/>
                </a:solidFill>
                <a:latin typeface="Consolas" pitchFamily="34" charset="0"/>
                <a:ea typeface="Consolas" pitchFamily="34" charset="-122"/>
                <a:cs typeface="Consolas" pitchFamily="34" charset="-120"/>
              </a:rPr>
              <a:t>4–8</a:t>
            </a:r>
            <a:endParaRPr lang="en-US" sz="1200" dirty="0"/>
          </a:p>
        </p:txBody>
      </p:sp>
      <p:sp>
        <p:nvSpPr>
          <p:cNvPr id="13" name="Text 11"/>
          <p:cNvSpPr txBox="1"/>
          <p:nvPr/>
        </p:nvSpPr>
        <p:spPr>
          <a:xfrm>
            <a:off x="7863840" y="2816352"/>
            <a:ext cx="3776472" cy="548640"/>
          </a:xfrm>
          <a:prstGeom prst="rect">
            <a:avLst/>
          </a:prstGeom>
          <a:noFill/>
          <a:ln/>
        </p:spPr>
        <p:txBody>
          <a:bodyPr wrap="square" lIns="0" tIns="0" rIns="0" bIns="0" rtlCol="0" anchor="t"/>
          <a:lstStyle/>
          <a:p>
            <a:pPr indent="0" marL="0">
              <a:buNone/>
            </a:pPr>
            <a:r>
              <a:rPr lang="en-US" sz="1300" dirty="0">
                <a:solidFill>
                  <a:schemeClr val="accent5"/>
                </a:solidFill>
                <a:latin typeface="Consolas" pitchFamily="34" charset="0"/>
                <a:ea typeface="Consolas" pitchFamily="34" charset="-122"/>
                <a:cs typeface="Consolas" pitchFamily="34" charset="-120"/>
              </a:rPr>
              <a:t>return ( … )</a:t>
            </a:r>
            <a:r>
              <a:rPr lang="en-US" sz="1300" dirty="0">
                <a:solidFill>
                  <a:schemeClr val="tx1"/>
                </a:solidFill>
              </a:rPr>
              <a:t> gives the JSX that this screen shows.</a:t>
            </a:r>
            <a:endParaRPr lang="en-US" sz="1300" dirty="0"/>
          </a:p>
        </p:txBody>
      </p:sp>
      <p:sp>
        <p:nvSpPr>
          <p:cNvPr id="14" name="Line chip"/>
          <p:cNvSpPr/>
          <p:nvPr/>
        </p:nvSpPr>
        <p:spPr>
          <a:xfrm>
            <a:off x="6995160" y="3406140"/>
            <a:ext cx="713232" cy="292608"/>
          </a:xfrm>
          <a:prstGeom prst="roundRect">
            <a:avLst>
              <a:gd name="adj" fmla="val 18750"/>
            </a:avLst>
          </a:prstGeom>
          <a:solidFill>
            <a:schemeClr val="accent3"/>
          </a:solidFill>
          <a:ln/>
        </p:spPr>
        <p:txBody>
          <a:bodyPr wrap="square" lIns="0" tIns="0" rIns="0" bIns="0" rtlCol="0" anchor="ctr"/>
          <a:lstStyle/>
          <a:p>
            <a:pPr algn="ctr" indent="0" marL="0">
              <a:buNone/>
            </a:pPr>
            <a:r>
              <a:rPr lang="en-US" sz="1200" b="1" dirty="0">
                <a:solidFill>
                  <a:schemeClr val="bg1"/>
                </a:solidFill>
                <a:latin typeface="Consolas" pitchFamily="34" charset="0"/>
                <a:ea typeface="Consolas" pitchFamily="34" charset="-122"/>
                <a:cs typeface="Consolas" pitchFamily="34" charset="-120"/>
              </a:rPr>
              <a:t>5</a:t>
            </a:r>
            <a:endParaRPr lang="en-US" sz="1200" dirty="0"/>
          </a:p>
        </p:txBody>
      </p:sp>
      <p:sp>
        <p:nvSpPr>
          <p:cNvPr id="15" name="Text 13"/>
          <p:cNvSpPr txBox="1"/>
          <p:nvPr/>
        </p:nvSpPr>
        <p:spPr>
          <a:xfrm>
            <a:off x="7863840" y="3378708"/>
            <a:ext cx="3776472" cy="548640"/>
          </a:xfrm>
          <a:prstGeom prst="rect">
            <a:avLst/>
          </a:prstGeom>
          <a:noFill/>
          <a:ln/>
        </p:spPr>
        <p:txBody>
          <a:bodyPr wrap="square" lIns="0" tIns="0" rIns="0" bIns="0" rtlCol="0" anchor="t"/>
          <a:lstStyle/>
          <a:p>
            <a:pPr indent="0" marL="0">
              <a:buNone/>
            </a:pPr>
            <a:r>
              <a:rPr lang="en-US" sz="1300" dirty="0">
                <a:solidFill>
                  <a:schemeClr val="accent5"/>
                </a:solidFill>
                <a:latin typeface="Consolas" pitchFamily="34" charset="0"/>
                <a:ea typeface="Consolas" pitchFamily="34" charset="-122"/>
                <a:cs typeface="Consolas" pitchFamily="34" charset="-120"/>
              </a:rPr>
              <a:t>&lt;View&gt;</a:t>
            </a:r>
            <a:r>
              <a:rPr lang="en-US" sz="1300" dirty="0">
                <a:solidFill>
                  <a:schemeClr val="tx1"/>
                </a:solidFill>
              </a:rPr>
              <a:t> is a box that fills the screen and holds our text.</a:t>
            </a:r>
            <a:endParaRPr lang="en-US" sz="1300" dirty="0"/>
          </a:p>
        </p:txBody>
      </p:sp>
      <p:sp>
        <p:nvSpPr>
          <p:cNvPr id="16" name="Line chip"/>
          <p:cNvSpPr/>
          <p:nvPr/>
        </p:nvSpPr>
        <p:spPr>
          <a:xfrm>
            <a:off x="6995160" y="3968496"/>
            <a:ext cx="713232" cy="292608"/>
          </a:xfrm>
          <a:prstGeom prst="roundRect">
            <a:avLst>
              <a:gd name="adj" fmla="val 18750"/>
            </a:avLst>
          </a:prstGeom>
          <a:solidFill>
            <a:schemeClr val="accent3"/>
          </a:solidFill>
          <a:ln/>
        </p:spPr>
        <p:txBody>
          <a:bodyPr wrap="square" lIns="0" tIns="0" rIns="0" bIns="0" rtlCol="0" anchor="ctr"/>
          <a:lstStyle/>
          <a:p>
            <a:pPr algn="ctr" indent="0" marL="0">
              <a:buNone/>
            </a:pPr>
            <a:r>
              <a:rPr lang="en-US" sz="1200" b="1" dirty="0">
                <a:solidFill>
                  <a:schemeClr val="bg1"/>
                </a:solidFill>
                <a:latin typeface="Consolas" pitchFamily="34" charset="0"/>
                <a:ea typeface="Consolas" pitchFamily="34" charset="-122"/>
                <a:cs typeface="Consolas" pitchFamily="34" charset="-120"/>
              </a:rPr>
              <a:t>6</a:t>
            </a:r>
            <a:endParaRPr lang="en-US" sz="1200" dirty="0"/>
          </a:p>
        </p:txBody>
      </p:sp>
      <p:sp>
        <p:nvSpPr>
          <p:cNvPr id="17" name="Text 15"/>
          <p:cNvSpPr txBox="1"/>
          <p:nvPr/>
        </p:nvSpPr>
        <p:spPr>
          <a:xfrm>
            <a:off x="7863840" y="3941064"/>
            <a:ext cx="3776472" cy="548640"/>
          </a:xfrm>
          <a:prstGeom prst="rect">
            <a:avLst/>
          </a:prstGeom>
          <a:noFill/>
          <a:ln/>
        </p:spPr>
        <p:txBody>
          <a:bodyPr wrap="square" lIns="0" tIns="0" rIns="0" bIns="0" rtlCol="0" anchor="t"/>
          <a:lstStyle/>
          <a:p>
            <a:pPr indent="0" marL="0">
              <a:buNone/>
            </a:pPr>
            <a:r>
              <a:rPr lang="en-US" sz="1300" dirty="0">
                <a:solidFill>
                  <a:schemeClr val="accent5"/>
                </a:solidFill>
                <a:latin typeface="Consolas" pitchFamily="34" charset="0"/>
                <a:ea typeface="Consolas" pitchFamily="34" charset="-122"/>
                <a:cs typeface="Consolas" pitchFamily="34" charset="-120"/>
              </a:rPr>
              <a:t>&lt;Text&gt;</a:t>
            </a:r>
            <a:r>
              <a:rPr lang="en-US" sz="1300" dirty="0">
                <a:solidFill>
                  <a:schemeClr val="tx1"/>
                </a:solidFill>
              </a:rPr>
              <a:t> shows “Hello World!” on the screen.</a:t>
            </a:r>
            <a:endParaRPr lang="en-US" sz="1300" dirty="0"/>
          </a:p>
        </p:txBody>
      </p:sp>
      <p:sp>
        <p:nvSpPr>
          <p:cNvPr id="18" name="Line chip"/>
          <p:cNvSpPr/>
          <p:nvPr/>
        </p:nvSpPr>
        <p:spPr>
          <a:xfrm>
            <a:off x="6995160" y="4530852"/>
            <a:ext cx="713232" cy="292608"/>
          </a:xfrm>
          <a:prstGeom prst="roundRect">
            <a:avLst>
              <a:gd name="adj" fmla="val 18750"/>
            </a:avLst>
          </a:prstGeom>
          <a:solidFill>
            <a:schemeClr val="accent3"/>
          </a:solidFill>
          <a:ln/>
        </p:spPr>
        <p:txBody>
          <a:bodyPr wrap="square" lIns="0" tIns="0" rIns="0" bIns="0" rtlCol="0" anchor="ctr"/>
          <a:lstStyle/>
          <a:p>
            <a:pPr algn="ctr" indent="0" marL="0">
              <a:buNone/>
            </a:pPr>
            <a:r>
              <a:rPr lang="en-US" sz="1200" b="1" dirty="0">
                <a:solidFill>
                  <a:schemeClr val="bg1"/>
                </a:solidFill>
                <a:latin typeface="Consolas" pitchFamily="34" charset="0"/>
                <a:ea typeface="Consolas" pitchFamily="34" charset="-122"/>
                <a:cs typeface="Consolas" pitchFamily="34" charset="-120"/>
              </a:rPr>
              <a:t>11</a:t>
            </a:r>
            <a:endParaRPr lang="en-US" sz="1200" dirty="0"/>
          </a:p>
        </p:txBody>
      </p:sp>
      <p:sp>
        <p:nvSpPr>
          <p:cNvPr id="19" name="Text 17"/>
          <p:cNvSpPr txBox="1"/>
          <p:nvPr/>
        </p:nvSpPr>
        <p:spPr>
          <a:xfrm>
            <a:off x="7863840" y="4503420"/>
            <a:ext cx="3776472" cy="548640"/>
          </a:xfrm>
          <a:prstGeom prst="rect">
            <a:avLst/>
          </a:prstGeom>
          <a:noFill/>
          <a:ln/>
        </p:spPr>
        <p:txBody>
          <a:bodyPr wrap="square" lIns="0" tIns="0" rIns="0" bIns="0" rtlCol="0" anchor="t"/>
          <a:lstStyle/>
          <a:p>
            <a:pPr indent="0" marL="0">
              <a:buNone/>
            </a:pPr>
            <a:r>
              <a:rPr lang="en-US" sz="1300" dirty="0">
                <a:solidFill>
                  <a:schemeClr val="accent5"/>
                </a:solidFill>
                <a:latin typeface="Consolas" pitchFamily="34" charset="0"/>
                <a:ea typeface="Consolas" pitchFamily="34" charset="-122"/>
                <a:cs typeface="Consolas" pitchFamily="34" charset="-120"/>
              </a:rPr>
              <a:t>StyleSheet.create({ … })</a:t>
            </a:r>
            <a:r>
              <a:rPr lang="en-US" sz="1300" dirty="0">
                <a:solidFill>
                  <a:schemeClr val="tx1"/>
                </a:solidFill>
              </a:rPr>
              <a:t> defines our styles in one place.</a:t>
            </a:r>
            <a:endParaRPr lang="en-US" sz="1300" dirty="0"/>
          </a:p>
        </p:txBody>
      </p:sp>
      <p:sp>
        <p:nvSpPr>
          <p:cNvPr id="20" name="Line chip"/>
          <p:cNvSpPr/>
          <p:nvPr/>
        </p:nvSpPr>
        <p:spPr>
          <a:xfrm>
            <a:off x="6995160" y="5093208"/>
            <a:ext cx="713232" cy="292608"/>
          </a:xfrm>
          <a:prstGeom prst="roundRect">
            <a:avLst>
              <a:gd name="adj" fmla="val 18750"/>
            </a:avLst>
          </a:prstGeom>
          <a:solidFill>
            <a:schemeClr val="accent3"/>
          </a:solidFill>
          <a:ln/>
        </p:spPr>
        <p:txBody>
          <a:bodyPr wrap="square" lIns="0" tIns="0" rIns="0" bIns="0" rtlCol="0" anchor="ctr"/>
          <a:lstStyle/>
          <a:p>
            <a:pPr algn="ctr" indent="0" marL="0">
              <a:buNone/>
            </a:pPr>
            <a:r>
              <a:rPr lang="en-US" sz="1200" b="1" dirty="0">
                <a:solidFill>
                  <a:schemeClr val="bg1"/>
                </a:solidFill>
                <a:latin typeface="Consolas" pitchFamily="34" charset="0"/>
                <a:ea typeface="Consolas" pitchFamily="34" charset="-122"/>
                <a:cs typeface="Consolas" pitchFamily="34" charset="-120"/>
              </a:rPr>
              <a:t>13–15</a:t>
            </a:r>
            <a:endParaRPr lang="en-US" sz="1200" dirty="0"/>
          </a:p>
        </p:txBody>
      </p:sp>
      <p:sp>
        <p:nvSpPr>
          <p:cNvPr id="21" name="Text 19"/>
          <p:cNvSpPr txBox="1"/>
          <p:nvPr/>
        </p:nvSpPr>
        <p:spPr>
          <a:xfrm>
            <a:off x="7863840" y="5065776"/>
            <a:ext cx="3776472" cy="548640"/>
          </a:xfrm>
          <a:prstGeom prst="rect">
            <a:avLst/>
          </a:prstGeom>
          <a:noFill/>
          <a:ln/>
        </p:spPr>
        <p:txBody>
          <a:bodyPr wrap="square" lIns="0" tIns="0" rIns="0" bIns="0" rtlCol="0" anchor="t"/>
          <a:lstStyle/>
          <a:p>
            <a:pPr indent="0" marL="0">
              <a:buNone/>
            </a:pPr>
            <a:r>
              <a:rPr lang="en-US" sz="1300" dirty="0">
                <a:solidFill>
                  <a:schemeClr val="accent5"/>
                </a:solidFill>
                <a:latin typeface="Consolas" pitchFamily="34" charset="0"/>
                <a:ea typeface="Consolas" pitchFamily="34" charset="-122"/>
                <a:cs typeface="Consolas" pitchFamily="34" charset="-120"/>
              </a:rPr>
              <a:t>flex: 1</a:t>
            </a:r>
            <a:r>
              <a:rPr lang="en-US" sz="1300" dirty="0">
                <a:solidFill>
                  <a:schemeClr val="tx1"/>
                </a:solidFill>
              </a:rPr>
              <a:t> fills the screen. </a:t>
            </a:r>
            <a:r>
              <a:rPr lang="en-US" sz="1300" dirty="0">
                <a:solidFill>
                  <a:schemeClr val="accent5"/>
                </a:solidFill>
                <a:latin typeface="Consolas" pitchFamily="34" charset="0"/>
                <a:ea typeface="Consolas" pitchFamily="34" charset="-122"/>
                <a:cs typeface="Consolas" pitchFamily="34" charset="-120"/>
              </a:rPr>
              <a:t>alignItems</a:t>
            </a:r>
            <a:r>
              <a:rPr lang="en-US" sz="1300" dirty="0">
                <a:solidFill>
                  <a:schemeClr val="tx1"/>
                </a:solidFill>
              </a:rPr>
              <a:t> and </a:t>
            </a:r>
            <a:r>
              <a:rPr lang="en-US" sz="1300" dirty="0">
                <a:solidFill>
                  <a:schemeClr val="accent5"/>
                </a:solidFill>
                <a:latin typeface="Consolas" pitchFamily="34" charset="0"/>
                <a:ea typeface="Consolas" pitchFamily="34" charset="-122"/>
                <a:cs typeface="Consolas" pitchFamily="34" charset="-120"/>
              </a:rPr>
              <a:t>justifyContent</a:t>
            </a:r>
            <a:r>
              <a:rPr lang="en-US" sz="1300" dirty="0">
                <a:solidFill>
                  <a:schemeClr val="tx1"/>
                </a:solidFill>
              </a:rPr>
              <a:t> center the text.</a:t>
            </a:r>
            <a:endParaRPr lang="en-US" sz="1300" dirty="0"/>
          </a:p>
        </p:txBody>
      </p:sp>
      <p:sp>
        <p:nvSpPr>
          <p:cNvPr id="22" name="Line chip"/>
          <p:cNvSpPr/>
          <p:nvPr/>
        </p:nvSpPr>
        <p:spPr>
          <a:xfrm>
            <a:off x="6995160" y="5655564"/>
            <a:ext cx="713232" cy="292608"/>
          </a:xfrm>
          <a:prstGeom prst="roundRect">
            <a:avLst>
              <a:gd name="adj" fmla="val 18750"/>
            </a:avLst>
          </a:prstGeom>
          <a:solidFill>
            <a:schemeClr val="accent3"/>
          </a:solidFill>
          <a:ln/>
        </p:spPr>
        <p:txBody>
          <a:bodyPr wrap="square" lIns="0" tIns="0" rIns="0" bIns="0" rtlCol="0" anchor="ctr"/>
          <a:lstStyle/>
          <a:p>
            <a:pPr algn="ctr" indent="0" marL="0">
              <a:buNone/>
            </a:pPr>
            <a:r>
              <a:rPr lang="en-US" sz="1200" b="1" dirty="0">
                <a:solidFill>
                  <a:schemeClr val="bg1"/>
                </a:solidFill>
                <a:latin typeface="Consolas" pitchFamily="34" charset="0"/>
                <a:ea typeface="Consolas" pitchFamily="34" charset="-122"/>
                <a:cs typeface="Consolas" pitchFamily="34" charset="-120"/>
              </a:rPr>
              <a:t>18–19</a:t>
            </a:r>
            <a:endParaRPr lang="en-US" sz="1200" dirty="0"/>
          </a:p>
        </p:txBody>
      </p:sp>
      <p:sp>
        <p:nvSpPr>
          <p:cNvPr id="23" name="Text 21"/>
          <p:cNvSpPr txBox="1"/>
          <p:nvPr/>
        </p:nvSpPr>
        <p:spPr>
          <a:xfrm>
            <a:off x="7863840" y="5628132"/>
            <a:ext cx="3776472" cy="548640"/>
          </a:xfrm>
          <a:prstGeom prst="rect">
            <a:avLst/>
          </a:prstGeom>
          <a:noFill/>
          <a:ln/>
        </p:spPr>
        <p:txBody>
          <a:bodyPr wrap="square" lIns="0" tIns="0" rIns="0" bIns="0" rtlCol="0" anchor="t"/>
          <a:lstStyle/>
          <a:p>
            <a:pPr indent="0" marL="0">
              <a:buNone/>
            </a:pPr>
            <a:r>
              <a:rPr lang="en-US" sz="1300" dirty="0">
                <a:solidFill>
                  <a:schemeClr val="accent5"/>
                </a:solidFill>
                <a:latin typeface="Consolas" pitchFamily="34" charset="0"/>
                <a:ea typeface="Consolas" pitchFamily="34" charset="-122"/>
                <a:cs typeface="Consolas" pitchFamily="34" charset="-120"/>
              </a:rPr>
              <a:t>fontSize</a:t>
            </a:r>
            <a:r>
              <a:rPr lang="en-US" sz="1300" dirty="0">
                <a:solidFill>
                  <a:schemeClr val="tx1"/>
                </a:solidFill>
              </a:rPr>
              <a:t> and </a:t>
            </a:r>
            <a:r>
              <a:rPr lang="en-US" sz="1300" dirty="0">
                <a:solidFill>
                  <a:schemeClr val="accent5"/>
                </a:solidFill>
                <a:latin typeface="Consolas" pitchFamily="34" charset="0"/>
                <a:ea typeface="Consolas" pitchFamily="34" charset="-122"/>
                <a:cs typeface="Consolas" pitchFamily="34" charset="-120"/>
              </a:rPr>
              <a:t>fontWeight</a:t>
            </a:r>
            <a:r>
              <a:rPr lang="en-US" sz="1300" dirty="0">
                <a:solidFill>
                  <a:schemeClr val="tx1"/>
                </a:solidFill>
              </a:rPr>
              <a:t> make the text big and bold.</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ection tag"/>
          <p:cNvSpPr/>
          <p:nvPr/>
        </p:nvSpPr>
        <p:spPr>
          <a:xfrm>
            <a:off x="548640" y="365760"/>
            <a:ext cx="1138428" cy="310896"/>
          </a:xfrm>
          <a:prstGeom prst="roundRect">
            <a:avLst>
              <a:gd name="adj" fmla="val 50000"/>
            </a:avLst>
          </a:prstGeom>
          <a:solidFill>
            <a:schemeClr val="accent3"/>
          </a:solidFill>
          <a:ln/>
        </p:spPr>
        <p:txBody>
          <a:bodyPr wrap="square" lIns="0" tIns="0" rIns="0" bIns="0" rtlCol="0" anchor="ctr"/>
          <a:lstStyle/>
          <a:p>
            <a:pPr algn="ctr" indent="0" marL="0">
              <a:buNone/>
            </a:pPr>
            <a:r>
              <a:rPr lang="en-US" sz="1100" b="1" spc="150" kern="0" dirty="0">
                <a:solidFill>
                  <a:schemeClr val="bg1"/>
                </a:solidFill>
              </a:rPr>
              <a:t>PRACTICAL</a:t>
            </a:r>
            <a:endParaRPr lang="en-US" sz="1100" dirty="0"/>
          </a:p>
        </p:txBody>
      </p:sp>
      <p:sp>
        <p:nvSpPr>
          <p:cNvPr id="3" name="Tag context"/>
          <p:cNvSpPr txBox="1"/>
          <p:nvPr/>
        </p:nvSpPr>
        <p:spPr>
          <a:xfrm>
            <a:off x="1869948" y="365760"/>
            <a:ext cx="9770364" cy="310896"/>
          </a:xfrm>
          <a:prstGeom prst="rect">
            <a:avLst/>
          </a:prstGeom>
          <a:noFill/>
          <a:ln/>
        </p:spPr>
        <p:txBody>
          <a:bodyPr wrap="square" lIns="0" tIns="0" rIns="0" bIns="0" rtlCol="0" anchor="ctr"/>
          <a:lstStyle/>
          <a:p>
            <a:pPr indent="0" marL="0">
              <a:buNone/>
            </a:pPr>
            <a:r>
              <a:rPr lang="en-US" sz="1300" dirty="0">
                <a:solidFill>
                  <a:schemeClr val="tx2"/>
                </a:solidFill>
              </a:rPr>
              <a:t>Step 10</a:t>
            </a:r>
            <a:endParaRPr lang="en-US" sz="1300" dirty="0"/>
          </a:p>
        </p:txBody>
      </p:sp>
      <p:sp>
        <p:nvSpPr>
          <p:cNvPr id="4" name="Text 0"/>
          <p:cNvSpPr/>
          <p:nvPr>
            <p:ph idx="100" type="title" hasCustomPrompt="1"/>
          </p:nvPr>
        </p:nvSpPr>
        <p:spPr>
          <a:xfrm>
            <a:off x="548640" y="749808"/>
            <a:ext cx="11091672" cy="713232"/>
          </a:xfrm>
          <a:prstGeom prst="rect">
            <a:avLst/>
          </a:prstGeom>
          <a:noFill/>
          <a:ln/>
        </p:spPr>
        <p:txBody>
          <a:bodyPr wrap="square" lIns="0" tIns="0" rIns="0" bIns="0" rtlCol="0" anchor="ctr"/>
          <a:lstStyle/>
          <a:p>
            <a:pPr algn="l" indent="0" marL="0">
              <a:buNone/>
            </a:pPr>
            <a:r>
              <a:rPr lang="en-US" sz="3600" b="1" dirty="0">
                <a:solidFill>
                  <a:schemeClr val="tx1"/>
                </a:solidFill>
              </a:rPr>
              <a:t>Step 10: Expected Output</a:t>
            </a:r>
            <a:endParaRPr lang="en-US" sz="3600" dirty="0"/>
          </a:p>
        </p:txBody>
      </p:sp>
      <p:sp>
        <p:nvSpPr>
          <p:cNvPr id="5" name="Phone frame"/>
          <p:cNvSpPr/>
          <p:nvPr/>
        </p:nvSpPr>
        <p:spPr>
          <a:xfrm>
            <a:off x="1097280" y="1645920"/>
            <a:ext cx="2160259" cy="4709160"/>
          </a:xfrm>
          <a:prstGeom prst="roundRect">
            <a:avLst>
              <a:gd name="adj" fmla="val 13545"/>
            </a:avLst>
          </a:prstGeom>
          <a:solidFill>
            <a:schemeClr val="tx1"/>
          </a:solidFill>
          <a:ln/>
        </p:spPr>
      </p:sp>
      <p:sp>
        <p:nvSpPr>
          <p:cNvPr id="6" name="Phone speaker"/>
          <p:cNvSpPr/>
          <p:nvPr/>
        </p:nvSpPr>
        <p:spPr>
          <a:xfrm>
            <a:off x="1857370" y="1746504"/>
            <a:ext cx="640080" cy="82296"/>
          </a:xfrm>
          <a:prstGeom prst="roundRect">
            <a:avLst>
              <a:gd name="adj" fmla="val 50000"/>
            </a:avLst>
          </a:prstGeom>
          <a:solidFill>
            <a:schemeClr val="tx2"/>
          </a:solidFill>
          <a:ln/>
        </p:spPr>
      </p:sp>
      <p:pic>
        <p:nvPicPr>
          <p:cNvPr id="7" name="Phone screen" descr="App screenshot">    </p:cNvPr>
          <p:cNvPicPr>
            <a:picLocks noChangeAspect="1"/>
          </p:cNvPicPr>
          <p:nvPr/>
        </p:nvPicPr>
        <p:blipFill>
          <a:blip r:embed="rId1"/>
          <a:stretch>
            <a:fillRect/>
          </a:stretch>
        </p:blipFill>
        <p:spPr>
          <a:xfrm>
            <a:off x="1216152" y="1920240"/>
            <a:ext cx="1922515" cy="4160520"/>
          </a:xfrm>
          <a:prstGeom prst="rect">
            <a:avLst/>
          </a:prstGeom>
        </p:spPr>
      </p:pic>
      <p:sp>
        <p:nvSpPr>
          <p:cNvPr id="8" name="Text 5"/>
          <p:cNvSpPr txBox="1"/>
          <p:nvPr/>
        </p:nvSpPr>
        <p:spPr>
          <a:xfrm>
            <a:off x="4023360" y="1691640"/>
            <a:ext cx="7616952" cy="411480"/>
          </a:xfrm>
          <a:prstGeom prst="rect">
            <a:avLst/>
          </a:prstGeom>
          <a:noFill/>
          <a:ln/>
        </p:spPr>
        <p:txBody>
          <a:bodyPr wrap="square" lIns="0" tIns="0" rIns="0" bIns="0" rtlCol="0" anchor="ctr"/>
          <a:lstStyle/>
          <a:p>
            <a:pPr indent="0" marL="0">
              <a:buNone/>
            </a:pPr>
            <a:r>
              <a:rPr lang="en-US" sz="2000" b="1" dirty="0">
                <a:solidFill>
                  <a:schemeClr val="tx1"/>
                </a:solidFill>
              </a:rPr>
              <a:t>You should see</a:t>
            </a:r>
            <a:endParaRPr lang="en-US" sz="2000" dirty="0"/>
          </a:p>
        </p:txBody>
      </p:sp>
      <p:sp>
        <p:nvSpPr>
          <p:cNvPr id="9" name="Icon circle"/>
          <p:cNvSpPr/>
          <p:nvPr/>
        </p:nvSpPr>
        <p:spPr>
          <a:xfrm>
            <a:off x="4023360" y="2240280"/>
            <a:ext cx="457200" cy="457200"/>
          </a:xfrm>
          <a:prstGeom prst="ellipse">
            <a:avLst/>
          </a:prstGeom>
          <a:solidFill>
            <a:schemeClr val="accent3"/>
          </a:solidFill>
          <a:ln/>
        </p:spPr>
      </p:sp>
      <p:pic>
        <p:nvPicPr>
          <p:cNvPr id="10" name="Icon" descr="Icon">    </p:cNvPr>
          <p:cNvPicPr>
            <a:picLocks noChangeAspect="1"/>
          </p:cNvPicPr>
          <p:nvPr/>
        </p:nvPicPr>
        <p:blipFill>
          <a:blip r:embed="rId2"/>
          <a:stretch>
            <a:fillRect/>
          </a:stretch>
        </p:blipFill>
        <p:spPr>
          <a:xfrm>
            <a:off x="4133088" y="2350008"/>
            <a:ext cx="237744" cy="237744"/>
          </a:xfrm>
          <a:prstGeom prst="rect">
            <a:avLst/>
          </a:prstGeom>
        </p:spPr>
      </p:pic>
      <p:sp>
        <p:nvSpPr>
          <p:cNvPr id="11" name="Text 7"/>
          <p:cNvSpPr txBox="1"/>
          <p:nvPr/>
        </p:nvSpPr>
        <p:spPr>
          <a:xfrm>
            <a:off x="4663440" y="2221992"/>
            <a:ext cx="6976872" cy="685800"/>
          </a:xfrm>
          <a:prstGeom prst="rect">
            <a:avLst/>
          </a:prstGeom>
          <a:noFill/>
          <a:ln/>
        </p:spPr>
        <p:txBody>
          <a:bodyPr wrap="square" lIns="0" tIns="0" rIns="0" bIns="0" rtlCol="0" anchor="t"/>
          <a:lstStyle/>
          <a:p>
            <a:pPr indent="0" marL="0">
              <a:buNone/>
            </a:pPr>
            <a:r>
              <a:rPr lang="en-US" sz="1600" b="1" dirty="0">
                <a:solidFill>
                  <a:schemeClr val="tx1"/>
                </a:solidFill>
              </a:rPr>
              <a:t>Hello World!</a:t>
            </a:r>
            <a:r>
              <a:rPr lang="en-US" sz="1600" dirty="0">
                <a:solidFill>
                  <a:schemeClr val="tx1"/>
                </a:solidFill>
              </a:rPr>
              <a:t> in big, bold letters in the middle of the screen.</a:t>
            </a:r>
            <a:endParaRPr lang="en-US" sz="1600" dirty="0"/>
          </a:p>
        </p:txBody>
      </p:sp>
      <p:sp>
        <p:nvSpPr>
          <p:cNvPr id="12" name="Icon circle"/>
          <p:cNvSpPr/>
          <p:nvPr/>
        </p:nvSpPr>
        <p:spPr>
          <a:xfrm>
            <a:off x="4023360" y="3044952"/>
            <a:ext cx="457200" cy="457200"/>
          </a:xfrm>
          <a:prstGeom prst="ellipse">
            <a:avLst/>
          </a:prstGeom>
          <a:solidFill>
            <a:schemeClr val="accent3"/>
          </a:solidFill>
          <a:ln/>
        </p:spPr>
      </p:sp>
      <p:pic>
        <p:nvPicPr>
          <p:cNvPr id="13" name="Icon" descr="Icon">    </p:cNvPr>
          <p:cNvPicPr>
            <a:picLocks noChangeAspect="1"/>
          </p:cNvPicPr>
          <p:nvPr/>
        </p:nvPicPr>
        <p:blipFill>
          <a:blip r:embed="rId3"/>
          <a:stretch>
            <a:fillRect/>
          </a:stretch>
        </p:blipFill>
        <p:spPr>
          <a:xfrm>
            <a:off x="4133088" y="3154680"/>
            <a:ext cx="237744" cy="237744"/>
          </a:xfrm>
          <a:prstGeom prst="rect">
            <a:avLst/>
          </a:prstGeom>
        </p:spPr>
      </p:pic>
      <p:sp>
        <p:nvSpPr>
          <p:cNvPr id="14" name="Text 9"/>
          <p:cNvSpPr txBox="1"/>
          <p:nvPr/>
        </p:nvSpPr>
        <p:spPr>
          <a:xfrm>
            <a:off x="4663440" y="3026664"/>
            <a:ext cx="6976872" cy="685800"/>
          </a:xfrm>
          <a:prstGeom prst="rect">
            <a:avLst/>
          </a:prstGeom>
          <a:noFill/>
          <a:ln/>
        </p:spPr>
        <p:txBody>
          <a:bodyPr wrap="square" lIns="0" tIns="0" rIns="0" bIns="0" rtlCol="0" anchor="t"/>
          <a:lstStyle/>
          <a:p>
            <a:pPr indent="0" marL="0">
              <a:buNone/>
            </a:pPr>
            <a:r>
              <a:rPr lang="en-US" sz="1600" dirty="0">
                <a:solidFill>
                  <a:schemeClr val="tx1"/>
                </a:solidFill>
              </a:rPr>
              <a:t>A small “index” title bar at the top. This is normal: it comes from the </a:t>
            </a:r>
            <a:r>
              <a:rPr lang="en-US" sz="1600" dirty="0">
                <a:solidFill>
                  <a:schemeClr val="accent5"/>
                </a:solidFill>
                <a:latin typeface="Consolas" pitchFamily="34" charset="0"/>
                <a:ea typeface="Consolas" pitchFamily="34" charset="-122"/>
                <a:cs typeface="Consolas" pitchFamily="34" charset="-120"/>
              </a:rPr>
              <a:t>Stack</a:t>
            </a:r>
            <a:r>
              <a:rPr lang="en-US" sz="1600" dirty="0">
                <a:solidFill>
                  <a:schemeClr val="tx1"/>
                </a:solidFill>
              </a:rPr>
              <a:t> in </a:t>
            </a:r>
            <a:r>
              <a:rPr lang="en-US" sz="1600" dirty="0">
                <a:solidFill>
                  <a:schemeClr val="accent5"/>
                </a:solidFill>
                <a:latin typeface="Consolas" pitchFamily="34" charset="0"/>
                <a:ea typeface="Consolas" pitchFamily="34" charset="-122"/>
                <a:cs typeface="Consolas" pitchFamily="34" charset="-120"/>
              </a:rPr>
              <a:t>_layout.tsx</a:t>
            </a:r>
            <a:r>
              <a:rPr lang="en-US" sz="1600" dirty="0">
                <a:solidFill>
                  <a:schemeClr val="tx1"/>
                </a:solidFill>
              </a:rPr>
              <a:t>.</a:t>
            </a:r>
            <a:endParaRPr lang="en-US" sz="1600" dirty="0"/>
          </a:p>
        </p:txBody>
      </p:sp>
      <p:sp>
        <p:nvSpPr>
          <p:cNvPr id="15" name="Icon circle"/>
          <p:cNvSpPr/>
          <p:nvPr/>
        </p:nvSpPr>
        <p:spPr>
          <a:xfrm>
            <a:off x="4023360" y="3849624"/>
            <a:ext cx="457200" cy="457200"/>
          </a:xfrm>
          <a:prstGeom prst="ellipse">
            <a:avLst/>
          </a:prstGeom>
          <a:solidFill>
            <a:schemeClr val="accent3"/>
          </a:solidFill>
          <a:ln/>
        </p:spPr>
      </p:sp>
      <p:pic>
        <p:nvPicPr>
          <p:cNvPr id="16" name="Icon" descr="Icon">    </p:cNvPr>
          <p:cNvPicPr>
            <a:picLocks noChangeAspect="1"/>
          </p:cNvPicPr>
          <p:nvPr/>
        </p:nvPicPr>
        <p:blipFill>
          <a:blip r:embed="rId4"/>
          <a:stretch>
            <a:fillRect/>
          </a:stretch>
        </p:blipFill>
        <p:spPr>
          <a:xfrm>
            <a:off x="4133088" y="3959352"/>
            <a:ext cx="237744" cy="237744"/>
          </a:xfrm>
          <a:prstGeom prst="rect">
            <a:avLst/>
          </a:prstGeom>
        </p:spPr>
      </p:pic>
      <p:sp>
        <p:nvSpPr>
          <p:cNvPr id="17" name="Text 11"/>
          <p:cNvSpPr txBox="1"/>
          <p:nvPr/>
        </p:nvSpPr>
        <p:spPr>
          <a:xfrm>
            <a:off x="4663440" y="3831336"/>
            <a:ext cx="6976872" cy="685800"/>
          </a:xfrm>
          <a:prstGeom prst="rect">
            <a:avLst/>
          </a:prstGeom>
          <a:noFill/>
          <a:ln/>
        </p:spPr>
        <p:txBody>
          <a:bodyPr wrap="square" lIns="0" tIns="0" rIns="0" bIns="0" rtlCol="0" anchor="t"/>
          <a:lstStyle/>
          <a:p>
            <a:pPr indent="0" marL="0">
              <a:buNone/>
            </a:pPr>
            <a:r>
              <a:rPr lang="en-US" sz="1600" dirty="0">
                <a:solidFill>
                  <a:schemeClr val="tx1"/>
                </a:solidFill>
              </a:rPr>
              <a:t>Small differences between Android, iPhone, and the emulator are normal.</a:t>
            </a:r>
            <a:endParaRPr lang="en-US" sz="1600" dirty="0"/>
          </a:p>
        </p:txBody>
      </p:sp>
      <p:sp>
        <p:nvSpPr>
          <p:cNvPr id="18" name="Card"/>
          <p:cNvSpPr/>
          <p:nvPr/>
        </p:nvSpPr>
        <p:spPr>
          <a:xfrm>
            <a:off x="4023360" y="4754880"/>
            <a:ext cx="7616952" cy="1051560"/>
          </a:xfrm>
          <a:prstGeom prst="roundRect">
            <a:avLst>
              <a:gd name="adj" fmla="val 10435"/>
            </a:avLst>
          </a:prstGeom>
          <a:solidFill>
            <a:schemeClr val="bg2"/>
          </a:solidFill>
          <a:ln/>
        </p:spPr>
      </p:sp>
      <p:sp>
        <p:nvSpPr>
          <p:cNvPr id="19" name="Icon circle"/>
          <p:cNvSpPr/>
          <p:nvPr/>
        </p:nvSpPr>
        <p:spPr>
          <a:xfrm>
            <a:off x="4224528" y="5029200"/>
            <a:ext cx="502920" cy="502920"/>
          </a:xfrm>
          <a:prstGeom prst="ellipse">
            <a:avLst/>
          </a:prstGeom>
          <a:solidFill>
            <a:schemeClr val="accent1"/>
          </a:solidFill>
          <a:ln/>
        </p:spPr>
      </p:sp>
      <p:pic>
        <p:nvPicPr>
          <p:cNvPr id="20" name="Icon" descr="Icon">    </p:cNvPr>
          <p:cNvPicPr>
            <a:picLocks noChangeAspect="1"/>
          </p:cNvPicPr>
          <p:nvPr/>
        </p:nvPicPr>
        <p:blipFill>
          <a:blip r:embed="rId5"/>
          <a:stretch>
            <a:fillRect/>
          </a:stretch>
        </p:blipFill>
        <p:spPr>
          <a:xfrm>
            <a:off x="4345229" y="5149901"/>
            <a:ext cx="261518" cy="261518"/>
          </a:xfrm>
          <a:prstGeom prst="rect">
            <a:avLst/>
          </a:prstGeom>
        </p:spPr>
      </p:pic>
      <p:sp>
        <p:nvSpPr>
          <p:cNvPr id="21" name="Text 14"/>
          <p:cNvSpPr txBox="1"/>
          <p:nvPr/>
        </p:nvSpPr>
        <p:spPr>
          <a:xfrm>
            <a:off x="4892040" y="4800600"/>
            <a:ext cx="6583680" cy="960120"/>
          </a:xfrm>
          <a:prstGeom prst="rect">
            <a:avLst/>
          </a:prstGeom>
          <a:noFill/>
          <a:ln/>
        </p:spPr>
        <p:txBody>
          <a:bodyPr wrap="square" lIns="0" tIns="0" rIns="0" bIns="0" rtlCol="0" anchor="ctr"/>
          <a:lstStyle/>
          <a:p>
            <a:pPr indent="0" marL="0">
              <a:buNone/>
            </a:pPr>
            <a:r>
              <a:rPr lang="en-US" sz="1500" b="1" dirty="0">
                <a:solidFill>
                  <a:schemeClr val="tx1"/>
                </a:solidFill>
              </a:rPr>
              <a:t>Try Fast Refresh: </a:t>
            </a:r>
            <a:r>
              <a:rPr lang="en-US" sz="1500" dirty="0">
                <a:solidFill>
                  <a:schemeClr val="tx1"/>
                </a:solidFill>
              </a:rPr>
              <a:t>change the text to </a:t>
            </a:r>
            <a:r>
              <a:rPr lang="en-US" sz="1500" dirty="0">
                <a:solidFill>
                  <a:schemeClr val="accent5"/>
                </a:solidFill>
                <a:latin typeface="Consolas" pitchFamily="34" charset="0"/>
                <a:ea typeface="Consolas" pitchFamily="34" charset="-122"/>
                <a:cs typeface="Consolas" pitchFamily="34" charset="-120"/>
              </a:rPr>
              <a:t>Hello React Native!</a:t>
            </a:r>
            <a:r>
              <a:rPr lang="en-US" sz="1500" dirty="0">
                <a:solidFill>
                  <a:schemeClr val="tx1"/>
                </a:solidFill>
              </a:rPr>
              <a:t> and save. The screen updates in a few seconds without restarting.</a:t>
            </a:r>
            <a:endParaRPr lang="en-US" sz="1500" dirty="0"/>
          </a:p>
        </p:txBody>
      </p:sp>
      <p:sp>
        <p:nvSpPr>
          <p:cNvPr id="22" name="Text 15"/>
          <p:cNvSpPr txBox="1"/>
          <p:nvPr/>
        </p:nvSpPr>
        <p:spPr>
          <a:xfrm>
            <a:off x="4023360" y="5943600"/>
            <a:ext cx="7616952" cy="274320"/>
          </a:xfrm>
          <a:prstGeom prst="rect">
            <a:avLst/>
          </a:prstGeom>
          <a:noFill/>
          <a:ln/>
        </p:spPr>
        <p:txBody>
          <a:bodyPr wrap="square" lIns="0" tIns="0" rIns="0" bIns="0" rtlCol="0" anchor="ctr"/>
          <a:lstStyle/>
          <a:p>
            <a:pPr indent="0" marL="0">
              <a:buNone/>
            </a:pPr>
            <a:r>
              <a:rPr lang="en-US" sz="1100" dirty="0">
                <a:solidFill>
                  <a:schemeClr val="tx2"/>
                </a:solidFill>
              </a:rPr>
              <a:t>Screenshot from our test run of this exact code (phone-size preview).</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ection tag"/>
          <p:cNvSpPr/>
          <p:nvPr/>
        </p:nvSpPr>
        <p:spPr>
          <a:xfrm>
            <a:off x="548640" y="365760"/>
            <a:ext cx="1138428" cy="310896"/>
          </a:xfrm>
          <a:prstGeom prst="roundRect">
            <a:avLst>
              <a:gd name="adj" fmla="val 50000"/>
            </a:avLst>
          </a:prstGeom>
          <a:solidFill>
            <a:schemeClr val="accent3"/>
          </a:solidFill>
          <a:ln/>
        </p:spPr>
        <p:txBody>
          <a:bodyPr wrap="square" lIns="0" tIns="0" rIns="0" bIns="0" rtlCol="0" anchor="ctr"/>
          <a:lstStyle/>
          <a:p>
            <a:pPr algn="ctr" indent="0" marL="0">
              <a:buNone/>
            </a:pPr>
            <a:r>
              <a:rPr lang="en-US" sz="1100" b="1" spc="150" kern="0" dirty="0">
                <a:solidFill>
                  <a:schemeClr val="bg1"/>
                </a:solidFill>
              </a:rPr>
              <a:t>PRACTICAL</a:t>
            </a:r>
            <a:endParaRPr lang="en-US" sz="1100" dirty="0"/>
          </a:p>
        </p:txBody>
      </p:sp>
      <p:sp>
        <p:nvSpPr>
          <p:cNvPr id="3" name="Tag context"/>
          <p:cNvSpPr txBox="1"/>
          <p:nvPr/>
        </p:nvSpPr>
        <p:spPr>
          <a:xfrm>
            <a:off x="1869948" y="365760"/>
            <a:ext cx="9770364" cy="310896"/>
          </a:xfrm>
          <a:prstGeom prst="rect">
            <a:avLst/>
          </a:prstGeom>
          <a:noFill/>
          <a:ln/>
        </p:spPr>
        <p:txBody>
          <a:bodyPr wrap="square" lIns="0" tIns="0" rIns="0" bIns="0" rtlCol="0" anchor="ctr"/>
          <a:lstStyle/>
          <a:p>
            <a:pPr indent="0" marL="0">
              <a:buNone/>
            </a:pPr>
            <a:r>
              <a:rPr lang="en-US" sz="1300" dirty="0">
                <a:solidFill>
                  <a:schemeClr val="tx2"/>
                </a:solidFill>
              </a:rPr>
              <a:t>Step 10 · Read the error message first: it often names the file and line</a:t>
            </a:r>
            <a:endParaRPr lang="en-US" sz="1300" dirty="0"/>
          </a:p>
        </p:txBody>
      </p:sp>
      <p:sp>
        <p:nvSpPr>
          <p:cNvPr id="4" name="Text 0"/>
          <p:cNvSpPr/>
          <p:nvPr>
            <p:ph idx="100" type="title" hasCustomPrompt="1"/>
          </p:nvPr>
        </p:nvSpPr>
        <p:spPr>
          <a:xfrm>
            <a:off x="548640" y="749808"/>
            <a:ext cx="11091672" cy="713232"/>
          </a:xfrm>
          <a:prstGeom prst="rect">
            <a:avLst/>
          </a:prstGeom>
          <a:noFill/>
          <a:ln/>
        </p:spPr>
        <p:txBody>
          <a:bodyPr wrap="square" lIns="0" tIns="0" rIns="0" bIns="0" rtlCol="0" anchor="ctr"/>
          <a:lstStyle/>
          <a:p>
            <a:pPr algn="l" indent="0" marL="0">
              <a:buNone/>
            </a:pPr>
            <a:r>
              <a:rPr lang="en-US" sz="3600" b="1" dirty="0">
                <a:solidFill>
                  <a:schemeClr val="tx1"/>
                </a:solidFill>
              </a:rPr>
              <a:t>Common Errors and Quick Fixes</a:t>
            </a:r>
            <a:endParaRPr lang="en-US" sz="3600" dirty="0"/>
          </a:p>
        </p:txBody>
      </p:sp>
      <p:graphicFrame>
        <p:nvGraphicFramePr>
          <p:cNvPr id="19" name="Errors table"/>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4663440"/>
                <a:gridCol w="6428232"/>
              </a:tblGrid>
              <a:tr h="365760">
                <a:tc>
                  <a:txBody>
                    <a:bodyPr/>
                    <a:lstStyle/>
                    <a:p>
                      <a:pPr indent="0" marL="0">
                        <a:buNone/>
                      </a:pPr>
                      <a:r>
                        <a:rPr lang="en-US" sz="1400" b="1" dirty="0">
                          <a:solidFill>
                            <a:schemeClr val="bg1"/>
                          </a:solidFill>
                        </a:rPr>
                        <a:t>What you see</a:t>
                      </a:r>
                      <a:endParaRPr lang="en-US" sz="1400" dirty="0"/>
                    </a:p>
                  </a:txBody>
                  <a:tcPr marL="109728" marR="109728"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How to fix it</a:t>
                      </a:r>
                      <a:endParaRPr lang="en-US" sz="1400" dirty="0"/>
                    </a:p>
                  </a:txBody>
                  <a:tcPr marL="109728" marR="109728"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1"/>
                    </a:solidFill>
                  </a:tcPr>
                </a:tc>
              </a:tr>
              <a:tr h="457200">
                <a:tc>
                  <a:txBody>
                    <a:bodyPr/>
                    <a:lstStyle/>
                    <a:p>
                      <a:pPr indent="0" marL="0">
                        <a:buNone/>
                      </a:pPr>
                      <a:r>
                        <a:rPr lang="en-US" sz="1300" b="1" dirty="0">
                          <a:solidFill>
                            <a:schemeClr val="tx1"/>
                          </a:solidFill>
                        </a:rPr>
                        <a:t>“'node' is not recognized” or “command not found”</a:t>
                      </a:r>
                      <a:endParaRPr lang="en-US" sz="1300" dirty="0"/>
                    </a:p>
                  </a:txBody>
                  <a:tcPr marL="109728" marR="109728"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Install Node.js LTS, then close and reopen the terminal (or restart the laptop).</a:t>
                      </a:r>
                      <a:endParaRPr lang="en-US" sz="1300" dirty="0"/>
                    </a:p>
                  </a:txBody>
                  <a:tcPr marL="109728" marR="109728"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457200">
                <a:tc>
                  <a:txBody>
                    <a:bodyPr/>
                    <a:lstStyle/>
                    <a:p>
                      <a:pPr indent="0" marL="0">
                        <a:buNone/>
                      </a:pPr>
                      <a:r>
                        <a:rPr lang="en-US" sz="1300" b="1" dirty="0">
                          <a:solidFill>
                            <a:schemeClr val="tx1"/>
                          </a:solidFill>
                        </a:rPr>
                        <a:t>PowerShell: “running scripts is disabled on this system”</a:t>
                      </a:r>
                      <a:endParaRPr lang="en-US" sz="1300" dirty="0"/>
                    </a:p>
                  </a:txBody>
                  <a:tcPr marL="109728" marR="109728"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Use Command Prompt instead, or run </a:t>
                      </a:r>
                      <a:r>
                        <a:rPr lang="en-US" sz="1300" dirty="0">
                          <a:solidFill>
                            <a:schemeClr val="accent5"/>
                          </a:solidFill>
                          <a:latin typeface="Consolas" pitchFamily="34" charset="0"/>
                          <a:ea typeface="Consolas" pitchFamily="34" charset="-122"/>
                          <a:cs typeface="Consolas" pitchFamily="34" charset="-120"/>
                        </a:rPr>
                        <a:t>Set-ExecutionPolicy -Scope CurrentUser RemoteSigned</a:t>
                      </a:r>
                      <a:endParaRPr lang="en-US" sz="1300" dirty="0"/>
                    </a:p>
                  </a:txBody>
                  <a:tcPr marL="109728" marR="109728"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457200">
                <a:tc>
                  <a:txBody>
                    <a:bodyPr/>
                    <a:lstStyle/>
                    <a:p>
                      <a:pPr indent="0" marL="0">
                        <a:buNone/>
                      </a:pPr>
                      <a:r>
                        <a:rPr lang="en-US" sz="1300" b="1" dirty="0">
                          <a:solidFill>
                            <a:schemeClr val="tx1"/>
                          </a:solidFill>
                        </a:rPr>
                        <a:t>Phone stuck on loading, or cannot connect</a:t>
                      </a:r>
                      <a:endParaRPr lang="en-US" sz="1300" dirty="0"/>
                    </a:p>
                  </a:txBody>
                  <a:tcPr marL="109728" marR="109728"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Same Wi-Fi on phone and laptop, VPN off, or run </a:t>
                      </a:r>
                      <a:r>
                        <a:rPr lang="en-US" sz="1300" dirty="0">
                          <a:solidFill>
                            <a:schemeClr val="accent5"/>
                          </a:solidFill>
                          <a:latin typeface="Consolas" pitchFamily="34" charset="0"/>
                          <a:ea typeface="Consolas" pitchFamily="34" charset="-122"/>
                          <a:cs typeface="Consolas" pitchFamily="34" charset="-120"/>
                        </a:rPr>
                        <a:t>npx expo start --tunnel</a:t>
                      </a:r>
                      <a:endParaRPr lang="en-US" sz="1300" dirty="0"/>
                    </a:p>
                  </a:txBody>
                  <a:tcPr marL="109728" marR="109728"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457200">
                <a:tc>
                  <a:txBody>
                    <a:bodyPr/>
                    <a:lstStyle/>
                    <a:p>
                      <a:pPr indent="0" marL="0">
                        <a:buNone/>
                      </a:pPr>
                      <a:r>
                        <a:rPr lang="en-US" sz="1300" b="1" dirty="0">
                          <a:solidFill>
                            <a:schemeClr val="tx1"/>
                          </a:solidFill>
                        </a:rPr>
                        <a:t>“Project is incompatible with this version of Expo Go”</a:t>
                      </a:r>
                      <a:endParaRPr lang="en-US" sz="1300" dirty="0"/>
                    </a:p>
                  </a:txBody>
                  <a:tcPr marL="109728" marR="109728"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Update Expo Go from the store, or create the project again and pick “For learning with Expo Go”.</a:t>
                      </a:r>
                      <a:endParaRPr lang="en-US" sz="1300" dirty="0"/>
                    </a:p>
                  </a:txBody>
                  <a:tcPr marL="109728" marR="109728"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457200">
                <a:tc>
                  <a:txBody>
                    <a:bodyPr/>
                    <a:lstStyle/>
                    <a:p>
                      <a:pPr indent="0" marL="0">
                        <a:buNone/>
                      </a:pPr>
                      <a:r>
                        <a:rPr lang="en-US" sz="1300" b="1" dirty="0">
                          <a:solidFill>
                            <a:schemeClr val="tx1"/>
                          </a:solidFill>
                        </a:rPr>
                        <a:t>“You need to be signed in to Expo Go and Expo CLI”</a:t>
                      </a:r>
                      <a:endParaRPr lang="en-US" sz="1300" dirty="0"/>
                    </a:p>
                  </a:txBody>
                  <a:tcPr marL="109728" marR="109728"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Run </a:t>
                      </a:r>
                      <a:r>
                        <a:rPr lang="en-US" sz="1300" dirty="0">
                          <a:solidFill>
                            <a:schemeClr val="accent5"/>
                          </a:solidFill>
                          <a:latin typeface="Consolas" pitchFamily="34" charset="0"/>
                          <a:ea typeface="Consolas" pitchFamily="34" charset="-122"/>
                          <a:cs typeface="Consolas" pitchFamily="34" charset="-120"/>
                        </a:rPr>
                        <a:t>npx expo login</a:t>
                      </a:r>
                      <a:r>
                        <a:rPr lang="en-US" sz="1300" dirty="0">
                          <a:solidFill>
                            <a:schemeClr val="tx1"/>
                          </a:solidFill>
                        </a:rPr>
                        <a:t>, then sign in to Expo Go with the same account.</a:t>
                      </a:r>
                      <a:endParaRPr lang="en-US" sz="1300" dirty="0"/>
                    </a:p>
                  </a:txBody>
                  <a:tcPr marL="109728" marR="109728"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457200">
                <a:tc>
                  <a:txBody>
                    <a:bodyPr/>
                    <a:lstStyle/>
                    <a:p>
                      <a:pPr indent="0" marL="0">
                        <a:buNone/>
                      </a:pPr>
                      <a:r>
                        <a:rPr lang="en-US" sz="1300" b="1" dirty="0">
                          <a:solidFill>
                            <a:schemeClr val="tx1"/>
                          </a:solidFill>
                        </a:rPr>
                        <a:t>“No Android connected device found…” after pressing a</a:t>
                      </a:r>
                      <a:endParaRPr lang="en-US" sz="1300" dirty="0"/>
                    </a:p>
                  </a:txBody>
                  <a:tcPr marL="109728" marR="109728"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Start a virtual device in Android Studio (Device Manager) first, then press </a:t>
                      </a:r>
                      <a:r>
                        <a:rPr lang="en-US" sz="1300" dirty="0">
                          <a:solidFill>
                            <a:schemeClr val="accent5"/>
                          </a:solidFill>
                          <a:latin typeface="Consolas" pitchFamily="34" charset="0"/>
                          <a:ea typeface="Consolas" pitchFamily="34" charset="-122"/>
                          <a:cs typeface="Consolas" pitchFamily="34" charset="-120"/>
                        </a:rPr>
                        <a:t>a</a:t>
                      </a:r>
                      <a:r>
                        <a:rPr lang="en-US" sz="1300" dirty="0">
                          <a:solidFill>
                            <a:schemeClr val="tx1"/>
                          </a:solidFill>
                        </a:rPr>
                        <a:t> again.</a:t>
                      </a:r>
                      <a:endParaRPr lang="en-US" sz="1300" dirty="0"/>
                    </a:p>
                  </a:txBody>
                  <a:tcPr marL="109728" marR="109728"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457200">
                <a:tc>
                  <a:txBody>
                    <a:bodyPr/>
                    <a:lstStyle/>
                    <a:p>
                      <a:pPr indent="0" marL="0">
                        <a:buNone/>
                      </a:pPr>
                      <a:r>
                        <a:rPr lang="en-US" sz="1300" b="1" dirty="0">
                          <a:solidFill>
                            <a:schemeClr val="tx1"/>
                          </a:solidFill>
                        </a:rPr>
                        <a:t>Red error screen, e.g. “SyntaxError”</a:t>
                      </a:r>
                      <a:endParaRPr lang="en-US" sz="1300" dirty="0"/>
                    </a:p>
                  </a:txBody>
                  <a:tcPr marL="109728" marR="109728"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Check the file and line shown. Look for missing brackets, quotes, or closing tags, then save.</a:t>
                      </a:r>
                      <a:endParaRPr lang="en-US" sz="1300" dirty="0"/>
                    </a:p>
                  </a:txBody>
                  <a:tcPr marL="109728" marR="109728"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457200">
                <a:tc>
                  <a:txBody>
                    <a:bodyPr/>
                    <a:lstStyle/>
                    <a:p>
                      <a:pPr indent="0" marL="0">
                        <a:buNone/>
                      </a:pPr>
                      <a:r>
                        <a:rPr lang="en-US" sz="1300" b="1" dirty="0">
                          <a:solidFill>
                            <a:schemeClr val="tx1"/>
                          </a:solidFill>
                        </a:rPr>
                        <a:t>My changes do not appear</a:t>
                      </a:r>
                      <a:endParaRPr lang="en-US" sz="1300" dirty="0"/>
                    </a:p>
                  </a:txBody>
                  <a:tcPr marL="109728" marR="109728"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Save the file (Ctrl+S / Cmd+S). Press </a:t>
                      </a:r>
                      <a:r>
                        <a:rPr lang="en-US" sz="1300" dirty="0">
                          <a:solidFill>
                            <a:schemeClr val="accent5"/>
                          </a:solidFill>
                          <a:latin typeface="Consolas" pitchFamily="34" charset="0"/>
                          <a:ea typeface="Consolas" pitchFamily="34" charset="-122"/>
                          <a:cs typeface="Consolas" pitchFamily="34" charset="-120"/>
                        </a:rPr>
                        <a:t>r</a:t>
                      </a:r>
                      <a:r>
                        <a:rPr lang="en-US" sz="1300" dirty="0">
                          <a:solidFill>
                            <a:schemeClr val="tx1"/>
                          </a:solidFill>
                        </a:rPr>
                        <a:t> in the Expo terminal to reload.</a:t>
                      </a:r>
                      <a:endParaRPr lang="en-US" sz="1300" dirty="0"/>
                    </a:p>
                  </a:txBody>
                  <a:tcPr marL="109728" marR="109728"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457200">
                <a:tc>
                  <a:txBody>
                    <a:bodyPr/>
                    <a:lstStyle/>
                    <a:p>
                      <a:pPr indent="0" marL="0">
                        <a:buNone/>
                      </a:pPr>
                      <a:r>
                        <a:rPr lang="en-US" sz="1300" b="1" dirty="0">
                          <a:solidFill>
                            <a:schemeClr val="tx1"/>
                          </a:solidFill>
                        </a:rPr>
                        <a:t>“Port 8081 is running this app in another window”</a:t>
                      </a:r>
                      <a:endParaRPr lang="en-US" sz="1300" dirty="0"/>
                    </a:p>
                  </a:txBody>
                  <a:tcPr marL="109728" marR="109728"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Press Y to use another port, or stop the other Expo terminal with Ctrl+C.</a:t>
                      </a:r>
                      <a:endParaRPr lang="en-US" sz="1300" dirty="0"/>
                    </a:p>
                  </a:txBody>
                  <a:tcPr marL="109728" marR="109728"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ection tag"/>
          <p:cNvSpPr/>
          <p:nvPr/>
        </p:nvSpPr>
        <p:spPr>
          <a:xfrm>
            <a:off x="548640" y="365760"/>
            <a:ext cx="1426464" cy="310896"/>
          </a:xfrm>
          <a:prstGeom prst="roundRect">
            <a:avLst>
              <a:gd name="adj" fmla="val 50000"/>
            </a:avLst>
          </a:prstGeom>
          <a:solidFill>
            <a:schemeClr val="accent4"/>
          </a:solidFill>
          <a:ln/>
        </p:spPr>
        <p:txBody>
          <a:bodyPr wrap="square" lIns="0" tIns="0" rIns="0" bIns="0" rtlCol="0" anchor="ctr"/>
          <a:lstStyle/>
          <a:p>
            <a:pPr algn="ctr" indent="0" marL="0">
              <a:buNone/>
            </a:pPr>
            <a:r>
              <a:rPr lang="en-US" sz="1100" b="1" spc="150" kern="0" dirty="0">
                <a:solidFill>
                  <a:schemeClr val="bg1"/>
                </a:solidFill>
              </a:rPr>
              <a:t>LAB ACTIVITY</a:t>
            </a:r>
            <a:endParaRPr lang="en-US" sz="1100" dirty="0"/>
          </a:p>
        </p:txBody>
      </p:sp>
      <p:sp>
        <p:nvSpPr>
          <p:cNvPr id="3" name="Tag context"/>
          <p:cNvSpPr txBox="1"/>
          <p:nvPr/>
        </p:nvSpPr>
        <p:spPr>
          <a:xfrm>
            <a:off x="2157984" y="365760"/>
            <a:ext cx="9482328" cy="310896"/>
          </a:xfrm>
          <a:prstGeom prst="rect">
            <a:avLst/>
          </a:prstGeom>
          <a:noFill/>
          <a:ln/>
        </p:spPr>
        <p:txBody>
          <a:bodyPr wrap="square" lIns="0" tIns="0" rIns="0" bIns="0" rtlCol="0" anchor="ctr"/>
          <a:lstStyle/>
          <a:p>
            <a:pPr indent="0" marL="0">
              <a:buNone/>
            </a:pPr>
            <a:r>
              <a:rPr lang="en-US" sz="1300" dirty="0">
                <a:solidFill>
                  <a:schemeClr val="tx2"/>
                </a:solidFill>
              </a:rPr>
              <a:t>Work on your own. Raise your hand when you finish each activity.</a:t>
            </a:r>
            <a:endParaRPr lang="en-US" sz="1300" dirty="0"/>
          </a:p>
        </p:txBody>
      </p:sp>
      <p:sp>
        <p:nvSpPr>
          <p:cNvPr id="4" name="Text 0"/>
          <p:cNvSpPr/>
          <p:nvPr>
            <p:ph idx="100" type="title" hasCustomPrompt="1"/>
          </p:nvPr>
        </p:nvSpPr>
        <p:spPr>
          <a:xfrm>
            <a:off x="548640" y="749808"/>
            <a:ext cx="11091672" cy="713232"/>
          </a:xfrm>
          <a:prstGeom prst="rect">
            <a:avLst/>
          </a:prstGeom>
          <a:noFill/>
          <a:ln/>
        </p:spPr>
        <p:txBody>
          <a:bodyPr wrap="square" lIns="0" tIns="0" rIns="0" bIns="0" rtlCol="0" anchor="ctr"/>
          <a:lstStyle/>
          <a:p>
            <a:pPr algn="l" indent="0" marL="0">
              <a:buNone/>
            </a:pPr>
            <a:r>
              <a:rPr lang="en-US" sz="3600" b="1" dirty="0">
                <a:solidFill>
                  <a:schemeClr val="tx1"/>
                </a:solidFill>
              </a:rPr>
              <a:t>Lab Activities</a:t>
            </a:r>
            <a:endParaRPr lang="en-US" sz="3600" dirty="0"/>
          </a:p>
        </p:txBody>
      </p:sp>
      <p:sp>
        <p:nvSpPr>
          <p:cNvPr id="5" name="Card"/>
          <p:cNvSpPr/>
          <p:nvPr/>
        </p:nvSpPr>
        <p:spPr>
          <a:xfrm>
            <a:off x="548640" y="1645920"/>
            <a:ext cx="7360920" cy="1097280"/>
          </a:xfrm>
          <a:prstGeom prst="roundRect">
            <a:avLst>
              <a:gd name="adj" fmla="val 10000"/>
            </a:avLst>
          </a:prstGeom>
          <a:solidFill>
            <a:schemeClr val="bg2"/>
          </a:solidFill>
          <a:ln/>
        </p:spPr>
      </p:sp>
      <p:sp>
        <p:nvSpPr>
          <p:cNvPr id="6" name="Number badge"/>
          <p:cNvSpPr/>
          <p:nvPr/>
        </p:nvSpPr>
        <p:spPr>
          <a:xfrm>
            <a:off x="777240" y="1828800"/>
            <a:ext cx="457200" cy="457200"/>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5"/>
          <p:cNvSpPr txBox="1"/>
          <p:nvPr/>
        </p:nvSpPr>
        <p:spPr>
          <a:xfrm>
            <a:off x="1417320" y="1737360"/>
            <a:ext cx="6309360" cy="365760"/>
          </a:xfrm>
          <a:prstGeom prst="rect">
            <a:avLst/>
          </a:prstGeom>
          <a:noFill/>
          <a:ln/>
        </p:spPr>
        <p:txBody>
          <a:bodyPr wrap="square" lIns="0" tIns="0" rIns="0" bIns="0" rtlCol="0" anchor="ctr"/>
          <a:lstStyle/>
          <a:p>
            <a:pPr indent="0" marL="0">
              <a:buNone/>
            </a:pPr>
            <a:r>
              <a:rPr lang="en-US" sz="1800" b="1" dirty="0">
                <a:solidFill>
                  <a:schemeClr val="tx1"/>
                </a:solidFill>
              </a:rPr>
              <a:t>Hello World practical</a:t>
            </a:r>
            <a:endParaRPr lang="en-US" sz="1800" dirty="0"/>
          </a:p>
        </p:txBody>
      </p:sp>
      <p:sp>
        <p:nvSpPr>
          <p:cNvPr id="8" name="Text 6"/>
          <p:cNvSpPr txBox="1"/>
          <p:nvPr/>
        </p:nvSpPr>
        <p:spPr>
          <a:xfrm>
            <a:off x="1417320" y="2103120"/>
            <a:ext cx="6309360" cy="548640"/>
          </a:xfrm>
          <a:prstGeom prst="rect">
            <a:avLst/>
          </a:prstGeom>
          <a:noFill/>
          <a:ln/>
        </p:spPr>
        <p:txBody>
          <a:bodyPr wrap="square" lIns="0" tIns="0" rIns="0" bIns="0" rtlCol="0" anchor="t"/>
          <a:lstStyle/>
          <a:p>
            <a:pPr indent="0" marL="0">
              <a:buNone/>
            </a:pPr>
            <a:r>
              <a:rPr lang="en-US" sz="1400" dirty="0">
                <a:solidFill>
                  <a:schemeClr val="tx1"/>
                </a:solidFill>
              </a:rPr>
              <a:t>Complete Steps 1–10. Show your instructor Hello World! running on your phone or emulator.</a:t>
            </a:r>
            <a:endParaRPr lang="en-US" sz="1400" dirty="0"/>
          </a:p>
        </p:txBody>
      </p:sp>
      <p:sp>
        <p:nvSpPr>
          <p:cNvPr id="9" name="Card"/>
          <p:cNvSpPr/>
          <p:nvPr/>
        </p:nvSpPr>
        <p:spPr>
          <a:xfrm>
            <a:off x="548640" y="2926080"/>
            <a:ext cx="7360920" cy="3246120"/>
          </a:xfrm>
          <a:prstGeom prst="roundRect">
            <a:avLst>
              <a:gd name="adj" fmla="val 3380"/>
            </a:avLst>
          </a:prstGeom>
          <a:solidFill>
            <a:schemeClr val="bg2"/>
          </a:solidFill>
          <a:ln/>
        </p:spPr>
      </p:sp>
      <p:sp>
        <p:nvSpPr>
          <p:cNvPr id="10" name="Number badge"/>
          <p:cNvSpPr/>
          <p:nvPr/>
        </p:nvSpPr>
        <p:spPr>
          <a:xfrm>
            <a:off x="777240" y="3108960"/>
            <a:ext cx="457200" cy="457200"/>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1417320" y="3108960"/>
            <a:ext cx="6309360" cy="457200"/>
          </a:xfrm>
          <a:prstGeom prst="rect">
            <a:avLst/>
          </a:prstGeom>
          <a:noFill/>
          <a:ln/>
        </p:spPr>
        <p:txBody>
          <a:bodyPr wrap="square" lIns="0" tIns="0" rIns="0" bIns="0" rtlCol="0" anchor="ctr"/>
          <a:lstStyle/>
          <a:p>
            <a:pPr indent="0" marL="0">
              <a:buNone/>
            </a:pPr>
            <a:r>
              <a:rPr lang="en-US" sz="1800" b="1" dirty="0">
                <a:solidFill>
                  <a:schemeClr val="tx1"/>
                </a:solidFill>
              </a:rPr>
              <a:t>Show your name and university</a:t>
            </a:r>
            <a:endParaRPr lang="en-US" sz="1800" dirty="0"/>
          </a:p>
        </p:txBody>
      </p:sp>
      <p:sp>
        <p:nvSpPr>
          <p:cNvPr id="12" name="Text 10"/>
          <p:cNvSpPr txBox="1"/>
          <p:nvPr/>
        </p:nvSpPr>
        <p:spPr>
          <a:xfrm>
            <a:off x="1417320" y="3657600"/>
            <a:ext cx="6355080" cy="1280160"/>
          </a:xfrm>
          <a:prstGeom prst="rect">
            <a:avLst/>
          </a:prstGeom>
          <a:noFill/>
          <a:ln/>
        </p:spPr>
        <p:txBody>
          <a:bodyPr wrap="square" lIns="0" tIns="0" rIns="0" bIns="0" rtlCol="0" anchor="t"/>
          <a:lstStyle/>
          <a:p>
            <a:pPr marL="342900" indent="-342900">
              <a:spcAft>
                <a:spcPts val="300"/>
              </a:spcAft>
              <a:buSzPct val="100000"/>
              <a:buFont typeface="+mj-lt"/>
              <a:buAutoNum type="arabicPeriod" startAt="1"/>
            </a:pPr>
            <a:r>
              <a:rPr lang="en-US" sz="1400" dirty="0">
                <a:solidFill>
                  <a:schemeClr val="tx1"/>
                </a:solidFill>
              </a:rPr>
              <a:t>Above </a:t>
            </a:r>
            <a:r>
              <a:rPr lang="en-US" sz="1400" dirty="0">
                <a:solidFill>
                  <a:schemeClr val="accent5"/>
                </a:solidFill>
                <a:latin typeface="Consolas" pitchFamily="34" charset="0"/>
                <a:ea typeface="Consolas" pitchFamily="34" charset="-122"/>
                <a:cs typeface="Consolas" pitchFamily="34" charset="-120"/>
              </a:rPr>
              <a:t>return</a:t>
            </a:r>
            <a:r>
              <a:rPr lang="en-US" sz="1400" dirty="0">
                <a:solidFill>
                  <a:schemeClr val="tx1"/>
                </a:solidFill>
              </a:rPr>
              <a:t>, add two constants: </a:t>
            </a:r>
            <a:r>
              <a:rPr lang="en-US" sz="1400" dirty="0">
                <a:solidFill>
                  <a:schemeClr val="accent5"/>
                </a:solidFill>
                <a:latin typeface="Consolas" pitchFamily="34" charset="0"/>
                <a:ea typeface="Consolas" pitchFamily="34" charset="-122"/>
                <a:cs typeface="Consolas" pitchFamily="34" charset="-120"/>
              </a:rPr>
              <a:t>studentName</a:t>
            </a:r>
            <a:r>
              <a:rPr lang="en-US" sz="1400" dirty="0">
                <a:solidFill>
                  <a:schemeClr val="tx1"/>
                </a:solidFill>
              </a:rPr>
              <a:t> and </a:t>
            </a:r>
            <a:r>
              <a:rPr lang="en-US" sz="1400" dirty="0">
                <a:solidFill>
                  <a:schemeClr val="accent5"/>
                </a:solidFill>
                <a:latin typeface="Consolas" pitchFamily="34" charset="0"/>
                <a:ea typeface="Consolas" pitchFamily="34" charset="-122"/>
                <a:cs typeface="Consolas" pitchFamily="34" charset="-120"/>
              </a:rPr>
              <a:t>university</a:t>
            </a:r>
            <a:r>
              <a:rPr lang="en-US" sz="1400" dirty="0">
                <a:solidFill>
                  <a:schemeClr val="tx1"/>
                </a:solidFill>
              </a:rPr>
              <a:t>.</a:t>
            </a:r>
            <a:endParaRPr lang="en-US" sz="1400" dirty="0"/>
          </a:p>
          <a:p>
            <a:pPr marL="342900" indent="-342900">
              <a:spcAft>
                <a:spcPts val="300"/>
              </a:spcAft>
              <a:buSzPct val="100000"/>
              <a:buFont typeface="+mj-lt"/>
              <a:buAutoNum type="arabicPeriod" startAt="1"/>
            </a:pPr>
            <a:r>
              <a:rPr lang="en-US" sz="1400" dirty="0">
                <a:solidFill>
                  <a:schemeClr val="tx1"/>
                </a:solidFill>
              </a:rPr>
              <a:t>Below Hello World!, add two </a:t>
            </a:r>
            <a:r>
              <a:rPr lang="en-US" sz="1400" dirty="0">
                <a:solidFill>
                  <a:schemeClr val="accent5"/>
                </a:solidFill>
                <a:latin typeface="Consolas" pitchFamily="34" charset="0"/>
                <a:ea typeface="Consolas" pitchFamily="34" charset="-122"/>
                <a:cs typeface="Consolas" pitchFamily="34" charset="-120"/>
              </a:rPr>
              <a:t>&lt;Text&gt;</a:t>
            </a:r>
            <a:r>
              <a:rPr lang="en-US" sz="1400" dirty="0">
                <a:solidFill>
                  <a:schemeClr val="tx1"/>
                </a:solidFill>
              </a:rPr>
              <a:t> lines that show them using </a:t>
            </a:r>
            <a:r>
              <a:rPr lang="en-US" sz="1400" dirty="0">
                <a:solidFill>
                  <a:schemeClr val="accent5"/>
                </a:solidFill>
                <a:latin typeface="Consolas" pitchFamily="34" charset="0"/>
                <a:ea typeface="Consolas" pitchFamily="34" charset="-122"/>
                <a:cs typeface="Consolas" pitchFamily="34" charset="-120"/>
              </a:rPr>
              <a:t>{ }</a:t>
            </a:r>
            <a:r>
              <a:rPr lang="en-US" sz="1400" dirty="0">
                <a:solidFill>
                  <a:schemeClr val="tx1"/>
                </a:solidFill>
              </a:rPr>
              <a:t>.</a:t>
            </a:r>
            <a:endParaRPr lang="en-US" sz="1400" dirty="0"/>
          </a:p>
          <a:p>
            <a:pPr marL="342900" indent="-342900">
              <a:spcAft>
                <a:spcPts val="300"/>
              </a:spcAft>
              <a:buSzPct val="100000"/>
              <a:buFont typeface="+mj-lt"/>
              <a:buAutoNum type="arabicPeriod" startAt="1"/>
            </a:pPr>
            <a:r>
              <a:rPr lang="en-US" sz="1400" dirty="0">
                <a:solidFill>
                  <a:schemeClr val="tx1"/>
                </a:solidFill>
              </a:rPr>
              <a:t>Add an </a:t>
            </a:r>
            <a:r>
              <a:rPr lang="en-US" sz="1400" dirty="0">
                <a:solidFill>
                  <a:schemeClr val="accent5"/>
                </a:solidFill>
                <a:latin typeface="Consolas" pitchFamily="34" charset="0"/>
                <a:ea typeface="Consolas" pitchFamily="34" charset="-122"/>
                <a:cs typeface="Consolas" pitchFamily="34" charset="-120"/>
              </a:rPr>
              <a:t>info</a:t>
            </a:r>
            <a:r>
              <a:rPr lang="en-US" sz="1400" dirty="0">
                <a:solidFill>
                  <a:schemeClr val="tx1"/>
                </a:solidFill>
              </a:rPr>
              <a:t> style with </a:t>
            </a:r>
            <a:r>
              <a:rPr lang="en-US" sz="1400" dirty="0">
                <a:solidFill>
                  <a:schemeClr val="accent5"/>
                </a:solidFill>
                <a:latin typeface="Consolas" pitchFamily="34" charset="0"/>
                <a:ea typeface="Consolas" pitchFamily="34" charset="-122"/>
                <a:cs typeface="Consolas" pitchFamily="34" charset="-120"/>
              </a:rPr>
              <a:t>fontSize: 18</a:t>
            </a:r>
            <a:r>
              <a:rPr lang="en-US" sz="1400" dirty="0">
                <a:solidFill>
                  <a:schemeClr val="tx1"/>
                </a:solidFill>
              </a:rPr>
              <a:t> and </a:t>
            </a:r>
            <a:r>
              <a:rPr lang="en-US" sz="1400" dirty="0">
                <a:solidFill>
                  <a:schemeClr val="accent5"/>
                </a:solidFill>
                <a:latin typeface="Consolas" pitchFamily="34" charset="0"/>
                <a:ea typeface="Consolas" pitchFamily="34" charset="-122"/>
                <a:cs typeface="Consolas" pitchFamily="34" charset="-120"/>
              </a:rPr>
              <a:t>marginTop: 8</a:t>
            </a:r>
            <a:r>
              <a:rPr lang="en-US" sz="1400" dirty="0">
                <a:solidFill>
                  <a:schemeClr val="tx1"/>
                </a:solidFill>
              </a:rPr>
              <a:t>. Save and check.</a:t>
            </a:r>
            <a:endParaRPr lang="en-US" sz="1400" dirty="0"/>
          </a:p>
          <a:p>
            <a:pPr marL="342900" indent="-342900">
              <a:spcAft>
                <a:spcPts val="300"/>
              </a:spcAft>
              <a:buSzPct val="100000"/>
              <a:buChar char="•"/>
            </a:pPr>
            <a:r>
              <a:rPr lang="en-US" sz="1400" i="1" dirty="0">
                <a:solidFill>
                  <a:schemeClr val="tx1"/>
                </a:solidFill>
              </a:rPr>
              <a:t>Bonus: change the container's </a:t>
            </a:r>
            <a:r>
              <a:rPr lang="en-US" sz="1400" i="1" dirty="0">
                <a:solidFill>
                  <a:schemeClr val="accent5"/>
                </a:solidFill>
                <a:latin typeface="Consolas" pitchFamily="34" charset="0"/>
                <a:ea typeface="Consolas" pitchFamily="34" charset="-122"/>
                <a:cs typeface="Consolas" pitchFamily="34" charset="-120"/>
              </a:rPr>
              <a:t>backgroundColor</a:t>
            </a:r>
            <a:r>
              <a:rPr lang="en-US" sz="1400" i="1" dirty="0">
                <a:solidFill>
                  <a:schemeClr val="tx1"/>
                </a:solidFill>
              </a:rPr>
              <a:t> or the text </a:t>
            </a:r>
            <a:r>
              <a:rPr lang="en-US" sz="1400" i="1" dirty="0">
                <a:solidFill>
                  <a:schemeClr val="accent5"/>
                </a:solidFill>
                <a:latin typeface="Consolas" pitchFamily="34" charset="0"/>
                <a:ea typeface="Consolas" pitchFamily="34" charset="-122"/>
                <a:cs typeface="Consolas" pitchFamily="34" charset="-120"/>
              </a:rPr>
              <a:t>color</a:t>
            </a:r>
            <a:r>
              <a:rPr lang="en-US" sz="1400" i="1" dirty="0">
                <a:solidFill>
                  <a:schemeClr val="tx1"/>
                </a:solidFill>
              </a:rPr>
              <a:t>.</a:t>
            </a:r>
            <a:endParaRPr lang="en-US" sz="1400" dirty="0"/>
          </a:p>
        </p:txBody>
      </p:sp>
      <p:sp>
        <p:nvSpPr>
          <p:cNvPr id="13" name="Hint code"/>
          <p:cNvSpPr/>
          <p:nvPr/>
        </p:nvSpPr>
        <p:spPr>
          <a:xfrm>
            <a:off x="1417320" y="4983480"/>
            <a:ext cx="6355080" cy="1051560"/>
          </a:xfrm>
          <a:prstGeom prst="roundRect">
            <a:avLst>
              <a:gd name="adj" fmla="val 8696"/>
            </a:avLst>
          </a:prstGeom>
          <a:solidFill>
            <a:schemeClr val="bg1"/>
          </a:solidFill>
          <a:ln w="12700">
            <a:solidFill>
              <a:schemeClr val="accent6"/>
            </a:solidFill>
            <a:prstDash val="solid"/>
          </a:ln>
        </p:spPr>
      </p:sp>
      <p:sp>
        <p:nvSpPr>
          <p:cNvPr id="14" name="Hint code code"/>
          <p:cNvSpPr txBox="1"/>
          <p:nvPr/>
        </p:nvSpPr>
        <p:spPr>
          <a:xfrm>
            <a:off x="1554480" y="5093208"/>
            <a:ext cx="6080760" cy="868680"/>
          </a:xfrm>
          <a:prstGeom prst="rect">
            <a:avLst/>
          </a:prstGeom>
          <a:noFill/>
          <a:ln/>
        </p:spPr>
        <p:txBody>
          <a:bodyPr wrap="square" lIns="0" tIns="635" rIns="635" bIns="0" rtlCol="0" anchor="t"/>
          <a:lstStyle/>
          <a:p>
            <a:pPr indent="0" marL="0">
              <a:buNone/>
            </a:pPr>
            <a:r>
              <a:rPr lang="en-US" sz="1200" dirty="0">
                <a:solidFill>
                  <a:schemeClr val="accent1"/>
                </a:solidFill>
                <a:latin typeface="Consolas" pitchFamily="34" charset="0"/>
                <a:ea typeface="Consolas" pitchFamily="34" charset="-122"/>
                <a:cs typeface="Consolas" pitchFamily="34" charset="-120"/>
              </a:rPr>
              <a:t>const</a:t>
            </a:r>
            <a:r>
              <a:rPr lang="en-US" sz="1200" dirty="0">
                <a:solidFill>
                  <a:schemeClr val="tx1"/>
                </a:solidFill>
                <a:latin typeface="Consolas" pitchFamily="34" charset="0"/>
                <a:ea typeface="Consolas" pitchFamily="34" charset="-122"/>
                <a:cs typeface="Consolas" pitchFamily="34" charset="-120"/>
              </a:rPr>
              <a:t> studentName = </a:t>
            </a:r>
            <a:r>
              <a:rPr lang="en-US" sz="1200" dirty="0">
                <a:solidFill>
                  <a:schemeClr val="accent3"/>
                </a:solidFill>
                <a:latin typeface="Consolas" pitchFamily="34" charset="0"/>
                <a:ea typeface="Consolas" pitchFamily="34" charset="-122"/>
                <a:cs typeface="Consolas" pitchFamily="34" charset="-120"/>
              </a:rPr>
              <a:t>"Your Name"</a:t>
            </a:r>
            <a:r>
              <a:rPr lang="en-US" sz="1200" dirty="0">
                <a:solidFill>
                  <a:schemeClr val="tx1"/>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chemeClr val="accent1"/>
                </a:solidFill>
                <a:latin typeface="Consolas" pitchFamily="34" charset="0"/>
                <a:ea typeface="Consolas" pitchFamily="34" charset="-122"/>
                <a:cs typeface="Consolas" pitchFamily="34" charset="-120"/>
              </a:rPr>
              <a:t>const</a:t>
            </a:r>
            <a:r>
              <a:rPr lang="en-US" sz="1200" dirty="0">
                <a:solidFill>
                  <a:schemeClr val="tx1"/>
                </a:solidFill>
                <a:latin typeface="Consolas" pitchFamily="34" charset="0"/>
                <a:ea typeface="Consolas" pitchFamily="34" charset="-122"/>
                <a:cs typeface="Consolas" pitchFamily="34" charset="-120"/>
              </a:rPr>
              <a:t> university = </a:t>
            </a:r>
            <a:r>
              <a:rPr lang="en-US" sz="1200" dirty="0">
                <a:solidFill>
                  <a:schemeClr val="accent3"/>
                </a:solidFill>
                <a:latin typeface="Consolas" pitchFamily="34" charset="0"/>
                <a:ea typeface="Consolas" pitchFamily="34" charset="-122"/>
                <a:cs typeface="Consolas" pitchFamily="34" charset="-120"/>
              </a:rPr>
              <a:t>"Your University"</a:t>
            </a:r>
            <a:r>
              <a:rPr lang="en-US" sz="1200" dirty="0">
                <a:solidFill>
                  <a:schemeClr val="tx1"/>
                </a:solidFill>
                <a:latin typeface="Consolas" pitchFamily="34" charset="0"/>
                <a:ea typeface="Consolas" pitchFamily="34" charset="-122"/>
                <a:cs typeface="Consolas" pitchFamily="34" charset="-120"/>
              </a:rPr>
              <a:t>;</a:t>
            </a:r>
            <a:endParaRPr lang="en-US" sz="1200" dirty="0"/>
          </a:p>
          <a:p>
            <a:pPr indent="0" marL="0">
              <a:buNone/>
            </a:pPr>
            <a:r>
              <a:rPr lang="en-US" sz="1200" i="1" dirty="0">
                <a:solidFill>
                  <a:schemeClr val="tx2"/>
                </a:solidFill>
                <a:latin typeface="Consolas" pitchFamily="34" charset="0"/>
                <a:ea typeface="Consolas" pitchFamily="34" charset="-122"/>
                <a:cs typeface="Consolas" pitchFamily="34" charset="-120"/>
              </a:rPr>
              <a:t>// inside &lt;View&gt;, below Hello World!:</a:t>
            </a:r>
            <a:endParaRPr lang="en-US" sz="1200" dirty="0"/>
          </a:p>
          <a:p>
            <a:pPr indent="0" marL="0">
              <a:buNone/>
            </a:pPr>
            <a:r>
              <a:rPr lang="en-US" sz="1200" dirty="0">
                <a:solidFill>
                  <a:schemeClr val="accent5"/>
                </a:solidFill>
                <a:latin typeface="Consolas" pitchFamily="34" charset="0"/>
                <a:ea typeface="Consolas" pitchFamily="34" charset="-122"/>
                <a:cs typeface="Consolas" pitchFamily="34" charset="-120"/>
              </a:rPr>
              <a:t>&lt;Text</a:t>
            </a:r>
            <a:r>
              <a:rPr lang="en-US" sz="1200" dirty="0">
                <a:solidFill>
                  <a:schemeClr val="tx1"/>
                </a:solidFill>
                <a:latin typeface="Consolas" pitchFamily="34" charset="0"/>
                <a:ea typeface="Consolas" pitchFamily="34" charset="-122"/>
                <a:cs typeface="Consolas" pitchFamily="34" charset="-120"/>
              </a:rPr>
              <a:t> style={styles.info}&gt;Name: {studentName}</a:t>
            </a:r>
            <a:r>
              <a:rPr lang="en-US" sz="1200" dirty="0">
                <a:solidFill>
                  <a:schemeClr val="accent5"/>
                </a:solidFill>
                <a:latin typeface="Consolas" pitchFamily="34" charset="0"/>
                <a:ea typeface="Consolas" pitchFamily="34" charset="-122"/>
                <a:cs typeface="Consolas" pitchFamily="34" charset="-120"/>
              </a:rPr>
              <a:t>&lt;/Text</a:t>
            </a:r>
            <a:r>
              <a:rPr lang="en-US" sz="1200" dirty="0">
                <a:solidFill>
                  <a:schemeClr val="tx1"/>
                </a:solidFill>
                <a:latin typeface="Consolas" pitchFamily="34" charset="0"/>
                <a:ea typeface="Consolas" pitchFamily="34" charset="-122"/>
                <a:cs typeface="Consolas" pitchFamily="34" charset="-120"/>
              </a:rPr>
              <a:t>&gt;</a:t>
            </a:r>
            <a:endParaRPr lang="en-US" sz="1200" dirty="0"/>
          </a:p>
        </p:txBody>
      </p:sp>
      <p:sp>
        <p:nvSpPr>
          <p:cNvPr id="15" name="Text 13"/>
          <p:cNvSpPr txBox="1"/>
          <p:nvPr/>
        </p:nvSpPr>
        <p:spPr>
          <a:xfrm>
            <a:off x="685800" y="5029200"/>
            <a:ext cx="640080" cy="274320"/>
          </a:xfrm>
          <a:prstGeom prst="rect">
            <a:avLst/>
          </a:prstGeom>
          <a:noFill/>
          <a:ln/>
        </p:spPr>
        <p:txBody>
          <a:bodyPr wrap="square" lIns="0" tIns="0" rIns="0" bIns="0" rtlCol="0" anchor="ctr"/>
          <a:lstStyle/>
          <a:p>
            <a:pPr indent="0" marL="0">
              <a:buNone/>
            </a:pPr>
            <a:r>
              <a:rPr lang="en-US" sz="1100" b="1" spc="150" kern="0" dirty="0">
                <a:solidFill>
                  <a:schemeClr val="accent4"/>
                </a:solidFill>
              </a:rPr>
              <a:t>HINT</a:t>
            </a:r>
            <a:endParaRPr lang="en-US" sz="1100" dirty="0"/>
          </a:p>
        </p:txBody>
      </p:sp>
      <p:sp>
        <p:nvSpPr>
          <p:cNvPr id="16" name="Text 14"/>
          <p:cNvSpPr txBox="1"/>
          <p:nvPr/>
        </p:nvSpPr>
        <p:spPr>
          <a:xfrm>
            <a:off x="8229600" y="1645920"/>
            <a:ext cx="3410712" cy="365760"/>
          </a:xfrm>
          <a:prstGeom prst="rect">
            <a:avLst/>
          </a:prstGeom>
          <a:noFill/>
          <a:ln/>
        </p:spPr>
        <p:txBody>
          <a:bodyPr wrap="square" lIns="0" tIns="0" rIns="0" bIns="0" rtlCol="0" anchor="ctr"/>
          <a:lstStyle/>
          <a:p>
            <a:pPr algn="ctr" indent="0" marL="0">
              <a:buNone/>
            </a:pPr>
            <a:r>
              <a:rPr lang="en-US" sz="1600" b="1" dirty="0">
                <a:solidFill>
                  <a:schemeClr val="tx1"/>
                </a:solidFill>
              </a:rPr>
              <a:t>Expected result</a:t>
            </a:r>
            <a:endParaRPr lang="en-US" sz="1600" dirty="0"/>
          </a:p>
        </p:txBody>
      </p:sp>
      <p:sp>
        <p:nvSpPr>
          <p:cNvPr id="17" name="Phone frame"/>
          <p:cNvSpPr/>
          <p:nvPr/>
        </p:nvSpPr>
        <p:spPr>
          <a:xfrm>
            <a:off x="8971022" y="2057400"/>
            <a:ext cx="1927867" cy="4206240"/>
          </a:xfrm>
          <a:prstGeom prst="roundRect">
            <a:avLst>
              <a:gd name="adj" fmla="val 15178"/>
            </a:avLst>
          </a:prstGeom>
          <a:solidFill>
            <a:schemeClr val="tx1"/>
          </a:solidFill>
          <a:ln/>
        </p:spPr>
      </p:sp>
      <p:sp>
        <p:nvSpPr>
          <p:cNvPr id="18" name="Phone speaker"/>
          <p:cNvSpPr/>
          <p:nvPr/>
        </p:nvSpPr>
        <p:spPr>
          <a:xfrm>
            <a:off x="9614916" y="2157984"/>
            <a:ext cx="640080" cy="82296"/>
          </a:xfrm>
          <a:prstGeom prst="roundRect">
            <a:avLst>
              <a:gd name="adj" fmla="val 50000"/>
            </a:avLst>
          </a:prstGeom>
          <a:solidFill>
            <a:schemeClr val="tx2"/>
          </a:solidFill>
          <a:ln/>
        </p:spPr>
      </p:sp>
      <p:pic>
        <p:nvPicPr>
          <p:cNvPr id="19" name="Phone screen" descr="App screenshot">    </p:cNvPr>
          <p:cNvPicPr>
            <a:picLocks noChangeAspect="1"/>
          </p:cNvPicPr>
          <p:nvPr/>
        </p:nvPicPr>
        <p:blipFill>
          <a:blip r:embed="rId1"/>
          <a:stretch>
            <a:fillRect/>
          </a:stretch>
        </p:blipFill>
        <p:spPr>
          <a:xfrm>
            <a:off x="9089894" y="2331720"/>
            <a:ext cx="1690123" cy="3657600"/>
          </a:xfrm>
          <a:prstGeom prst="rect">
            <a:avLst/>
          </a:prstGeom>
        </p:spPr>
      </p:pic>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ection tag"/>
          <p:cNvSpPr/>
          <p:nvPr/>
        </p:nvSpPr>
        <p:spPr>
          <a:xfrm>
            <a:off x="548640" y="365760"/>
            <a:ext cx="1426464" cy="310896"/>
          </a:xfrm>
          <a:prstGeom prst="roundRect">
            <a:avLst>
              <a:gd name="adj" fmla="val 50000"/>
            </a:avLst>
          </a:prstGeom>
          <a:solidFill>
            <a:schemeClr val="accent4"/>
          </a:solidFill>
          <a:ln/>
        </p:spPr>
        <p:txBody>
          <a:bodyPr wrap="square" lIns="0" tIns="0" rIns="0" bIns="0" rtlCol="0" anchor="ctr"/>
          <a:lstStyle/>
          <a:p>
            <a:pPr algn="ctr" indent="0" marL="0">
              <a:buNone/>
            </a:pPr>
            <a:r>
              <a:rPr lang="en-US" sz="1100" b="1" spc="150" kern="0" dirty="0">
                <a:solidFill>
                  <a:schemeClr val="bg1"/>
                </a:solidFill>
              </a:rPr>
              <a:t>LAB ACTIVITY</a:t>
            </a:r>
            <a:endParaRPr lang="en-US" sz="1100" dirty="0"/>
          </a:p>
        </p:txBody>
      </p:sp>
      <p:sp>
        <p:nvSpPr>
          <p:cNvPr id="3" name="Tag context"/>
          <p:cNvSpPr txBox="1"/>
          <p:nvPr/>
        </p:nvSpPr>
        <p:spPr>
          <a:xfrm>
            <a:off x="2157984" y="365760"/>
            <a:ext cx="9482328" cy="310896"/>
          </a:xfrm>
          <a:prstGeom prst="rect">
            <a:avLst/>
          </a:prstGeom>
          <a:noFill/>
          <a:ln/>
        </p:spPr>
        <p:txBody>
          <a:bodyPr wrap="square" lIns="0" tIns="0" rIns="0" bIns="0" rtlCol="0" anchor="ctr"/>
          <a:lstStyle/>
          <a:p>
            <a:pPr indent="0" marL="0">
              <a:buNone/>
            </a:pPr>
            <a:r>
              <a:rPr lang="en-US" sz="1300" dirty="0">
                <a:solidFill>
                  <a:schemeClr val="tx2"/>
                </a:solidFill>
              </a:rPr>
              <a:t>Tick the checklist, then answer the questions in your notebook</a:t>
            </a:r>
            <a:endParaRPr lang="en-US" sz="1300" dirty="0"/>
          </a:p>
        </p:txBody>
      </p:sp>
      <p:sp>
        <p:nvSpPr>
          <p:cNvPr id="4" name="Text 0"/>
          <p:cNvSpPr/>
          <p:nvPr>
            <p:ph idx="100" type="title" hasCustomPrompt="1"/>
          </p:nvPr>
        </p:nvSpPr>
        <p:spPr>
          <a:xfrm>
            <a:off x="548640" y="749808"/>
            <a:ext cx="11091672" cy="713232"/>
          </a:xfrm>
          <a:prstGeom prst="rect">
            <a:avLst/>
          </a:prstGeom>
          <a:noFill/>
          <a:ln/>
        </p:spPr>
        <p:txBody>
          <a:bodyPr wrap="square" lIns="0" tIns="0" rIns="0" bIns="0" rtlCol="0" anchor="ctr"/>
          <a:lstStyle/>
          <a:p>
            <a:pPr algn="l" indent="0" marL="0">
              <a:buNone/>
            </a:pPr>
            <a:r>
              <a:rPr lang="en-US" sz="3600" b="1" dirty="0">
                <a:solidFill>
                  <a:schemeClr val="tx1"/>
                </a:solidFill>
              </a:rPr>
              <a:t>Check Your Understanding</a:t>
            </a:r>
            <a:endParaRPr lang="en-US" sz="3600" dirty="0"/>
          </a:p>
        </p:txBody>
      </p:sp>
      <p:sp>
        <p:nvSpPr>
          <p:cNvPr id="5" name="Card"/>
          <p:cNvSpPr/>
          <p:nvPr/>
        </p:nvSpPr>
        <p:spPr>
          <a:xfrm>
            <a:off x="548640" y="1645920"/>
            <a:ext cx="5212080" cy="4526280"/>
          </a:xfrm>
          <a:prstGeom prst="roundRect">
            <a:avLst>
              <a:gd name="adj" fmla="val 2424"/>
            </a:avLst>
          </a:prstGeom>
          <a:solidFill>
            <a:schemeClr val="bg2"/>
          </a:solidFill>
          <a:ln/>
        </p:spPr>
      </p:sp>
      <p:sp>
        <p:nvSpPr>
          <p:cNvPr id="6" name="Icon circle"/>
          <p:cNvSpPr/>
          <p:nvPr/>
        </p:nvSpPr>
        <p:spPr>
          <a:xfrm>
            <a:off x="777240" y="1828800"/>
            <a:ext cx="457200" cy="457200"/>
          </a:xfrm>
          <a:prstGeom prst="ellipse">
            <a:avLst/>
          </a:prstGeom>
          <a:solidFill>
            <a:schemeClr val="accent3"/>
          </a:solidFill>
          <a:ln/>
        </p:spPr>
      </p:sp>
      <p:pic>
        <p:nvPicPr>
          <p:cNvPr id="7" name="Icon" descr="Icon">    </p:cNvPr>
          <p:cNvPicPr>
            <a:picLocks noChangeAspect="1"/>
          </p:cNvPicPr>
          <p:nvPr/>
        </p:nvPicPr>
        <p:blipFill>
          <a:blip r:embed="rId1"/>
          <a:stretch>
            <a:fillRect/>
          </a:stretch>
        </p:blipFill>
        <p:spPr>
          <a:xfrm>
            <a:off x="886968" y="1938528"/>
            <a:ext cx="237744" cy="237744"/>
          </a:xfrm>
          <a:prstGeom prst="rect">
            <a:avLst/>
          </a:prstGeom>
        </p:spPr>
      </p:pic>
      <p:sp>
        <p:nvSpPr>
          <p:cNvPr id="8" name="Text 5"/>
          <p:cNvSpPr txBox="1"/>
          <p:nvPr/>
        </p:nvSpPr>
        <p:spPr>
          <a:xfrm>
            <a:off x="1371600" y="1828800"/>
            <a:ext cx="4206240" cy="457200"/>
          </a:xfrm>
          <a:prstGeom prst="rect">
            <a:avLst/>
          </a:prstGeom>
          <a:noFill/>
          <a:ln/>
        </p:spPr>
        <p:txBody>
          <a:bodyPr wrap="square" lIns="0" tIns="0" rIns="0" bIns="0" rtlCol="0" anchor="ctr"/>
          <a:lstStyle/>
          <a:p>
            <a:pPr indent="0" marL="0">
              <a:buNone/>
            </a:pPr>
            <a:r>
              <a:rPr lang="en-US" sz="1800" b="1" dirty="0">
                <a:solidFill>
                  <a:schemeClr val="tx1"/>
                </a:solidFill>
              </a:rPr>
              <a:t>My app runs successfully</a:t>
            </a:r>
            <a:endParaRPr lang="en-US" sz="1800" dirty="0"/>
          </a:p>
        </p:txBody>
      </p:sp>
      <p:sp>
        <p:nvSpPr>
          <p:cNvPr id="9" name="Checkbox"/>
          <p:cNvSpPr/>
          <p:nvPr/>
        </p:nvSpPr>
        <p:spPr>
          <a:xfrm>
            <a:off x="822960" y="2560320"/>
            <a:ext cx="237744" cy="237744"/>
          </a:xfrm>
          <a:prstGeom prst="roundRect">
            <a:avLst>
              <a:gd name="adj" fmla="val 15385"/>
            </a:avLst>
          </a:prstGeom>
          <a:solidFill>
            <a:schemeClr val="bg1"/>
          </a:solidFill>
          <a:ln w="19050">
            <a:solidFill>
              <a:schemeClr val="tx2"/>
            </a:solidFill>
            <a:prstDash val="solid"/>
          </a:ln>
        </p:spPr>
      </p:sp>
      <p:sp>
        <p:nvSpPr>
          <p:cNvPr id="10" name="Text 7"/>
          <p:cNvSpPr txBox="1"/>
          <p:nvPr/>
        </p:nvSpPr>
        <p:spPr>
          <a:xfrm>
            <a:off x="1234440" y="2514600"/>
            <a:ext cx="4389120" cy="548640"/>
          </a:xfrm>
          <a:prstGeom prst="rect">
            <a:avLst/>
          </a:prstGeom>
          <a:noFill/>
          <a:ln/>
        </p:spPr>
        <p:txBody>
          <a:bodyPr wrap="square" lIns="0" tIns="0" rIns="0" bIns="0" rtlCol="0" anchor="t"/>
          <a:lstStyle/>
          <a:p>
            <a:pPr indent="0" marL="0">
              <a:buNone/>
            </a:pPr>
            <a:r>
              <a:rPr lang="en-US" sz="1400" dirty="0">
                <a:solidFill>
                  <a:schemeClr val="accent5"/>
                </a:solidFill>
                <a:latin typeface="Consolas" pitchFamily="34" charset="0"/>
                <a:ea typeface="Consolas" pitchFamily="34" charset="-122"/>
                <a:cs typeface="Consolas" pitchFamily="34" charset="-120"/>
              </a:rPr>
              <a:t>node -v</a:t>
            </a:r>
            <a:r>
              <a:rPr lang="en-US" sz="1400" dirty="0">
                <a:solidFill>
                  <a:schemeClr val="tx1"/>
                </a:solidFill>
              </a:rPr>
              <a:t> and </a:t>
            </a:r>
            <a:r>
              <a:rPr lang="en-US" sz="1400" dirty="0">
                <a:solidFill>
                  <a:schemeClr val="accent5"/>
                </a:solidFill>
                <a:latin typeface="Consolas" pitchFamily="34" charset="0"/>
                <a:ea typeface="Consolas" pitchFamily="34" charset="-122"/>
                <a:cs typeface="Consolas" pitchFamily="34" charset="-120"/>
              </a:rPr>
              <a:t>npm -v</a:t>
            </a:r>
            <a:r>
              <a:rPr lang="en-US" sz="1400" dirty="0">
                <a:solidFill>
                  <a:schemeClr val="tx1"/>
                </a:solidFill>
              </a:rPr>
              <a:t> show version numbers</a:t>
            </a:r>
            <a:endParaRPr lang="en-US" sz="1400" dirty="0"/>
          </a:p>
        </p:txBody>
      </p:sp>
      <p:sp>
        <p:nvSpPr>
          <p:cNvPr id="11" name="Checkbox"/>
          <p:cNvSpPr/>
          <p:nvPr/>
        </p:nvSpPr>
        <p:spPr>
          <a:xfrm>
            <a:off x="822960" y="3145536"/>
            <a:ext cx="237744" cy="237744"/>
          </a:xfrm>
          <a:prstGeom prst="roundRect">
            <a:avLst>
              <a:gd name="adj" fmla="val 15385"/>
            </a:avLst>
          </a:prstGeom>
          <a:solidFill>
            <a:schemeClr val="bg1"/>
          </a:solidFill>
          <a:ln w="19050">
            <a:solidFill>
              <a:schemeClr val="tx2"/>
            </a:solidFill>
            <a:prstDash val="solid"/>
          </a:ln>
        </p:spPr>
      </p:sp>
      <p:sp>
        <p:nvSpPr>
          <p:cNvPr id="12" name="Text 9"/>
          <p:cNvSpPr txBox="1"/>
          <p:nvPr/>
        </p:nvSpPr>
        <p:spPr>
          <a:xfrm>
            <a:off x="1234440" y="3099816"/>
            <a:ext cx="4389120" cy="548640"/>
          </a:xfrm>
          <a:prstGeom prst="rect">
            <a:avLst/>
          </a:prstGeom>
          <a:noFill/>
          <a:ln/>
        </p:spPr>
        <p:txBody>
          <a:bodyPr wrap="square" lIns="0" tIns="0" rIns="0" bIns="0" rtlCol="0" anchor="t"/>
          <a:lstStyle/>
          <a:p>
            <a:pPr indent="0" marL="0">
              <a:buNone/>
            </a:pPr>
            <a:r>
              <a:rPr lang="en-US" sz="1400" dirty="0">
                <a:solidFill>
                  <a:schemeClr val="accent5"/>
                </a:solidFill>
                <a:latin typeface="Consolas" pitchFamily="34" charset="0"/>
                <a:ea typeface="Consolas" pitchFamily="34" charset="-122"/>
                <a:cs typeface="Consolas" pitchFamily="34" charset="-120"/>
              </a:rPr>
              <a:t>npx expo start</a:t>
            </a:r>
            <a:r>
              <a:rPr lang="en-US" sz="1400" dirty="0">
                <a:solidFill>
                  <a:schemeClr val="tx1"/>
                </a:solidFill>
              </a:rPr>
              <a:t> shows a QR code with no red errors</a:t>
            </a:r>
            <a:endParaRPr lang="en-US" sz="1400" dirty="0"/>
          </a:p>
        </p:txBody>
      </p:sp>
      <p:sp>
        <p:nvSpPr>
          <p:cNvPr id="13" name="Checkbox"/>
          <p:cNvSpPr/>
          <p:nvPr/>
        </p:nvSpPr>
        <p:spPr>
          <a:xfrm>
            <a:off x="822960" y="3730752"/>
            <a:ext cx="237744" cy="237744"/>
          </a:xfrm>
          <a:prstGeom prst="roundRect">
            <a:avLst>
              <a:gd name="adj" fmla="val 15385"/>
            </a:avLst>
          </a:prstGeom>
          <a:solidFill>
            <a:schemeClr val="bg1"/>
          </a:solidFill>
          <a:ln w="19050">
            <a:solidFill>
              <a:schemeClr val="tx2"/>
            </a:solidFill>
            <a:prstDash val="solid"/>
          </a:ln>
        </p:spPr>
      </p:sp>
      <p:sp>
        <p:nvSpPr>
          <p:cNvPr id="14" name="Text 11"/>
          <p:cNvSpPr txBox="1"/>
          <p:nvPr/>
        </p:nvSpPr>
        <p:spPr>
          <a:xfrm>
            <a:off x="1234440" y="3685032"/>
            <a:ext cx="4389120" cy="548640"/>
          </a:xfrm>
          <a:prstGeom prst="rect">
            <a:avLst/>
          </a:prstGeom>
          <a:noFill/>
          <a:ln/>
        </p:spPr>
        <p:txBody>
          <a:bodyPr wrap="square" lIns="0" tIns="0" rIns="0" bIns="0" rtlCol="0" anchor="t"/>
          <a:lstStyle/>
          <a:p>
            <a:pPr indent="0" marL="0">
              <a:buNone/>
            </a:pPr>
            <a:r>
              <a:rPr lang="en-US" sz="1400" dirty="0">
                <a:solidFill>
                  <a:schemeClr val="tx1"/>
                </a:solidFill>
              </a:rPr>
              <a:t>The app opens in Expo Go or the Android Emulator</a:t>
            </a:r>
            <a:endParaRPr lang="en-US" sz="1400" dirty="0"/>
          </a:p>
        </p:txBody>
      </p:sp>
      <p:sp>
        <p:nvSpPr>
          <p:cNvPr id="15" name="Checkbox"/>
          <p:cNvSpPr/>
          <p:nvPr/>
        </p:nvSpPr>
        <p:spPr>
          <a:xfrm>
            <a:off x="822960" y="4315968"/>
            <a:ext cx="237744" cy="237744"/>
          </a:xfrm>
          <a:prstGeom prst="roundRect">
            <a:avLst>
              <a:gd name="adj" fmla="val 15385"/>
            </a:avLst>
          </a:prstGeom>
          <a:solidFill>
            <a:schemeClr val="bg1"/>
          </a:solidFill>
          <a:ln w="19050">
            <a:solidFill>
              <a:schemeClr val="tx2"/>
            </a:solidFill>
            <a:prstDash val="solid"/>
          </a:ln>
        </p:spPr>
      </p:sp>
      <p:sp>
        <p:nvSpPr>
          <p:cNvPr id="16" name="Text 13"/>
          <p:cNvSpPr txBox="1"/>
          <p:nvPr/>
        </p:nvSpPr>
        <p:spPr>
          <a:xfrm>
            <a:off x="1234440" y="4270248"/>
            <a:ext cx="4389120" cy="548640"/>
          </a:xfrm>
          <a:prstGeom prst="rect">
            <a:avLst/>
          </a:prstGeom>
          <a:noFill/>
          <a:ln/>
        </p:spPr>
        <p:txBody>
          <a:bodyPr wrap="square" lIns="0" tIns="0" rIns="0" bIns="0" rtlCol="0" anchor="t"/>
          <a:lstStyle/>
          <a:p>
            <a:pPr indent="0" marL="0">
              <a:buNone/>
            </a:pPr>
            <a:r>
              <a:rPr lang="en-US" sz="1400" dirty="0">
                <a:solidFill>
                  <a:schemeClr val="tx1"/>
                </a:solidFill>
              </a:rPr>
              <a:t>“Hello World!” appears in the center of the screen</a:t>
            </a:r>
            <a:endParaRPr lang="en-US" sz="1400" dirty="0"/>
          </a:p>
        </p:txBody>
      </p:sp>
      <p:sp>
        <p:nvSpPr>
          <p:cNvPr id="17" name="Checkbox"/>
          <p:cNvSpPr/>
          <p:nvPr/>
        </p:nvSpPr>
        <p:spPr>
          <a:xfrm>
            <a:off x="822960" y="4901184"/>
            <a:ext cx="237744" cy="237744"/>
          </a:xfrm>
          <a:prstGeom prst="roundRect">
            <a:avLst>
              <a:gd name="adj" fmla="val 15385"/>
            </a:avLst>
          </a:prstGeom>
          <a:solidFill>
            <a:schemeClr val="bg1"/>
          </a:solidFill>
          <a:ln w="19050">
            <a:solidFill>
              <a:schemeClr val="tx2"/>
            </a:solidFill>
            <a:prstDash val="solid"/>
          </a:ln>
        </p:spPr>
      </p:sp>
      <p:sp>
        <p:nvSpPr>
          <p:cNvPr id="18" name="Text 15"/>
          <p:cNvSpPr txBox="1"/>
          <p:nvPr/>
        </p:nvSpPr>
        <p:spPr>
          <a:xfrm>
            <a:off x="1234440" y="4855464"/>
            <a:ext cx="4389120" cy="548640"/>
          </a:xfrm>
          <a:prstGeom prst="rect">
            <a:avLst/>
          </a:prstGeom>
          <a:noFill/>
          <a:ln/>
        </p:spPr>
        <p:txBody>
          <a:bodyPr wrap="square" lIns="0" tIns="0" rIns="0" bIns="0" rtlCol="0" anchor="t"/>
          <a:lstStyle/>
          <a:p>
            <a:pPr indent="0" marL="0">
              <a:buNone/>
            </a:pPr>
            <a:r>
              <a:rPr lang="en-US" sz="1400" dirty="0">
                <a:solidFill>
                  <a:schemeClr val="tx1"/>
                </a:solidFill>
              </a:rPr>
              <a:t>Editing the text and saving updates the screen</a:t>
            </a:r>
            <a:endParaRPr lang="en-US" sz="1400" dirty="0"/>
          </a:p>
        </p:txBody>
      </p:sp>
      <p:sp>
        <p:nvSpPr>
          <p:cNvPr id="19" name="Checkbox"/>
          <p:cNvSpPr/>
          <p:nvPr/>
        </p:nvSpPr>
        <p:spPr>
          <a:xfrm>
            <a:off x="822960" y="5486400"/>
            <a:ext cx="237744" cy="237744"/>
          </a:xfrm>
          <a:prstGeom prst="roundRect">
            <a:avLst>
              <a:gd name="adj" fmla="val 15385"/>
            </a:avLst>
          </a:prstGeom>
          <a:solidFill>
            <a:schemeClr val="bg1"/>
          </a:solidFill>
          <a:ln w="19050">
            <a:solidFill>
              <a:schemeClr val="tx2"/>
            </a:solidFill>
            <a:prstDash val="solid"/>
          </a:ln>
        </p:spPr>
      </p:sp>
      <p:sp>
        <p:nvSpPr>
          <p:cNvPr id="20" name="Text 17"/>
          <p:cNvSpPr txBox="1"/>
          <p:nvPr/>
        </p:nvSpPr>
        <p:spPr>
          <a:xfrm>
            <a:off x="1234440" y="5440680"/>
            <a:ext cx="4389120" cy="548640"/>
          </a:xfrm>
          <a:prstGeom prst="rect">
            <a:avLst/>
          </a:prstGeom>
          <a:noFill/>
          <a:ln/>
        </p:spPr>
        <p:txBody>
          <a:bodyPr wrap="square" lIns="0" tIns="0" rIns="0" bIns="0" rtlCol="0" anchor="t"/>
          <a:lstStyle/>
          <a:p>
            <a:pPr indent="0" marL="0">
              <a:buNone/>
            </a:pPr>
            <a:r>
              <a:rPr lang="en-US" sz="1400" dirty="0">
                <a:solidFill>
                  <a:schemeClr val="tx1"/>
                </a:solidFill>
              </a:rPr>
              <a:t>My name and university appear (Activity 2)</a:t>
            </a:r>
            <a:endParaRPr lang="en-US" sz="1400" dirty="0"/>
          </a:p>
        </p:txBody>
      </p:sp>
      <p:sp>
        <p:nvSpPr>
          <p:cNvPr id="21" name="Icon circle"/>
          <p:cNvSpPr/>
          <p:nvPr/>
        </p:nvSpPr>
        <p:spPr>
          <a:xfrm>
            <a:off x="6080760" y="1645920"/>
            <a:ext cx="457200" cy="457200"/>
          </a:xfrm>
          <a:prstGeom prst="ellipse">
            <a:avLst/>
          </a:prstGeom>
          <a:solidFill>
            <a:schemeClr val="accent4"/>
          </a:solidFill>
          <a:ln/>
        </p:spPr>
      </p:sp>
      <p:pic>
        <p:nvPicPr>
          <p:cNvPr id="22" name="Icon" descr="Icon">    </p:cNvPr>
          <p:cNvPicPr>
            <a:picLocks noChangeAspect="1"/>
          </p:cNvPicPr>
          <p:nvPr/>
        </p:nvPicPr>
        <p:blipFill>
          <a:blip r:embed="rId2"/>
          <a:stretch>
            <a:fillRect/>
          </a:stretch>
        </p:blipFill>
        <p:spPr>
          <a:xfrm>
            <a:off x="6190488" y="1755648"/>
            <a:ext cx="237744" cy="237744"/>
          </a:xfrm>
          <a:prstGeom prst="rect">
            <a:avLst/>
          </a:prstGeom>
        </p:spPr>
      </p:pic>
      <p:sp>
        <p:nvSpPr>
          <p:cNvPr id="23" name="Text 19"/>
          <p:cNvSpPr txBox="1"/>
          <p:nvPr/>
        </p:nvSpPr>
        <p:spPr>
          <a:xfrm>
            <a:off x="6675120" y="1645920"/>
            <a:ext cx="4937760" cy="457200"/>
          </a:xfrm>
          <a:prstGeom prst="rect">
            <a:avLst/>
          </a:prstGeom>
          <a:noFill/>
          <a:ln/>
        </p:spPr>
        <p:txBody>
          <a:bodyPr wrap="square" lIns="0" tIns="0" rIns="0" bIns="0" rtlCol="0" anchor="ctr"/>
          <a:lstStyle/>
          <a:p>
            <a:pPr indent="0" marL="0">
              <a:buNone/>
            </a:pPr>
            <a:r>
              <a:rPr lang="en-US" sz="1800" b="1" dirty="0">
                <a:solidFill>
                  <a:schemeClr val="tx1"/>
                </a:solidFill>
              </a:rPr>
              <a:t>Five quick questions</a:t>
            </a:r>
            <a:endParaRPr lang="en-US" sz="1800" dirty="0"/>
          </a:p>
        </p:txBody>
      </p:sp>
      <p:sp>
        <p:nvSpPr>
          <p:cNvPr id="24" name="Number badge"/>
          <p:cNvSpPr/>
          <p:nvPr/>
        </p:nvSpPr>
        <p:spPr>
          <a:xfrm>
            <a:off x="6080760" y="2322576"/>
            <a:ext cx="384048" cy="384048"/>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5" name="Text 21"/>
          <p:cNvSpPr txBox="1"/>
          <p:nvPr/>
        </p:nvSpPr>
        <p:spPr>
          <a:xfrm>
            <a:off x="6629400" y="2286000"/>
            <a:ext cx="5010912" cy="731520"/>
          </a:xfrm>
          <a:prstGeom prst="rect">
            <a:avLst/>
          </a:prstGeom>
          <a:noFill/>
          <a:ln/>
        </p:spPr>
        <p:txBody>
          <a:bodyPr wrap="square" lIns="0" tIns="0" rIns="0" bIns="0" rtlCol="0" anchor="t"/>
          <a:lstStyle/>
          <a:p>
            <a:pPr indent="0" marL="0">
              <a:buNone/>
            </a:pPr>
            <a:r>
              <a:rPr lang="en-US" sz="1500" dirty="0">
                <a:solidFill>
                  <a:schemeClr val="tx1"/>
                </a:solidFill>
              </a:rPr>
              <a:t>What is the difference between native and cross-platform development?</a:t>
            </a:r>
            <a:endParaRPr lang="en-US" sz="1500" dirty="0"/>
          </a:p>
        </p:txBody>
      </p:sp>
      <p:sp>
        <p:nvSpPr>
          <p:cNvPr id="26" name="Number badge"/>
          <p:cNvSpPr/>
          <p:nvPr/>
        </p:nvSpPr>
        <p:spPr>
          <a:xfrm>
            <a:off x="6080760" y="3099816"/>
            <a:ext cx="384048" cy="384048"/>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7" name="Text 23"/>
          <p:cNvSpPr txBox="1"/>
          <p:nvPr/>
        </p:nvSpPr>
        <p:spPr>
          <a:xfrm>
            <a:off x="6629400" y="3063240"/>
            <a:ext cx="5010912" cy="731520"/>
          </a:xfrm>
          <a:prstGeom prst="rect">
            <a:avLst/>
          </a:prstGeom>
          <a:noFill/>
          <a:ln/>
        </p:spPr>
        <p:txBody>
          <a:bodyPr wrap="square" lIns="0" tIns="0" rIns="0" bIns="0" rtlCol="0" anchor="t"/>
          <a:lstStyle/>
          <a:p>
            <a:pPr indent="0" marL="0">
              <a:buNone/>
            </a:pPr>
            <a:r>
              <a:rPr lang="en-US" sz="1500" dirty="0">
                <a:solidFill>
                  <a:schemeClr val="tx1"/>
                </a:solidFill>
              </a:rPr>
              <a:t>Which language does React Native use? Which language does Flutter use?</a:t>
            </a:r>
            <a:endParaRPr lang="en-US" sz="1500" dirty="0"/>
          </a:p>
        </p:txBody>
      </p:sp>
      <p:sp>
        <p:nvSpPr>
          <p:cNvPr id="28" name="Number badge"/>
          <p:cNvSpPr/>
          <p:nvPr/>
        </p:nvSpPr>
        <p:spPr>
          <a:xfrm>
            <a:off x="6080760" y="3877056"/>
            <a:ext cx="384048" cy="384048"/>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9" name="Text 25"/>
          <p:cNvSpPr txBox="1"/>
          <p:nvPr/>
        </p:nvSpPr>
        <p:spPr>
          <a:xfrm>
            <a:off x="6629400" y="3840480"/>
            <a:ext cx="5010912" cy="731520"/>
          </a:xfrm>
          <a:prstGeom prst="rect">
            <a:avLst/>
          </a:prstGeom>
          <a:noFill/>
          <a:ln/>
        </p:spPr>
        <p:txBody>
          <a:bodyPr wrap="square" lIns="0" tIns="0" rIns="0" bIns="0" rtlCol="0" anchor="t"/>
          <a:lstStyle/>
          <a:p>
            <a:pPr indent="0" marL="0">
              <a:buNone/>
            </a:pPr>
            <a:r>
              <a:rPr lang="en-US" sz="1500" dirty="0">
                <a:solidFill>
                  <a:schemeClr val="tx1"/>
                </a:solidFill>
              </a:rPr>
              <a:t>What is the difference between props and state?</a:t>
            </a:r>
            <a:endParaRPr lang="en-US" sz="1500" dirty="0"/>
          </a:p>
        </p:txBody>
      </p:sp>
      <p:sp>
        <p:nvSpPr>
          <p:cNvPr id="30" name="Number badge"/>
          <p:cNvSpPr/>
          <p:nvPr/>
        </p:nvSpPr>
        <p:spPr>
          <a:xfrm>
            <a:off x="6080760" y="4654296"/>
            <a:ext cx="384048" cy="384048"/>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31" name="Text 27"/>
          <p:cNvSpPr txBox="1"/>
          <p:nvPr/>
        </p:nvSpPr>
        <p:spPr>
          <a:xfrm>
            <a:off x="6629400" y="4617720"/>
            <a:ext cx="5010912" cy="731520"/>
          </a:xfrm>
          <a:prstGeom prst="rect">
            <a:avLst/>
          </a:prstGeom>
          <a:noFill/>
          <a:ln/>
        </p:spPr>
        <p:txBody>
          <a:bodyPr wrap="square" lIns="0" tIns="0" rIns="0" bIns="0" rtlCol="0" anchor="t"/>
          <a:lstStyle/>
          <a:p>
            <a:pPr indent="0" marL="0">
              <a:buNone/>
            </a:pPr>
            <a:r>
              <a:rPr lang="en-US" sz="1500" dirty="0">
                <a:solidFill>
                  <a:schemeClr val="tx1"/>
                </a:solidFill>
              </a:rPr>
              <a:t>Which command starts the Expo development server?</a:t>
            </a:r>
            <a:endParaRPr lang="en-US" sz="1500" dirty="0"/>
          </a:p>
        </p:txBody>
      </p:sp>
      <p:sp>
        <p:nvSpPr>
          <p:cNvPr id="32" name="Number badge"/>
          <p:cNvSpPr/>
          <p:nvPr/>
        </p:nvSpPr>
        <p:spPr>
          <a:xfrm>
            <a:off x="6080760" y="5431536"/>
            <a:ext cx="384048" cy="384048"/>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3" name="Text 29"/>
          <p:cNvSpPr txBox="1"/>
          <p:nvPr/>
        </p:nvSpPr>
        <p:spPr>
          <a:xfrm>
            <a:off x="6629400" y="5394960"/>
            <a:ext cx="5010912" cy="731520"/>
          </a:xfrm>
          <a:prstGeom prst="rect">
            <a:avLst/>
          </a:prstGeom>
          <a:noFill/>
          <a:ln/>
        </p:spPr>
        <p:txBody>
          <a:bodyPr wrap="square" lIns="0" tIns="0" rIns="0" bIns="0" rtlCol="0" anchor="t"/>
          <a:lstStyle/>
          <a:p>
            <a:pPr indent="0" marL="0">
              <a:buNone/>
            </a:pPr>
            <a:r>
              <a:rPr lang="en-US" sz="1500" dirty="0">
                <a:solidFill>
                  <a:schemeClr val="tx1"/>
                </a:solidFill>
              </a:rPr>
              <a:t>In our project, which file do you edit to change the home screen?</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ection tag"/>
          <p:cNvSpPr/>
          <p:nvPr/>
        </p:nvSpPr>
        <p:spPr>
          <a:xfrm>
            <a:off x="548640" y="365760"/>
            <a:ext cx="946404" cy="310896"/>
          </a:xfrm>
          <a:prstGeom prst="roundRect">
            <a:avLst>
              <a:gd name="adj" fmla="val 50000"/>
            </a:avLst>
          </a:prstGeom>
          <a:solidFill>
            <a:schemeClr val="tx2"/>
          </a:solidFill>
          <a:ln/>
        </p:spPr>
        <p:txBody>
          <a:bodyPr wrap="square" lIns="0" tIns="0" rIns="0" bIns="0" rtlCol="0" anchor="ctr"/>
          <a:lstStyle/>
          <a:p>
            <a:pPr algn="ctr" indent="0" marL="0">
              <a:buNone/>
            </a:pPr>
            <a:r>
              <a:rPr lang="en-US" sz="1100" b="1" spc="150" kern="0" dirty="0">
                <a:solidFill>
                  <a:schemeClr val="bg1"/>
                </a:solidFill>
              </a:rPr>
              <a:t>WRAP-UP</a:t>
            </a:r>
            <a:endParaRPr lang="en-US" sz="1100" dirty="0"/>
          </a:p>
        </p:txBody>
      </p:sp>
      <p:sp>
        <p:nvSpPr>
          <p:cNvPr id="3" name="Tag context"/>
          <p:cNvSpPr txBox="1"/>
          <p:nvPr/>
        </p:nvSpPr>
        <p:spPr>
          <a:xfrm>
            <a:off x="1677924" y="365760"/>
            <a:ext cx="9962388" cy="310896"/>
          </a:xfrm>
          <a:prstGeom prst="rect">
            <a:avLst/>
          </a:prstGeom>
          <a:noFill/>
          <a:ln/>
        </p:spPr>
        <p:txBody>
          <a:bodyPr wrap="square" lIns="0" tIns="0" rIns="0" bIns="0" rtlCol="0" anchor="ctr"/>
          <a:lstStyle/>
          <a:p>
            <a:pPr indent="0" marL="0">
              <a:buNone/>
            </a:pPr>
            <a:r>
              <a:rPr lang="en-US" sz="1300" dirty="0">
                <a:solidFill>
                  <a:schemeClr val="accent6"/>
                </a:solidFill>
              </a:rPr>
              <a:t>Lab 01 complete</a:t>
            </a:r>
            <a:endParaRPr lang="en-US" sz="1300" dirty="0"/>
          </a:p>
        </p:txBody>
      </p:sp>
      <p:sp>
        <p:nvSpPr>
          <p:cNvPr id="4" name="Text 0"/>
          <p:cNvSpPr/>
          <p:nvPr>
            <p:ph idx="100" type="title" hasCustomPrompt="1"/>
          </p:nvPr>
        </p:nvSpPr>
        <p:spPr>
          <a:xfrm>
            <a:off x="548640" y="749808"/>
            <a:ext cx="11091672" cy="713232"/>
          </a:xfrm>
          <a:prstGeom prst="rect">
            <a:avLst/>
          </a:prstGeom>
          <a:noFill/>
          <a:ln/>
        </p:spPr>
        <p:txBody>
          <a:bodyPr wrap="square" lIns="0" tIns="0" rIns="0" bIns="0" rtlCol="0" anchor="ctr"/>
          <a:lstStyle/>
          <a:p>
            <a:pPr algn="l" indent="0" marL="0">
              <a:buNone/>
            </a:pPr>
            <a:r>
              <a:rPr lang="en-US" sz="3600" b="1" dirty="0">
                <a:solidFill>
                  <a:schemeClr val="bg1"/>
                </a:solidFill>
              </a:rPr>
              <a:t>Summary and Official Docs</a:t>
            </a:r>
            <a:endParaRPr lang="en-US" sz="3600" dirty="0"/>
          </a:p>
        </p:txBody>
      </p:sp>
      <p:sp>
        <p:nvSpPr>
          <p:cNvPr id="5" name="Text 3"/>
          <p:cNvSpPr txBox="1"/>
          <p:nvPr/>
        </p:nvSpPr>
        <p:spPr>
          <a:xfrm>
            <a:off x="548640" y="1691640"/>
            <a:ext cx="5120640" cy="411480"/>
          </a:xfrm>
          <a:prstGeom prst="rect">
            <a:avLst/>
          </a:prstGeom>
          <a:noFill/>
          <a:ln/>
        </p:spPr>
        <p:txBody>
          <a:bodyPr wrap="square" lIns="0" tIns="0" rIns="0" bIns="0" rtlCol="0" anchor="ctr"/>
          <a:lstStyle/>
          <a:p>
            <a:pPr indent="0" marL="0">
              <a:buNone/>
            </a:pPr>
            <a:r>
              <a:rPr lang="en-US" sz="1900" b="1" dirty="0">
                <a:solidFill>
                  <a:schemeClr val="accent6"/>
                </a:solidFill>
              </a:rPr>
              <a:t>Today you learned</a:t>
            </a:r>
            <a:endParaRPr lang="en-US" sz="1900" dirty="0"/>
          </a:p>
        </p:txBody>
      </p:sp>
      <p:pic>
        <p:nvPicPr>
          <p:cNvPr id="6" name="Check icon" descr="check">    </p:cNvPr>
          <p:cNvPicPr>
            <a:picLocks noChangeAspect="1"/>
          </p:cNvPicPr>
          <p:nvPr/>
        </p:nvPicPr>
        <p:blipFill>
          <a:blip r:embed="rId1"/>
          <a:stretch>
            <a:fillRect/>
          </a:stretch>
        </p:blipFill>
        <p:spPr>
          <a:xfrm>
            <a:off x="548640" y="2295144"/>
            <a:ext cx="274320" cy="274320"/>
          </a:xfrm>
          <a:prstGeom prst="rect">
            <a:avLst/>
          </a:prstGeom>
        </p:spPr>
      </p:pic>
      <p:sp>
        <p:nvSpPr>
          <p:cNvPr id="7" name="Text 4"/>
          <p:cNvSpPr txBox="1"/>
          <p:nvPr/>
        </p:nvSpPr>
        <p:spPr>
          <a:xfrm>
            <a:off x="960120" y="2240280"/>
            <a:ext cx="4754880" cy="411480"/>
          </a:xfrm>
          <a:prstGeom prst="rect">
            <a:avLst/>
          </a:prstGeom>
          <a:noFill/>
          <a:ln/>
        </p:spPr>
        <p:txBody>
          <a:bodyPr wrap="square" lIns="0" tIns="0" rIns="0" bIns="0" rtlCol="0" anchor="ctr"/>
          <a:lstStyle/>
          <a:p>
            <a:pPr indent="0" marL="0">
              <a:buNone/>
            </a:pPr>
            <a:r>
              <a:rPr lang="en-US" sz="1600" dirty="0">
                <a:solidFill>
                  <a:schemeClr val="bg1"/>
                </a:solidFill>
              </a:rPr>
              <a:t>Native vs cross-platform development</a:t>
            </a:r>
            <a:endParaRPr lang="en-US" sz="1600" dirty="0"/>
          </a:p>
        </p:txBody>
      </p:sp>
      <p:pic>
        <p:nvPicPr>
          <p:cNvPr id="8" name="Check icon" descr="check">    </p:cNvPr>
          <p:cNvPicPr>
            <a:picLocks noChangeAspect="1"/>
          </p:cNvPicPr>
          <p:nvPr/>
        </p:nvPicPr>
        <p:blipFill>
          <a:blip r:embed="rId2"/>
          <a:stretch>
            <a:fillRect/>
          </a:stretch>
        </p:blipFill>
        <p:spPr>
          <a:xfrm>
            <a:off x="548640" y="2825496"/>
            <a:ext cx="274320" cy="274320"/>
          </a:xfrm>
          <a:prstGeom prst="rect">
            <a:avLst/>
          </a:prstGeom>
        </p:spPr>
      </p:pic>
      <p:sp>
        <p:nvSpPr>
          <p:cNvPr id="9" name="Text 5"/>
          <p:cNvSpPr txBox="1"/>
          <p:nvPr/>
        </p:nvSpPr>
        <p:spPr>
          <a:xfrm>
            <a:off x="960120" y="2770632"/>
            <a:ext cx="4754880" cy="411480"/>
          </a:xfrm>
          <a:prstGeom prst="rect">
            <a:avLst/>
          </a:prstGeom>
          <a:noFill/>
          <a:ln/>
        </p:spPr>
        <p:txBody>
          <a:bodyPr wrap="square" lIns="0" tIns="0" rIns="0" bIns="0" rtlCol="0" anchor="ctr"/>
          <a:lstStyle/>
          <a:p>
            <a:pPr indent="0" marL="0">
              <a:buNone/>
            </a:pPr>
            <a:r>
              <a:rPr lang="en-US" sz="1600" dirty="0">
                <a:solidFill>
                  <a:schemeClr val="bg1"/>
                </a:solidFill>
              </a:rPr>
              <a:t>React Native (JavaScript) vs Flutter (Dart)</a:t>
            </a:r>
            <a:endParaRPr lang="en-US" sz="1600" dirty="0"/>
          </a:p>
        </p:txBody>
      </p:sp>
      <p:pic>
        <p:nvPicPr>
          <p:cNvPr id="10" name="Check icon" descr="check">    </p:cNvPr>
          <p:cNvPicPr>
            <a:picLocks noChangeAspect="1"/>
          </p:cNvPicPr>
          <p:nvPr/>
        </p:nvPicPr>
        <p:blipFill>
          <a:blip r:embed="rId3"/>
          <a:stretch>
            <a:fillRect/>
          </a:stretch>
        </p:blipFill>
        <p:spPr>
          <a:xfrm>
            <a:off x="548640" y="3355848"/>
            <a:ext cx="274320" cy="274320"/>
          </a:xfrm>
          <a:prstGeom prst="rect">
            <a:avLst/>
          </a:prstGeom>
        </p:spPr>
      </p:pic>
      <p:sp>
        <p:nvSpPr>
          <p:cNvPr id="11" name="Text 6"/>
          <p:cNvSpPr txBox="1"/>
          <p:nvPr/>
        </p:nvSpPr>
        <p:spPr>
          <a:xfrm>
            <a:off x="960120" y="3300984"/>
            <a:ext cx="4754880" cy="411480"/>
          </a:xfrm>
          <a:prstGeom prst="rect">
            <a:avLst/>
          </a:prstGeom>
          <a:noFill/>
          <a:ln/>
        </p:spPr>
        <p:txBody>
          <a:bodyPr wrap="square" lIns="0" tIns="0" rIns="0" bIns="0" rtlCol="0" anchor="ctr"/>
          <a:lstStyle/>
          <a:p>
            <a:pPr indent="0" marL="0">
              <a:buNone/>
            </a:pPr>
            <a:r>
              <a:rPr lang="en-US" sz="1600" dirty="0">
                <a:solidFill>
                  <a:schemeClr val="bg1"/>
                </a:solidFill>
              </a:rPr>
              <a:t>Components, JSX, props, state, and styling</a:t>
            </a:r>
            <a:endParaRPr lang="en-US" sz="1600" dirty="0"/>
          </a:p>
        </p:txBody>
      </p:sp>
      <p:pic>
        <p:nvPicPr>
          <p:cNvPr id="12" name="Check icon" descr="check">    </p:cNvPr>
          <p:cNvPicPr>
            <a:picLocks noChangeAspect="1"/>
          </p:cNvPicPr>
          <p:nvPr/>
        </p:nvPicPr>
        <p:blipFill>
          <a:blip r:embed="rId4"/>
          <a:stretch>
            <a:fillRect/>
          </a:stretch>
        </p:blipFill>
        <p:spPr>
          <a:xfrm>
            <a:off x="548640" y="3886200"/>
            <a:ext cx="274320" cy="274320"/>
          </a:xfrm>
          <a:prstGeom prst="rect">
            <a:avLst/>
          </a:prstGeom>
        </p:spPr>
      </p:pic>
      <p:sp>
        <p:nvSpPr>
          <p:cNvPr id="13" name="Text 7"/>
          <p:cNvSpPr txBox="1"/>
          <p:nvPr/>
        </p:nvSpPr>
        <p:spPr>
          <a:xfrm>
            <a:off x="960120" y="3831336"/>
            <a:ext cx="4754880" cy="411480"/>
          </a:xfrm>
          <a:prstGeom prst="rect">
            <a:avLst/>
          </a:prstGeom>
          <a:noFill/>
          <a:ln/>
        </p:spPr>
        <p:txBody>
          <a:bodyPr wrap="square" lIns="0" tIns="0" rIns="0" bIns="0" rtlCol="0" anchor="ctr"/>
          <a:lstStyle/>
          <a:p>
            <a:pPr indent="0" marL="0">
              <a:buNone/>
            </a:pPr>
            <a:r>
              <a:rPr lang="en-US" sz="1600" dirty="0">
                <a:solidFill>
                  <a:schemeClr val="bg1"/>
                </a:solidFill>
              </a:rPr>
              <a:t>What to install: Node.js LTS, VS Code, Expo tools</a:t>
            </a:r>
            <a:endParaRPr lang="en-US" sz="1600" dirty="0"/>
          </a:p>
        </p:txBody>
      </p:sp>
      <p:pic>
        <p:nvPicPr>
          <p:cNvPr id="14" name="Check icon" descr="check">    </p:cNvPr>
          <p:cNvPicPr>
            <a:picLocks noChangeAspect="1"/>
          </p:cNvPicPr>
          <p:nvPr/>
        </p:nvPicPr>
        <p:blipFill>
          <a:blip r:embed="rId5"/>
          <a:stretch>
            <a:fillRect/>
          </a:stretch>
        </p:blipFill>
        <p:spPr>
          <a:xfrm>
            <a:off x="548640" y="4416552"/>
            <a:ext cx="274320" cy="274320"/>
          </a:xfrm>
          <a:prstGeom prst="rect">
            <a:avLst/>
          </a:prstGeom>
        </p:spPr>
      </p:pic>
      <p:sp>
        <p:nvSpPr>
          <p:cNvPr id="15" name="Text 8"/>
          <p:cNvSpPr txBox="1"/>
          <p:nvPr/>
        </p:nvSpPr>
        <p:spPr>
          <a:xfrm>
            <a:off x="960120" y="4361688"/>
            <a:ext cx="4754880" cy="411480"/>
          </a:xfrm>
          <a:prstGeom prst="rect">
            <a:avLst/>
          </a:prstGeom>
          <a:noFill/>
          <a:ln/>
        </p:spPr>
        <p:txBody>
          <a:bodyPr wrap="square" lIns="0" tIns="0" rIns="0" bIns="0" rtlCol="0" anchor="ctr"/>
          <a:lstStyle/>
          <a:p>
            <a:pPr indent="0" marL="0">
              <a:buNone/>
            </a:pPr>
            <a:r>
              <a:rPr lang="en-US" sz="1600" dirty="0">
                <a:solidFill>
                  <a:schemeClr val="bg1"/>
                </a:solidFill>
              </a:rPr>
              <a:t>How to create and run a Hello World app</a:t>
            </a:r>
            <a:endParaRPr lang="en-US" sz="1600" dirty="0"/>
          </a:p>
        </p:txBody>
      </p:sp>
      <p:sp>
        <p:nvSpPr>
          <p:cNvPr id="16" name="Card"/>
          <p:cNvSpPr/>
          <p:nvPr/>
        </p:nvSpPr>
        <p:spPr>
          <a:xfrm>
            <a:off x="548640" y="5029200"/>
            <a:ext cx="5120640" cy="1097280"/>
          </a:xfrm>
          <a:prstGeom prst="roundRect">
            <a:avLst>
              <a:gd name="adj" fmla="val 10000"/>
            </a:avLst>
          </a:prstGeom>
          <a:solidFill>
            <a:schemeClr val="tx2"/>
          </a:solidFill>
          <a:ln/>
        </p:spPr>
      </p:sp>
      <p:sp>
        <p:nvSpPr>
          <p:cNvPr id="17" name="Text 10"/>
          <p:cNvSpPr txBox="1"/>
          <p:nvPr/>
        </p:nvSpPr>
        <p:spPr>
          <a:xfrm>
            <a:off x="777240" y="5074920"/>
            <a:ext cx="4709160" cy="1005840"/>
          </a:xfrm>
          <a:prstGeom prst="rect">
            <a:avLst/>
          </a:prstGeom>
          <a:noFill/>
          <a:ln/>
        </p:spPr>
        <p:txBody>
          <a:bodyPr wrap="square" lIns="0" tIns="0" rIns="0" bIns="0" rtlCol="0" anchor="ctr"/>
          <a:lstStyle/>
          <a:p>
            <a:pPr indent="0" marL="0">
              <a:buNone/>
            </a:pPr>
            <a:r>
              <a:rPr lang="en-US" sz="1500" b="1" dirty="0">
                <a:solidFill>
                  <a:schemeClr val="bg1"/>
                </a:solidFill>
              </a:rPr>
              <a:t>Before the next lab: </a:t>
            </a:r>
            <a:r>
              <a:rPr lang="en-US" sz="1500" dirty="0">
                <a:solidFill>
                  <a:schemeClr val="bg1"/>
                </a:solidFill>
              </a:rPr>
              <a:t>revise the JavaScript topics and keep your HelloWorld project on your laptop.</a:t>
            </a:r>
            <a:endParaRPr lang="en-US" sz="1500" dirty="0"/>
          </a:p>
        </p:txBody>
      </p:sp>
      <p:sp>
        <p:nvSpPr>
          <p:cNvPr id="18" name="Card"/>
          <p:cNvSpPr/>
          <p:nvPr/>
        </p:nvSpPr>
        <p:spPr>
          <a:xfrm>
            <a:off x="6035040" y="1691640"/>
            <a:ext cx="5605272" cy="4526280"/>
          </a:xfrm>
          <a:prstGeom prst="roundRect">
            <a:avLst>
              <a:gd name="adj" fmla="val 2424"/>
            </a:avLst>
          </a:prstGeom>
          <a:solidFill>
            <a:schemeClr val="bg1"/>
          </a:solidFill>
          <a:ln/>
        </p:spPr>
      </p:sp>
      <p:sp>
        <p:nvSpPr>
          <p:cNvPr id="19" name="Text 12"/>
          <p:cNvSpPr txBox="1"/>
          <p:nvPr/>
        </p:nvSpPr>
        <p:spPr>
          <a:xfrm>
            <a:off x="6263640" y="1828800"/>
            <a:ext cx="5212080" cy="365760"/>
          </a:xfrm>
          <a:prstGeom prst="rect">
            <a:avLst/>
          </a:prstGeom>
          <a:noFill/>
          <a:ln/>
        </p:spPr>
        <p:txBody>
          <a:bodyPr wrap="square" lIns="0" tIns="0" rIns="0" bIns="0" rtlCol="0" anchor="ctr"/>
          <a:lstStyle/>
          <a:p>
            <a:pPr indent="0" marL="0">
              <a:buNone/>
            </a:pPr>
            <a:r>
              <a:rPr lang="en-US" sz="1700" b="1" dirty="0">
                <a:solidFill>
                  <a:schemeClr val="tx1"/>
                </a:solidFill>
              </a:rPr>
              <a:t>Official documentation</a:t>
            </a:r>
            <a:endParaRPr lang="en-US" sz="1700" dirty="0"/>
          </a:p>
        </p:txBody>
      </p:sp>
      <p:sp>
        <p:nvSpPr>
          <p:cNvPr id="20" name="Text 13"/>
          <p:cNvSpPr txBox="1"/>
          <p:nvPr/>
        </p:nvSpPr>
        <p:spPr>
          <a:xfrm>
            <a:off x="6263640" y="2286000"/>
            <a:ext cx="2286000" cy="402336"/>
          </a:xfrm>
          <a:prstGeom prst="rect">
            <a:avLst/>
          </a:prstGeom>
          <a:noFill/>
          <a:ln/>
        </p:spPr>
        <p:txBody>
          <a:bodyPr wrap="square" lIns="0" tIns="0" rIns="0" bIns="0" rtlCol="0" anchor="ctr"/>
          <a:lstStyle/>
          <a:p>
            <a:pPr indent="0" marL="0">
              <a:buNone/>
            </a:pPr>
            <a:r>
              <a:rPr lang="en-US" sz="1250" b="1" dirty="0">
                <a:solidFill>
                  <a:schemeClr val="tx1"/>
                </a:solidFill>
              </a:rPr>
              <a:t>React Native: Get Started</a:t>
            </a:r>
            <a:endParaRPr lang="en-US" sz="1250" dirty="0"/>
          </a:p>
        </p:txBody>
      </p:sp>
      <p:sp>
        <p:nvSpPr>
          <p:cNvPr id="21" name="Text 14"/>
          <p:cNvSpPr txBox="1"/>
          <p:nvPr/>
        </p:nvSpPr>
        <p:spPr>
          <a:xfrm>
            <a:off x="8503920" y="2286000"/>
            <a:ext cx="3063240" cy="402336"/>
          </a:xfrm>
          <a:prstGeom prst="rect">
            <a:avLst/>
          </a:prstGeom>
          <a:noFill/>
          <a:ln/>
        </p:spPr>
        <p:txBody>
          <a:bodyPr wrap="square" lIns="0" tIns="0" rIns="0" bIns="0" rtlCol="0" anchor="ctr"/>
          <a:lstStyle/>
          <a:p>
            <a:pPr indent="0" marL="0">
              <a:buNone/>
            </a:pPr>
            <a:r>
              <a:rPr lang="en-US" sz="1100" u="sng" dirty="0">
                <a:solidFill>
                  <a:srgbClr val="000000"/>
                </a:solidFill>
                <a:hlinkClick r:id="rId6" invalidUrl="" action="" tgtFrame="" tooltip="" history="1" highlightClick="0" endSnd="0">
                  <a:extLst>
                    <a:ext uri="{A12FA001-AC4F-418D-AE19-62706E023703}">
                      <ahyp:hlinkClr xmlns:ahyp="http://schemas.microsoft.com/office/drawing/2018/hyperlinkcolor" val="tx"/>
                    </a:ext>
                  </a:extLst>
                </a:hlinkClick>
              </a:rPr>
              <a:t>reactnative.dev/docs/getting-started</a:t>
            </a:r>
            <a:endParaRPr lang="en-US" sz="1100" dirty="0"/>
          </a:p>
        </p:txBody>
      </p:sp>
      <p:sp>
        <p:nvSpPr>
          <p:cNvPr id="22" name="Text 15"/>
          <p:cNvSpPr txBox="1"/>
          <p:nvPr/>
        </p:nvSpPr>
        <p:spPr>
          <a:xfrm>
            <a:off x="6263640" y="2706624"/>
            <a:ext cx="2286000" cy="402336"/>
          </a:xfrm>
          <a:prstGeom prst="rect">
            <a:avLst/>
          </a:prstGeom>
          <a:noFill/>
          <a:ln/>
        </p:spPr>
        <p:txBody>
          <a:bodyPr wrap="square" lIns="0" tIns="0" rIns="0" bIns="0" rtlCol="0" anchor="ctr"/>
          <a:lstStyle/>
          <a:p>
            <a:pPr indent="0" marL="0">
              <a:buNone/>
            </a:pPr>
            <a:r>
              <a:rPr lang="en-US" sz="1250" b="1" dirty="0">
                <a:solidFill>
                  <a:schemeClr val="tx1"/>
                </a:solidFill>
              </a:rPr>
              <a:t>Expo: Create a project</a:t>
            </a:r>
            <a:endParaRPr lang="en-US" sz="1250" dirty="0"/>
          </a:p>
        </p:txBody>
      </p:sp>
      <p:sp>
        <p:nvSpPr>
          <p:cNvPr id="23" name="Text 16"/>
          <p:cNvSpPr txBox="1"/>
          <p:nvPr/>
        </p:nvSpPr>
        <p:spPr>
          <a:xfrm>
            <a:off x="8503920" y="2706624"/>
            <a:ext cx="3063240" cy="402336"/>
          </a:xfrm>
          <a:prstGeom prst="rect">
            <a:avLst/>
          </a:prstGeom>
          <a:noFill/>
          <a:ln/>
        </p:spPr>
        <p:txBody>
          <a:bodyPr wrap="square" lIns="0" tIns="0" rIns="0" bIns="0" rtlCol="0" anchor="ctr"/>
          <a:lstStyle/>
          <a:p>
            <a:pPr indent="0" marL="0">
              <a:buNone/>
            </a:pPr>
            <a:r>
              <a:rPr lang="en-US" sz="1100" u="sng" dirty="0">
                <a:solidFill>
                  <a:srgbClr val="000000"/>
                </a:solidFill>
                <a:hlinkClick r:id="rId7" invalidUrl="" action="" tgtFrame="" tooltip="" history="1" highlightClick="0" endSnd="0">
                  <a:extLst>
                    <a:ext uri="{A12FA001-AC4F-418D-AE19-62706E023703}">
                      <ahyp:hlinkClr xmlns:ahyp="http://schemas.microsoft.com/office/drawing/2018/hyperlinkcolor" val="tx"/>
                    </a:ext>
                  </a:extLst>
                </a:hlinkClick>
              </a:rPr>
              <a:t>docs.expo.dev/get-started/create-a-project</a:t>
            </a:r>
            <a:endParaRPr lang="en-US" sz="1100" dirty="0"/>
          </a:p>
        </p:txBody>
      </p:sp>
      <p:sp>
        <p:nvSpPr>
          <p:cNvPr id="24" name="Text 17"/>
          <p:cNvSpPr txBox="1"/>
          <p:nvPr/>
        </p:nvSpPr>
        <p:spPr>
          <a:xfrm>
            <a:off x="6263640" y="3127248"/>
            <a:ext cx="2286000" cy="402336"/>
          </a:xfrm>
          <a:prstGeom prst="rect">
            <a:avLst/>
          </a:prstGeom>
          <a:noFill/>
          <a:ln/>
        </p:spPr>
        <p:txBody>
          <a:bodyPr wrap="square" lIns="0" tIns="0" rIns="0" bIns="0" rtlCol="0" anchor="ctr"/>
          <a:lstStyle/>
          <a:p>
            <a:pPr indent="0" marL="0">
              <a:buNone/>
            </a:pPr>
            <a:r>
              <a:rPr lang="en-US" sz="1250" b="1" dirty="0">
                <a:solidFill>
                  <a:schemeClr val="tx1"/>
                </a:solidFill>
              </a:rPr>
              <a:t>Expo: Set up your environment</a:t>
            </a:r>
            <a:endParaRPr lang="en-US" sz="1250" dirty="0"/>
          </a:p>
        </p:txBody>
      </p:sp>
      <p:sp>
        <p:nvSpPr>
          <p:cNvPr id="25" name="Text 18"/>
          <p:cNvSpPr txBox="1"/>
          <p:nvPr/>
        </p:nvSpPr>
        <p:spPr>
          <a:xfrm>
            <a:off x="8503920" y="3127248"/>
            <a:ext cx="3063240" cy="402336"/>
          </a:xfrm>
          <a:prstGeom prst="rect">
            <a:avLst/>
          </a:prstGeom>
          <a:noFill/>
          <a:ln/>
        </p:spPr>
        <p:txBody>
          <a:bodyPr wrap="square" lIns="0" tIns="0" rIns="0" bIns="0" rtlCol="0" anchor="ctr"/>
          <a:lstStyle/>
          <a:p>
            <a:pPr indent="0" marL="0">
              <a:buNone/>
            </a:pPr>
            <a:r>
              <a:rPr lang="en-US" sz="1100" u="sng" dirty="0">
                <a:solidFill>
                  <a:srgbClr val="000000"/>
                </a:solidFill>
                <a:hlinkClick r:id="rId8" invalidUrl="" action="" tgtFrame="" tooltip="" history="1" highlightClick="0" endSnd="0">
                  <a:extLst>
                    <a:ext uri="{A12FA001-AC4F-418D-AE19-62706E023703}">
                      <ahyp:hlinkClr xmlns:ahyp="http://schemas.microsoft.com/office/drawing/2018/hyperlinkcolor" val="tx"/>
                    </a:ext>
                  </a:extLst>
                </a:hlinkClick>
              </a:rPr>
              <a:t>docs.expo.dev/get-started/set-up-your-environment</a:t>
            </a:r>
            <a:endParaRPr lang="en-US" sz="1100" dirty="0"/>
          </a:p>
        </p:txBody>
      </p:sp>
      <p:sp>
        <p:nvSpPr>
          <p:cNvPr id="26" name="Text 19"/>
          <p:cNvSpPr txBox="1"/>
          <p:nvPr/>
        </p:nvSpPr>
        <p:spPr>
          <a:xfrm>
            <a:off x="6263640" y="3547872"/>
            <a:ext cx="2286000" cy="402336"/>
          </a:xfrm>
          <a:prstGeom prst="rect">
            <a:avLst/>
          </a:prstGeom>
          <a:noFill/>
          <a:ln/>
        </p:spPr>
        <p:txBody>
          <a:bodyPr wrap="square" lIns="0" tIns="0" rIns="0" bIns="0" rtlCol="0" anchor="ctr"/>
          <a:lstStyle/>
          <a:p>
            <a:pPr indent="0" marL="0">
              <a:buNone/>
            </a:pPr>
            <a:r>
              <a:rPr lang="en-US" sz="1250" b="1" dirty="0">
                <a:solidFill>
                  <a:schemeClr val="tx1"/>
                </a:solidFill>
              </a:rPr>
              <a:t>Expo Go</a:t>
            </a:r>
            <a:endParaRPr lang="en-US" sz="1250" dirty="0"/>
          </a:p>
        </p:txBody>
      </p:sp>
      <p:sp>
        <p:nvSpPr>
          <p:cNvPr id="27" name="Text 20"/>
          <p:cNvSpPr txBox="1"/>
          <p:nvPr/>
        </p:nvSpPr>
        <p:spPr>
          <a:xfrm>
            <a:off x="8503920" y="3547872"/>
            <a:ext cx="3063240" cy="402336"/>
          </a:xfrm>
          <a:prstGeom prst="rect">
            <a:avLst/>
          </a:prstGeom>
          <a:noFill/>
          <a:ln/>
        </p:spPr>
        <p:txBody>
          <a:bodyPr wrap="square" lIns="0" tIns="0" rIns="0" bIns="0" rtlCol="0" anchor="ctr"/>
          <a:lstStyle/>
          <a:p>
            <a:pPr indent="0" marL="0">
              <a:buNone/>
            </a:pPr>
            <a:r>
              <a:rPr lang="en-US" sz="1100" u="sng" dirty="0">
                <a:solidFill>
                  <a:srgbClr val="000000"/>
                </a:solidFill>
                <a:hlinkClick r:id="rId9" invalidUrl="" action="" tgtFrame="" tooltip="" history="1" highlightClick="0" endSnd="0">
                  <a:extLst>
                    <a:ext uri="{A12FA001-AC4F-418D-AE19-62706E023703}">
                      <ahyp:hlinkClr xmlns:ahyp="http://schemas.microsoft.com/office/drawing/2018/hyperlinkcolor" val="tx"/>
                    </a:ext>
                  </a:extLst>
                </a:hlinkClick>
              </a:rPr>
              <a:t>expo.dev/go</a:t>
            </a:r>
            <a:endParaRPr lang="en-US" sz="1100" dirty="0"/>
          </a:p>
        </p:txBody>
      </p:sp>
      <p:sp>
        <p:nvSpPr>
          <p:cNvPr id="28" name="Text 21"/>
          <p:cNvSpPr txBox="1"/>
          <p:nvPr/>
        </p:nvSpPr>
        <p:spPr>
          <a:xfrm>
            <a:off x="6263640" y="3968496"/>
            <a:ext cx="2286000" cy="402336"/>
          </a:xfrm>
          <a:prstGeom prst="rect">
            <a:avLst/>
          </a:prstGeom>
          <a:noFill/>
          <a:ln/>
        </p:spPr>
        <p:txBody>
          <a:bodyPr wrap="square" lIns="0" tIns="0" rIns="0" bIns="0" rtlCol="0" anchor="ctr"/>
          <a:lstStyle/>
          <a:p>
            <a:pPr indent="0" marL="0">
              <a:buNone/>
            </a:pPr>
            <a:r>
              <a:rPr lang="en-US" sz="1250" b="1" dirty="0">
                <a:solidFill>
                  <a:schemeClr val="tx1"/>
                </a:solidFill>
              </a:rPr>
              <a:t>Node.js download</a:t>
            </a:r>
            <a:endParaRPr lang="en-US" sz="1250" dirty="0"/>
          </a:p>
        </p:txBody>
      </p:sp>
      <p:sp>
        <p:nvSpPr>
          <p:cNvPr id="29" name="Text 22"/>
          <p:cNvSpPr txBox="1"/>
          <p:nvPr/>
        </p:nvSpPr>
        <p:spPr>
          <a:xfrm>
            <a:off x="8503920" y="3968496"/>
            <a:ext cx="3063240" cy="402336"/>
          </a:xfrm>
          <a:prstGeom prst="rect">
            <a:avLst/>
          </a:prstGeom>
          <a:noFill/>
          <a:ln/>
        </p:spPr>
        <p:txBody>
          <a:bodyPr wrap="square" lIns="0" tIns="0" rIns="0" bIns="0" rtlCol="0" anchor="ctr"/>
          <a:lstStyle/>
          <a:p>
            <a:pPr indent="0" marL="0">
              <a:buNone/>
            </a:pPr>
            <a:r>
              <a:rPr lang="en-US" sz="1100" u="sng" dirty="0">
                <a:solidFill>
                  <a:srgbClr val="000000"/>
                </a:solidFill>
                <a:hlinkClick r:id="rId10" invalidUrl="" action="" tgtFrame="" tooltip="" history="1" highlightClick="0" endSnd="0">
                  <a:extLst>
                    <a:ext uri="{A12FA001-AC4F-418D-AE19-62706E023703}">
                      <ahyp:hlinkClr xmlns:ahyp="http://schemas.microsoft.com/office/drawing/2018/hyperlinkcolor" val="tx"/>
                    </a:ext>
                  </a:extLst>
                </a:hlinkClick>
              </a:rPr>
              <a:t>nodejs.org/en/download</a:t>
            </a:r>
            <a:endParaRPr lang="en-US" sz="1100" dirty="0"/>
          </a:p>
        </p:txBody>
      </p:sp>
      <p:sp>
        <p:nvSpPr>
          <p:cNvPr id="30" name="Text 23"/>
          <p:cNvSpPr txBox="1"/>
          <p:nvPr/>
        </p:nvSpPr>
        <p:spPr>
          <a:xfrm>
            <a:off x="6263640" y="4389120"/>
            <a:ext cx="2286000" cy="402336"/>
          </a:xfrm>
          <a:prstGeom prst="rect">
            <a:avLst/>
          </a:prstGeom>
          <a:noFill/>
          <a:ln/>
        </p:spPr>
        <p:txBody>
          <a:bodyPr wrap="square" lIns="0" tIns="0" rIns="0" bIns="0" rtlCol="0" anchor="ctr"/>
          <a:lstStyle/>
          <a:p>
            <a:pPr indent="0" marL="0">
              <a:buNone/>
            </a:pPr>
            <a:r>
              <a:rPr lang="en-US" sz="1250" b="1" dirty="0">
                <a:solidFill>
                  <a:schemeClr val="tx1"/>
                </a:solidFill>
              </a:rPr>
              <a:t>Visual Studio Code</a:t>
            </a:r>
            <a:endParaRPr lang="en-US" sz="1250" dirty="0"/>
          </a:p>
        </p:txBody>
      </p:sp>
      <p:sp>
        <p:nvSpPr>
          <p:cNvPr id="31" name="Text 24"/>
          <p:cNvSpPr txBox="1"/>
          <p:nvPr/>
        </p:nvSpPr>
        <p:spPr>
          <a:xfrm>
            <a:off x="8503920" y="4389120"/>
            <a:ext cx="3063240" cy="402336"/>
          </a:xfrm>
          <a:prstGeom prst="rect">
            <a:avLst/>
          </a:prstGeom>
          <a:noFill/>
          <a:ln/>
        </p:spPr>
        <p:txBody>
          <a:bodyPr wrap="square" lIns="0" tIns="0" rIns="0" bIns="0" rtlCol="0" anchor="ctr"/>
          <a:lstStyle/>
          <a:p>
            <a:pPr indent="0" marL="0">
              <a:buNone/>
            </a:pPr>
            <a:r>
              <a:rPr lang="en-US" sz="1100" u="sng" dirty="0">
                <a:solidFill>
                  <a:srgbClr val="000000"/>
                </a:solidFill>
                <a:hlinkClick r:id="rId11" invalidUrl="" action="" tgtFrame="" tooltip="" history="1" highlightClick="0" endSnd="0">
                  <a:extLst>
                    <a:ext uri="{A12FA001-AC4F-418D-AE19-62706E023703}">
                      <ahyp:hlinkClr xmlns:ahyp="http://schemas.microsoft.com/office/drawing/2018/hyperlinkcolor" val="tx"/>
                    </a:ext>
                  </a:extLst>
                </a:hlinkClick>
              </a:rPr>
              <a:t>code.visualstudio.com</a:t>
            </a:r>
            <a:endParaRPr lang="en-US" sz="1100" dirty="0"/>
          </a:p>
        </p:txBody>
      </p:sp>
      <p:sp>
        <p:nvSpPr>
          <p:cNvPr id="32" name="Text 25"/>
          <p:cNvSpPr txBox="1"/>
          <p:nvPr/>
        </p:nvSpPr>
        <p:spPr>
          <a:xfrm>
            <a:off x="6263640" y="4809744"/>
            <a:ext cx="2286000" cy="402336"/>
          </a:xfrm>
          <a:prstGeom prst="rect">
            <a:avLst/>
          </a:prstGeom>
          <a:noFill/>
          <a:ln/>
        </p:spPr>
        <p:txBody>
          <a:bodyPr wrap="square" lIns="0" tIns="0" rIns="0" bIns="0" rtlCol="0" anchor="ctr"/>
          <a:lstStyle/>
          <a:p>
            <a:pPr indent="0" marL="0">
              <a:buNone/>
            </a:pPr>
            <a:r>
              <a:rPr lang="en-US" sz="1250" b="1" dirty="0">
                <a:solidFill>
                  <a:schemeClr val="tx1"/>
                </a:solidFill>
              </a:rPr>
              <a:t>Android Studio</a:t>
            </a:r>
            <a:endParaRPr lang="en-US" sz="1250" dirty="0"/>
          </a:p>
        </p:txBody>
      </p:sp>
      <p:sp>
        <p:nvSpPr>
          <p:cNvPr id="33" name="Text 26"/>
          <p:cNvSpPr txBox="1"/>
          <p:nvPr/>
        </p:nvSpPr>
        <p:spPr>
          <a:xfrm>
            <a:off x="8503920" y="4809744"/>
            <a:ext cx="3063240" cy="402336"/>
          </a:xfrm>
          <a:prstGeom prst="rect">
            <a:avLst/>
          </a:prstGeom>
          <a:noFill/>
          <a:ln/>
        </p:spPr>
        <p:txBody>
          <a:bodyPr wrap="square" lIns="0" tIns="0" rIns="0" bIns="0" rtlCol="0" anchor="ctr"/>
          <a:lstStyle/>
          <a:p>
            <a:pPr indent="0" marL="0">
              <a:buNone/>
            </a:pPr>
            <a:r>
              <a:rPr lang="en-US" sz="1100" u="sng" dirty="0">
                <a:solidFill>
                  <a:srgbClr val="000000"/>
                </a:solidFill>
                <a:hlinkClick r:id="rId12" invalidUrl="" action="" tgtFrame="" tooltip="" history="1" highlightClick="0" endSnd="0">
                  <a:extLst>
                    <a:ext uri="{A12FA001-AC4F-418D-AE19-62706E023703}">
                      <ahyp:hlinkClr xmlns:ahyp="http://schemas.microsoft.com/office/drawing/2018/hyperlinkcolor" val="tx"/>
                    </a:ext>
                  </a:extLst>
                </a:hlinkClick>
              </a:rPr>
              <a:t>developer.android.com/studio</a:t>
            </a:r>
            <a:endParaRPr lang="en-US" sz="1100" dirty="0"/>
          </a:p>
        </p:txBody>
      </p:sp>
      <p:sp>
        <p:nvSpPr>
          <p:cNvPr id="34" name="Text 27"/>
          <p:cNvSpPr txBox="1"/>
          <p:nvPr/>
        </p:nvSpPr>
        <p:spPr>
          <a:xfrm>
            <a:off x="6263640" y="5230368"/>
            <a:ext cx="2286000" cy="402336"/>
          </a:xfrm>
          <a:prstGeom prst="rect">
            <a:avLst/>
          </a:prstGeom>
          <a:noFill/>
          <a:ln/>
        </p:spPr>
        <p:txBody>
          <a:bodyPr wrap="square" lIns="0" tIns="0" rIns="0" bIns="0" rtlCol="0" anchor="ctr"/>
          <a:lstStyle/>
          <a:p>
            <a:pPr indent="0" marL="0">
              <a:buNone/>
            </a:pPr>
            <a:r>
              <a:rPr lang="en-US" sz="1250" b="1" dirty="0">
                <a:solidFill>
                  <a:schemeClr val="tx1"/>
                </a:solidFill>
              </a:rPr>
              <a:t>Flutter docs</a:t>
            </a:r>
            <a:endParaRPr lang="en-US" sz="1250" dirty="0"/>
          </a:p>
        </p:txBody>
      </p:sp>
      <p:sp>
        <p:nvSpPr>
          <p:cNvPr id="35" name="Text 28"/>
          <p:cNvSpPr txBox="1"/>
          <p:nvPr/>
        </p:nvSpPr>
        <p:spPr>
          <a:xfrm>
            <a:off x="8503920" y="5230368"/>
            <a:ext cx="3063240" cy="402336"/>
          </a:xfrm>
          <a:prstGeom prst="rect">
            <a:avLst/>
          </a:prstGeom>
          <a:noFill/>
          <a:ln/>
        </p:spPr>
        <p:txBody>
          <a:bodyPr wrap="square" lIns="0" tIns="0" rIns="0" bIns="0" rtlCol="0" anchor="ctr"/>
          <a:lstStyle/>
          <a:p>
            <a:pPr indent="0" marL="0">
              <a:buNone/>
            </a:pPr>
            <a:r>
              <a:rPr lang="en-US" sz="1100" u="sng" dirty="0">
                <a:solidFill>
                  <a:srgbClr val="000000"/>
                </a:solidFill>
                <a:hlinkClick r:id="rId13" invalidUrl="" action="" tgtFrame="" tooltip="" history="1" highlightClick="0" endSnd="0">
                  <a:extLst>
                    <a:ext uri="{A12FA001-AC4F-418D-AE19-62706E023703}">
                      <ahyp:hlinkClr xmlns:ahyp="http://schemas.microsoft.com/office/drawing/2018/hyperlinkcolor" val="tx"/>
                    </a:ext>
                  </a:extLst>
                </a:hlinkClick>
              </a:rPr>
              <a:t>docs.flutter.dev</a:t>
            </a:r>
            <a:endParaRPr lang="en-US" sz="1100" dirty="0"/>
          </a:p>
        </p:txBody>
      </p:sp>
      <p:sp>
        <p:nvSpPr>
          <p:cNvPr id="36" name="Text 29"/>
          <p:cNvSpPr txBox="1"/>
          <p:nvPr/>
        </p:nvSpPr>
        <p:spPr>
          <a:xfrm>
            <a:off x="6263640" y="5650992"/>
            <a:ext cx="2286000" cy="402336"/>
          </a:xfrm>
          <a:prstGeom prst="rect">
            <a:avLst/>
          </a:prstGeom>
          <a:noFill/>
          <a:ln/>
        </p:spPr>
        <p:txBody>
          <a:bodyPr wrap="square" lIns="0" tIns="0" rIns="0" bIns="0" rtlCol="0" anchor="ctr"/>
          <a:lstStyle/>
          <a:p>
            <a:pPr indent="0" marL="0">
              <a:buNone/>
            </a:pPr>
            <a:r>
              <a:rPr lang="en-US" sz="1250" b="1" dirty="0">
                <a:solidFill>
                  <a:schemeClr val="tx1"/>
                </a:solidFill>
              </a:rPr>
              <a:t>MDN JavaScript Guide</a:t>
            </a:r>
            <a:endParaRPr lang="en-US" sz="1250" dirty="0"/>
          </a:p>
        </p:txBody>
      </p:sp>
      <p:sp>
        <p:nvSpPr>
          <p:cNvPr id="37" name="Text 30"/>
          <p:cNvSpPr txBox="1"/>
          <p:nvPr/>
        </p:nvSpPr>
        <p:spPr>
          <a:xfrm>
            <a:off x="8503920" y="5650992"/>
            <a:ext cx="3063240" cy="402336"/>
          </a:xfrm>
          <a:prstGeom prst="rect">
            <a:avLst/>
          </a:prstGeom>
          <a:noFill/>
          <a:ln/>
        </p:spPr>
        <p:txBody>
          <a:bodyPr wrap="square" lIns="0" tIns="0" rIns="0" bIns="0" rtlCol="0" anchor="ctr"/>
          <a:lstStyle/>
          <a:p>
            <a:pPr indent="0" marL="0">
              <a:buNone/>
            </a:pPr>
            <a:r>
              <a:rPr lang="en-US" sz="1100" u="sng" dirty="0">
                <a:solidFill>
                  <a:srgbClr val="000000"/>
                </a:solidFill>
                <a:hlinkClick r:id="rId14" invalidUrl="" action="" tgtFrame="" tooltip="" history="1" highlightClick="0" endSnd="0">
                  <a:extLst>
                    <a:ext uri="{A12FA001-AC4F-418D-AE19-62706E023703}">
                      <ahyp:hlinkClr xmlns:ahyp="http://schemas.microsoft.com/office/drawing/2018/hyperlinkcolor" val="tx"/>
                    </a:ext>
                  </a:extLst>
                </a:hlinkClick>
              </a:rPr>
              <a:t>developer.mozilla.org (JavaScript Guide)</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Lab 01 Mobile">
  <a:themeElements>
    <a:clrScheme name="Lab 01 Mobile">
      <a:dk1>
        <a:srgbClr val="1E1B2E"/>
      </a:dk1>
      <a:lt1>
        <a:srgbClr val="FFFFFF"/>
      </a:lt1>
      <a:dk2>
        <a:srgbClr val="5B5770"/>
      </a:dk2>
      <a:lt2>
        <a:srgbClr val="F3F1F8"/>
      </a:lt2>
      <a:accent1>
        <a:srgbClr val="6D4AFF"/>
      </a:accent1>
      <a:accent2>
        <a:srgbClr val="B45309"/>
      </a:accent2>
      <a:accent3>
        <a:srgbClr val="047857"/>
      </a:accent3>
      <a:accent4>
        <a:srgbClr val="BE123C"/>
      </a:accent4>
      <a:accent5>
        <a:srgbClr val="0E7490"/>
      </a:accent5>
      <a:accent6>
        <a:srgbClr val="B9B4D0"/>
      </a:accent6>
      <a:hlink>
        <a:srgbClr val="5B3FE0"/>
      </a:hlink>
      <a:folHlink>
        <a:srgbClr val="7C3AED"/>
      </a:folHlink>
    </a:clrScheme>
    <a:fontScheme name="Lab 01 Mobil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 01: Introduction to React Native and Flutter</dc:title>
  <dc:subject>Mobile Application Programming - Lab 01</dc:subject>
  <dc:creator>Mobile Application Programming</dc:creator>
  <cp:lastModifiedBy>Mobile Application Programming</cp:lastModifiedBy>
  <cp:revision>1</cp:revision>
  <dcterms:created xsi:type="dcterms:W3CDTF">2026-10-28T03:44:28Z</dcterms:created>
  <dcterms:modified xsi:type="dcterms:W3CDTF">2026-10-28T03:44:28Z</dcterms:modified>
</cp:coreProperties>
</file>